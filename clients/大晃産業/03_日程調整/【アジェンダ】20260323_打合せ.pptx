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560320"/>
            <a:ext cx="12191695" cy="54864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83464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/>
            </a:pPr>
            <a:r>
              <a:t>打合せアジェンダ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93192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/>
            </a:pPr>
            <a:r>
              <a:t>株式会社大晃産業様　管理職候補育成プログラム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0" y="4846320"/>
            <a:ext cx="3931920" cy="54864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512064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/>
            </a:pPr>
            <a:r>
              <a:t>2026年3月23日（月）10:00〜  ／  大晃産業様　会議室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66928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/>
            </a:pPr>
            <a:r>
              <a:t>株式会社えんのした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/>
            </a:pPr>
            <a:r>
              <a:t>本日のアジェンダ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97280"/>
            <a:ext cx="10698480" cy="2743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457200" cy="4572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508760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取り組みの温度感確認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2080" y="1508760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666666"/>
                </a:solidFill>
              </a:defRPr>
            </a:pPr>
            <a:r>
              <a:t>15分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011680"/>
            <a:ext cx="457200" cy="4572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2057400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コンテンツの方向性確定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2057400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666666"/>
                </a:solidFill>
              </a:defRPr>
            </a:pPr>
            <a:r>
              <a:t>20分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560320"/>
            <a:ext cx="457200" cy="4572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2606040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360度評価の進め方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80" y="2606040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666666"/>
                </a:solidFill>
              </a:defRPr>
            </a:pPr>
            <a:r>
              <a:t>15分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3108960"/>
            <a:ext cx="457200" cy="4572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3154680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最終報告の基準・目標共有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154680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666666"/>
                </a:solidFill>
              </a:defRPr>
            </a:pPr>
            <a:r>
              <a:t>10分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3657600"/>
            <a:ext cx="457200" cy="4572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3703320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日程の最終確定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12080" y="3703320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666666"/>
                </a:solidFill>
              </a:defRPr>
            </a:pPr>
            <a:r>
              <a:t>10分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4206240"/>
            <a:ext cx="457200" cy="4572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25880" y="4251960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参加メンバー・事務局の確定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4251960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666666"/>
                </a:solidFill>
              </a:defRPr>
            </a:pPr>
            <a:r>
              <a:t>15分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" y="4754880"/>
            <a:ext cx="457200" cy="4572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25880" y="4800600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チーム編成の方針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80" y="4800600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666666"/>
                </a:solidFill>
              </a:defRPr>
            </a:pPr>
            <a:r>
              <a:t>10分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303520"/>
            <a:ext cx="457200" cy="4572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25880" y="5349240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参加者のスキル確認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2080" y="5349240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666666"/>
                </a:solidFill>
              </a:defRPr>
            </a:pPr>
            <a:r>
              <a:t>10分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0" y="1463040"/>
            <a:ext cx="457200" cy="4572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95160" y="1508760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課題図書について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81360" y="1508760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666666"/>
                </a:solidFill>
              </a:defRPr>
            </a:pPr>
            <a:r>
              <a:t>10分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2011680"/>
            <a:ext cx="457200" cy="4572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10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95160" y="2057400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振り返りシートの運用方法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81360" y="2057400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666666"/>
                </a:solidFill>
              </a:defRPr>
            </a:pPr>
            <a:r>
              <a:t>10分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0" y="2560320"/>
            <a:ext cx="457200" cy="4572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11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95160" y="2606040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案内書の確認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881360" y="2606040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666666"/>
                </a:solidFill>
              </a:defRPr>
            </a:pPr>
            <a:r>
              <a:t>5分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0" y="3108960"/>
            <a:ext cx="457200" cy="4572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12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95160" y="3154680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合宿・講師移動について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881360" y="3154680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666666"/>
                </a:solidFill>
              </a:defRPr>
            </a:pPr>
            <a:r>
              <a:t>15分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00800" y="3657600"/>
            <a:ext cx="457200" cy="4572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13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95160" y="3703320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上司向けオリエンテーション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881360" y="3703320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666666"/>
                </a:solidFill>
              </a:defRPr>
            </a:pPr>
            <a:r>
              <a:t>5分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400800" y="4206240"/>
            <a:ext cx="457200" cy="4572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14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995160" y="4251960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今後のスケジュール確認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881360" y="4251960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666666"/>
                </a:solidFill>
              </a:defRPr>
            </a:pPr>
            <a:r>
              <a:t>5分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400800" y="4754880"/>
            <a:ext cx="457200" cy="4572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15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995160" y="4800600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その他・質疑応答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881360" y="4800600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666666"/>
                </a:solidFill>
              </a:defRPr>
            </a:pPr>
            <a:r>
              <a:t>5分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1520" y="603504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1"/>
            </a:pPr>
            <a:r>
              <a:t>所要時間目安：約2時間40分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822960" cy="82296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5029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/>
            </a:pPr>
            <a:r>
              <a:t>取り組みの温度感確認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10698480" cy="2743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7373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参加する方々（塾生・コーディネーター）の反応・期待感はどうか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945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社長をはじめとした幹部の皆様方の、本取り組みに対する熱量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6517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1年目の方針確認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310896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66666"/>
                </a:solidFill>
              </a:defRPr>
            </a:pPr>
            <a:r>
              <a:t>→  がっつり深くやるのか、まずは薄く広くやるのか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47472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上記を踏まえた研修全体のトーン設定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822960" cy="82296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5029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/>
            </a:pPr>
            <a:r>
              <a:t>コンテンツの方向性確定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10698480" cy="2743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7373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全12回カリキュラムの概要説明・認識合わせ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945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現状の流れに沿うか、より経営寄りの内容にシフトするか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265176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66666"/>
                </a:solidFill>
              </a:defRPr>
            </a:pPr>
            <a:r>
              <a:t>→  経営寄りにする場合：会社の財務（BS/PL等）を研修コンテンツに組み込む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先方が特に重視したいテーマ・期待する成果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47472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各回の内容に対する要望・カスタマイズの有無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93192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上記の確認をもって、コンテンツを確定させる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822960" cy="82296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5029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/>
            </a:pPr>
            <a:r>
              <a:t>360度評価の進め方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10698480" cy="2743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650000"/>
            <a:ext cx="100584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/>
            </a:pPr>
            <a:r>
              <a:t>●  現状、経営理念・役割行動・人事評価制度が未整備であることを前提に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020000"/>
            <a:ext cx="100584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/>
            </a:pPr>
            <a:r>
              <a:t>●  提案：研修コンピテンシー項目を360度評価の指標として活用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2390000"/>
            <a:ext cx="9509760" cy="3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66666"/>
                </a:solidFill>
              </a:defRPr>
            </a:pPr>
            <a:r>
              <a:t>→  A. 分析・構想力：情報把握力／問題分析力／課題設定力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2690000"/>
            <a:ext cx="9509760" cy="3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66666"/>
                </a:solidFill>
              </a:defRPr>
            </a:pPr>
            <a:r>
              <a:t>→  B. 実行・推進力：計画策定力／プロセス管理力／決断力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990000"/>
            <a:ext cx="9509760" cy="3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66666"/>
                </a:solidFill>
              </a:defRPr>
            </a:pPr>
            <a:r>
              <a:t>→  C. 対話・共感力：ヒアリングスキル／プレゼンテーションスキル／対人感受性／自己開示能力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3290000"/>
            <a:ext cx="9509760" cy="3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66666"/>
                </a:solidFill>
              </a:defRPr>
            </a:pPr>
            <a:r>
              <a:t>→  D. 組織牽引力：指導育成力／組織活性化力／方向づけする力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3590000"/>
            <a:ext cx="9509760" cy="3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66666"/>
                </a:solidFill>
              </a:defRPr>
            </a:pPr>
            <a:r>
              <a:t>→  E. 自己基盤力：自律一貫性／ストレス耐性／倫理観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3890000"/>
            <a:ext cx="9509760" cy="3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66666"/>
                </a:solidFill>
              </a:defRPr>
            </a:pPr>
            <a:r>
              <a:t>→  F. 変革・挑戦力：柔軟性／バイタリティ／革新性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4240000"/>
            <a:ext cx="100584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/>
            </a:pPr>
            <a:r>
              <a:t>●  評価の実施時期：研修開始前（6月）と研修終了後（翌年6月）の2回を想定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610000"/>
            <a:ext cx="100584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/>
            </a:pPr>
            <a:r>
              <a:t>●  評価者の範囲：上司・同僚・部下（＋自己評価）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822960" cy="82296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5029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/>
            </a:pPr>
            <a:r>
              <a:t>最終報告の基準・目標共有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10698480" cy="2743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650000"/>
            <a:ext cx="100584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/>
            </a:pPr>
            <a:r>
              <a:t>●  最終報告（第12回）の評価基準を提示（添付資料あり）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030000"/>
            <a:ext cx="100584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/>
            </a:pPr>
            <a:r>
              <a:t>●  他社事例の評価基準（5カテゴリ・24項目）を参考として共有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2410000"/>
            <a:ext cx="950976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66666"/>
                </a:solidFill>
              </a:defRPr>
            </a:pPr>
            <a:r>
              <a:t>→  I  目指す姿の設定：期待に対する関心度／想いの強さ／目標の明確さ／目標設定の速さ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2720000"/>
            <a:ext cx="950976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66666"/>
                </a:solidFill>
              </a:defRPr>
            </a:pPr>
            <a:r>
              <a:t>→  II  現状の把握：論点の適切さ／問題点の妥当性／原因追及の妥当性／データの収集や活用の程度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3030000"/>
            <a:ext cx="950976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66666"/>
                </a:solidFill>
              </a:defRPr>
            </a:pPr>
            <a:r>
              <a:t>→  III  打ち手の設定：打ち手の数の多さ／優先順位の意識の程度／計画性の程度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3340000"/>
            <a:ext cx="950976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66666"/>
                </a:solidFill>
              </a:defRPr>
            </a:pPr>
            <a:r>
              <a:t>→  IV  コンピテンシーの発揮：行動の種類の多さ／省察の程度／成果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3650000"/>
            <a:ext cx="950976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66666"/>
                </a:solidFill>
              </a:defRPr>
            </a:pPr>
            <a:r>
              <a:t>→  V  成果の発表：準備の程度／スライドの出来栄え／実演時の出来栄え／フィードバックの受容度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020000"/>
            <a:ext cx="100584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/>
            </a:pPr>
            <a:r>
              <a:t>●  自社でこの内容・レベルを目指してよいか確認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4400000"/>
            <a:ext cx="100584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/>
            </a:pPr>
            <a:r>
              <a:t>●  確認の上で、基準とサンプルを塾生に展開する流れの合意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822960" cy="82296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5029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/>
            </a:pPr>
            <a:r>
              <a:t>日程の最終確定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10698480" cy="2743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7373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先方から回答いただいた確定日程の最終確認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945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各回の曜日・間隔に無理がないか確認（約1ヶ月間隔が目安）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6517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各回の会場（社内会議室 or 外部施設）の確保状況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822960" cy="82296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5029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/>
            </a:pPr>
            <a:r>
              <a:t>参加メンバー・事務局の確定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10698480" cy="2743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7373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事務局の選定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219456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66666"/>
                </a:solidFill>
              </a:defRPr>
            </a:pPr>
            <a:r>
              <a:t>→  社内で事務局担当者を決めていただきたい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256032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66666"/>
                </a:solidFill>
              </a:defRPr>
            </a:pPr>
            <a:r>
              <a:t>→  連絡窓口・日程調整・資料配布等の実務を担当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292608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66666"/>
                </a:solidFill>
              </a:defRPr>
            </a:pPr>
            <a:r>
              <a:t>→  メンバー構成表に事務局を追加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29184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塾長（1名）の選任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374904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66666"/>
                </a:solidFill>
              </a:defRPr>
            </a:pPr>
            <a:r>
              <a:t>→  経営層・役員クラス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411480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66666"/>
                </a:solidFill>
              </a:defRPr>
            </a:pPr>
            <a:r>
              <a:t>→  参加可能な回にオブザーブ出席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4805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コーディネーター（4名）の人選確認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5920" y="493776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66666"/>
                </a:solidFill>
              </a:defRPr>
            </a:pPr>
            <a:r>
              <a:t>→  部長クラス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5920" y="530352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66666"/>
                </a:solidFill>
              </a:defRPr>
            </a:pPr>
            <a:r>
              <a:t>→  各チームのリーダー役として塾生3名を担当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566928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塾生（12名）の人選確認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612648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66666"/>
                </a:solidFill>
              </a:defRPr>
            </a:pPr>
            <a:r>
              <a:t>→  課長・次長クラス（将来の部長候補）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649224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メンバー構成表の記入・返送の期日確認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822960" cy="82296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5029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/>
            </a:pPr>
            <a:r>
              <a:t>チーム編成の方針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10698480" cy="2743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7373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4チーム×3名の編成方針（部署・年齢・スキルのバランス）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945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コーディネーターと塾生の組み合わせの考え方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6517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編成案はこちらで作成し、後日提示でよいか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822960" cy="82296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5029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/>
            </a:pPr>
            <a:r>
              <a:t>参加者のスキル確認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10698480" cy="2743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7373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塾生のPCスキル（特にPowerPoint）のレベル感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219456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66666"/>
                </a:solidFill>
              </a:defRPr>
            </a:pPr>
            <a:r>
              <a:t>→  第6回「プレゼンテーション技術」の内容レベル調整に反映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56032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Excel・Word等の基本スキルの把握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プレゼン経験の有無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822960" cy="82296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5029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000000"/>
                </a:solidFill>
              </a:defRPr>
            </a:pPr>
            <a:r>
              <a:t>課題図書について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10698480" cy="2743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650000"/>
            <a:ext cx="100584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000000"/>
                </a:solidFill>
              </a:defRPr>
            </a:pPr>
            <a:r>
              <a:t>●  課題図書の提示可否（費用負担含む）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990000"/>
            <a:ext cx="100584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000000"/>
                </a:solidFill>
              </a:defRPr>
            </a:pPr>
            <a:r>
              <a:t>●  4回分程度を想定：どのタイミングで指定するか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330000"/>
            <a:ext cx="100584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000000"/>
                </a:solidFill>
              </a:defRPr>
            </a:pPr>
            <a:r>
              <a:t>●  選書はえんのした側で行い、先方承認の流れでよいか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70000"/>
            <a:ext cx="100584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000000"/>
                </a:solidFill>
              </a:defRPr>
            </a:pPr>
            <a:r>
              <a:t>●  購入・配布の方法（会社負担 or 個人負担）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090000"/>
            <a:ext cx="100584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0000"/>
                </a:solidFill>
              </a:defRPr>
            </a:pPr>
            <a:r>
              <a:t>●  現時点での課題図書案（4冊）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3490000"/>
            <a:ext cx="97839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0000"/>
                </a:solidFill>
              </a:defRPr>
            </a:pPr>
            <a:r>
              <a:t>① 川上真史『会社を変える社員はどこにいるか』2003年、ダイヤモンド社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3780000"/>
            <a:ext cx="950976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6666"/>
                </a:solidFill>
              </a:defRPr>
            </a:pPr>
            <a:r>
              <a:t>→ 研修で伝えたいコンピテンシーについて優しく書かれています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4020000"/>
            <a:ext cx="950976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3333"/>
                </a:solidFill>
              </a:defRPr>
            </a:pPr>
            <a:r>
              <a:t>（期限：7/末まで）RTシェア予定：8/7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4310000"/>
            <a:ext cx="97839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0000"/>
                </a:solidFill>
              </a:defRPr>
            </a:pPr>
            <a:r>
              <a:t>② 嶋田毅『実況ロジカルシンキング教室』2011年、PHP研究所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5920" y="4600000"/>
            <a:ext cx="950976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6666"/>
                </a:solidFill>
              </a:defRPr>
            </a:pPr>
            <a:r>
              <a:t>→ 研修で伝えたい問題解決のステップや、ロジカルシンキングが優しく書かれています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4840000"/>
            <a:ext cx="950976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3333"/>
                </a:solidFill>
              </a:defRPr>
            </a:pPr>
            <a:r>
              <a:t>（期限：9/末まで）RTシェア予定：10/9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5130000"/>
            <a:ext cx="97839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0000"/>
                </a:solidFill>
              </a:defRPr>
            </a:pPr>
            <a:r>
              <a:t>③ 細谷功『「具体⇄抽象」トレーニング 思考力が飛躍的にアップする29問』2020年、PHPビジネス新書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45920" y="5420000"/>
            <a:ext cx="950976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6666"/>
                </a:solidFill>
              </a:defRPr>
            </a:pPr>
            <a:r>
              <a:t>→ 研修の中で度々口にする論点です。選抜教育Ⅱの参加者には絶対に押さえて頂きたい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45920" y="5660000"/>
            <a:ext cx="950976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3333"/>
                </a:solidFill>
              </a:defRPr>
            </a:pPr>
            <a:r>
              <a:t>（期限：年始まで）RTシェア予定：1/22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5950000"/>
            <a:ext cx="97839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0000"/>
                </a:solidFill>
              </a:defRPr>
            </a:pPr>
            <a:r>
              <a:t>④ 入山章栄『世界標準の経営理論』2019年、ダイヤモンド社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6240000"/>
            <a:ext cx="950976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6666"/>
                </a:solidFill>
              </a:defRPr>
            </a:pPr>
            <a:r>
              <a:t>→ 戦略を学ぶ前提知識としてインプットされたい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45920" y="6480000"/>
            <a:ext cx="950976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3333"/>
                </a:solidFill>
              </a:defRPr>
            </a:pPr>
            <a:r>
              <a:t>（期限：3/末まで）RTシェア予定：4/13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822960" cy="82296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5029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/>
            </a:pPr>
            <a:r>
              <a:t>振り返りシートの運用方法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10698480" cy="2743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7373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振り返りシート（A3 Excel）の内容確認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945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運用フロー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265176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66666"/>
                </a:solidFill>
              </a:defRPr>
            </a:pPr>
            <a:r>
              <a:t>→  研修当日記入 → 実践 → 次回までに実践振り返り記入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上司確認の仕組み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347472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66666"/>
                </a:solidFill>
              </a:defRPr>
            </a:pPr>
            <a:r>
              <a:t>→  誰が確認するか（直属上司 or コーディネーター）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384048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66666"/>
                </a:solidFill>
              </a:defRPr>
            </a:pPr>
            <a:r>
              <a:t>→  上司フィードバックの運用ルール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20624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提出・回収の方法（紙 or データ）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822960" cy="82296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5029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/>
            </a:pPr>
            <a:r>
              <a:t>案内書の確認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10698480" cy="2743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7373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塾生向け案内書の内容確認・修正点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945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コーディネーター向け案内書の内容確認・修正点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6517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配布時期・配布方法の決定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822960" cy="82296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5029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/>
            </a:pPr>
            <a:r>
              <a:t>合宿・講師移動について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10698480" cy="2743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7373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合宿（第11回）の実施可否の最終判断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945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候補地の検討（先方からの提案 or こちらから候補提示）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6517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予算感の確認（宿泊費・会場費・食事代）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1089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1泊2日のスケジュール（DAY1: 9:00〜17:00 / DAY2: 8:30〜15:00）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5661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移動手段（バス手配 or 各自 or 社用車）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0233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講師の前泊について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448056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66666"/>
                </a:solidFill>
              </a:defRPr>
            </a:pPr>
            <a:r>
              <a:t>→  尾道で朝9時開始 → 移動トラブルを考慮し前泊させていただきたい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484632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66666"/>
                </a:solidFill>
              </a:defRPr>
            </a:pPr>
            <a:r>
              <a:t>→  新幹線での移動を想定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5920" y="521208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66666"/>
                </a:solidFill>
              </a:defRPr>
            </a:pPr>
            <a:r>
              <a:t>→  前泊の可否・費用負担の確認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822960" cy="82296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5029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/>
            </a:pPr>
            <a:r>
              <a:t>上司向けオリエンテーション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10698480" cy="2743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7373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4月中旬に30分・無料で実施予定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945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対象者：塾生の直属上司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6517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日程候補の調整方法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1089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オンライン or 対面の確認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822960" cy="82296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5029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/>
            </a:pPr>
            <a:r>
              <a:t>今後のスケジュール確認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10698480" cy="2743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7373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3月末：メンバー構成表の最終確定（事務局含む）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945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3月末：経営理念・役割行動の素案作成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6517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4月上旬：振り返りシート最終版作成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1089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4月上旬：課題図書の選定・発注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5661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4月上旬：最終報告の基準・サンプル資料の送付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0233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4月中旬：上司向けオリエンテーション実施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4805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4月中旬：360度評価の設計・項目確定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9377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5月上旬：第1回研修資料の完成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53949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5月中旬：参加者への最終案内・事前課題送付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58521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6月：第1回研修「オリエンテーション＆管理職の役割認識」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822960" cy="82296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5029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/>
            </a:pPr>
            <a:r>
              <a:t>その他・質疑応答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10698480" cy="2743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7373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研修当日の受付・準備（プロジェクター、ホワイトボード等）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945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写真撮影・記録の可否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6517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緊急連絡先・窓口の確認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1089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  <a:r>
              <a:t>●  次回の連絡タイミング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