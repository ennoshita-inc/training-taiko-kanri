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Yu Gothic"/>
              </a:defRPr>
            </a:pPr>
            <a:r>
              <a:t>打合せアジェンダ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Yu Gothic"/>
              </a:defRPr>
            </a:pPr>
            <a:r>
              <a:t>株式会社大晃産業様　管理職候補育成プログラム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846320"/>
            <a:ext cx="393192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AACC"/>
                </a:solidFill>
                <a:latin typeface="Yu Gothic"/>
              </a:defRPr>
            </a:pPr>
            <a:r>
              <a:t>2026年3月23日（月）10:00〜  ／  大晃産業様　会議室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Yu Gothic"/>
              </a:defRPr>
            </a:pPr>
            <a:r>
              <a:t>株式会社えんのした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  <a:latin typeface="Yu Gothic"/>
              </a:defRPr>
            </a:pPr>
            <a:r>
              <a:t>本日のアジェンダ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日程の最終確定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10分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057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参加メンバーの確定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057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15分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603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060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チーム編成の方針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606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10分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10896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1546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参加者のスキル確認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546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10分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703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研修内容の詳細すり合わせ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703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15分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2062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2519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課題図書について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10分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4630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振り返りシートの運用方法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10分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0116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057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案内書の確認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2057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5分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5603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26060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合宿について（第11回）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2606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15分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10896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31546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上司向けオリエンテーション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31546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5分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365760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3703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今後のスケジュール確認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3703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5分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42062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Yu Gothic"/>
              </a:defRPr>
            </a:pPr>
            <a: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42519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その他・質疑応答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5分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E86AB"/>
                </a:solidFill>
                <a:latin typeface="Yu Gothic"/>
              </a:defRPr>
            </a:pPr>
            <a:r>
              <a:t>所要時間目安：約2時間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  <a:latin typeface="Yu Gothic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2A4A"/>
                </a:solidFill>
                <a:latin typeface="Yu Gothic"/>
              </a:defRPr>
            </a:pPr>
            <a:r>
              <a:t>日程の最終確定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先方から回答いただいた確定日程の最終確認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各回の曜日・間隔に無理がないか確認（約1ヶ月間隔が目安）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各回の会場（社内会議室 or 外部施設）の確保状況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  <a:latin typeface="Yu Gothic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2A4A"/>
                </a:solidFill>
                <a:latin typeface="Yu Gothic"/>
              </a:defRPr>
            </a:pPr>
            <a:r>
              <a:t>参加メンバーの確定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塾長（1名）の選任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Yu Gothic"/>
              </a:defRPr>
            </a:pPr>
            <a:r>
              <a:t>→  経営層・役員クラス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560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Yu Gothic"/>
              </a:defRPr>
            </a:pPr>
            <a:r>
              <a:t>→  参加可能な回にオブザーブ出席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コーディネーター（4名）の人選確認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383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Yu Gothic"/>
              </a:defRPr>
            </a:pPr>
            <a:r>
              <a:t>→  部長クラス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7490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Yu Gothic"/>
              </a:defRPr>
            </a:pPr>
            <a:r>
              <a:t>→  各チームのリーダー役として塾生3名を担当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塾生（12名）の人選確認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57200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Yu Gothic"/>
              </a:defRPr>
            </a:pPr>
            <a:r>
              <a:t>→  課長・次長クラス（将来の部長候補）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937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メンバー構成表の記入・返送の期日確認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94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各塾生の特徴・スキル・育成課題のヒアリング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  <a:latin typeface="Yu Gothic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2A4A"/>
                </a:solidFill>
                <a:latin typeface="Yu Gothic"/>
              </a:defRPr>
            </a:pPr>
            <a:r>
              <a:t>チーム編成の方針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4チーム × 3名の編成方針（部署・年齢・スキルのバランス）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コーディネーターと塾生の組み合わせの考え方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編成案はえんのした側で作成し、後日ご提示でよいか確認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  <a:latin typeface="Yu Gothic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2A4A"/>
                </a:solidFill>
                <a:latin typeface="Yu Gothic"/>
              </a:defRPr>
            </a:pPr>
            <a:r>
              <a:t>参加者のスキル確認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塾生のPCスキル（特にPowerPoint）のレベル感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Yu Gothic"/>
              </a:defRPr>
            </a:pPr>
            <a:r>
              <a:t>→  第6回「プレゼンテーション技術」の内容レベル調整に反映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Excel・Word等の基本スキルの把握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プレゼンテーション経験の有無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  <a:latin typeface="Yu Gothic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2A4A"/>
                </a:solidFill>
                <a:latin typeface="Yu Gothic"/>
              </a:defRPr>
            </a:pPr>
            <a:r>
              <a:t>研修内容の詳細すり合わせ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全12回カリキュラムの概要説明・認識合わせ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先方が特に重視したいテーマ・期待する成果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各回の内容に対する要望・カスタマイズの有無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研修のゴールイメージの共有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  <a:latin typeface="Yu Gothic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2A4A"/>
                </a:solidFill>
                <a:latin typeface="Yu Gothic"/>
              </a:defRPr>
            </a:pPr>
            <a:r>
              <a:t>課題図書について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課題図書の提示可否（4回分程度を想定）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どのタイミングで指定するか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選書はえんのした側で行い、先方承認の流れでよいか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購入・配布の方法（会社負担 or 個人負担）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  <a:latin typeface="Yu Gothic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2A4A"/>
                </a:solidFill>
                <a:latin typeface="Yu Gothic"/>
              </a:defRPr>
            </a:pPr>
            <a:r>
              <a:t>振り返りシートの運用方法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振り返りシート（A3 Excel）の内容確認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運用フロー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Yu Gothic"/>
              </a:defRPr>
            </a:pPr>
            <a:r>
              <a:t>→  研修当日：学びの振り返り＋実践計画を記入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0175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Yu Gothic"/>
              </a:defRPr>
            </a:pPr>
            <a:r>
              <a:t>→  研修後〜次回まで：実践→実践後の振り返りを記入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3832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上司確認の仕組み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Yu Gothic"/>
              </a:defRPr>
            </a:pPr>
            <a:r>
              <a:t>→  確認者：直属上司 or コーディネーター？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2062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Yu Gothic"/>
              </a:defRPr>
            </a:pPr>
            <a:r>
              <a:t>→  フィードバックのタイミング・方法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720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提出・回収の方法（紙 or データ）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  <a:latin typeface="Yu Gothic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2A4A"/>
                </a:solidFill>
                <a:latin typeface="Yu Gothic"/>
              </a:defRPr>
            </a:pPr>
            <a:r>
              <a:t>案内書の確認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塾生向け案内書の内容確認・修正点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コーディネーター向け案内書の内容確認・修正点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配布時期・配布方法の決定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  <a:latin typeface="Yu Gothic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2A4A"/>
                </a:solidFill>
                <a:latin typeface="Yu Gothic"/>
              </a:defRPr>
            </a:pPr>
            <a:r>
              <a:t>合宿について（第11回）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実施可否の最終判断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候補地の検討（先方提案 or こちらから候補提示）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予算感の確認（宿泊費・会場費・食事代）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スケジュール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5661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Yu Gothic"/>
              </a:defRPr>
            </a:pPr>
            <a:r>
              <a:t>→  DAY1: 9:00〜17:00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9319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Yu Gothic"/>
              </a:defRPr>
            </a:pPr>
            <a:r>
              <a:t>→  DAY2: 8:30〜15:00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976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移動手段（バス手配 / 各自 / 社用車）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  <a:latin typeface="Yu Gothic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2A4A"/>
                </a:solidFill>
                <a:latin typeface="Yu Gothic"/>
              </a:defRPr>
            </a:pPr>
            <a:r>
              <a:t>上司向けオリエンテーション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4月中旬に30分・無料で実施予定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対象者：塾生の直属上司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日程候補の調整方法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実施形式：オンライン or 対面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  <a:latin typeface="Yu Gothic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2A4A"/>
                </a:solidFill>
                <a:latin typeface="Yu Gothic"/>
              </a:defRPr>
            </a:pPr>
            <a:r>
              <a:t>今後のスケジュール確認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1828800"/>
            <a:ext cx="9966960" cy="50292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0" y="1965960"/>
            <a:ext cx="228600" cy="228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Yu Gothic"/>
              </a:defRPr>
            </a:pPr>
            <a:r>
              <a:t>3月末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0195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メンバー構成表の最終確定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377440"/>
            <a:ext cx="99669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80160" y="2514600"/>
            <a:ext cx="228600" cy="228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45059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Yu Gothic"/>
              </a:defRPr>
            </a:pPr>
            <a:r>
              <a:t>4月上旬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45059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振り返りシート最終版の作成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926080"/>
            <a:ext cx="9966960" cy="50292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" y="3063240"/>
            <a:ext cx="228600" cy="228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37360" y="299923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Yu Gothic"/>
              </a:defRPr>
            </a:pPr>
            <a:r>
              <a:t>4月上旬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99923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課題図書の選定・発注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474720"/>
            <a:ext cx="99669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80160" y="3611880"/>
            <a:ext cx="228600" cy="228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54787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Yu Gothic"/>
              </a:defRPr>
            </a:pPr>
            <a:r>
              <a:t>4月中旬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54787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上司向けオリエンテーション実施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4023360"/>
            <a:ext cx="9966960" cy="50292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0" y="4160520"/>
            <a:ext cx="228600" cy="228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0" y="40965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Yu Gothic"/>
              </a:defRPr>
            </a:pPr>
            <a:r>
              <a:t>5月上旬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09651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第1回研修資料の完成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4572000"/>
            <a:ext cx="99669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80160" y="4709160"/>
            <a:ext cx="228600" cy="228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37360" y="46451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Yu Gothic"/>
              </a:defRPr>
            </a:pPr>
            <a:r>
              <a:t>5月中旬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64515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参加者への最終案内・事前課題送付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" y="5120640"/>
            <a:ext cx="9966960" cy="50292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80160" y="5257800"/>
            <a:ext cx="228600" cy="228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19379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Yu Gothic"/>
              </a:defRPr>
            </a:pPr>
            <a:r>
              <a:t>6月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519379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第1回研修「オリエンテーション＆管理職の役割認識」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  <a:latin typeface="Yu Gothic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2A4A"/>
                </a:solidFill>
                <a:latin typeface="Yu Gothic"/>
              </a:defRPr>
            </a:pPr>
            <a:r>
              <a:t>その他・質疑応答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研修当日の受付・準備（プロジェクター、ホワイトボード等）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写真撮影・記録の可否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緊急連絡先・窓口の確認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●  次回の連絡タイミング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Yu Gothic"/>
              </a:defRPr>
            </a:pPr>
            <a: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AACC"/>
                </a:solidFill>
                <a:latin typeface="Yu Gothic"/>
              </a:defRPr>
            </a:pPr>
            <a:r>
              <a:t>株式会社えんのした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