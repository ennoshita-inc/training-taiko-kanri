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8B8070-0CC6-994C-91B1-EFFC6365574E}" v="3" dt="2026-02-17T13:45:50.1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85"/>
    <p:restoredTop sz="94610"/>
  </p:normalViewPr>
  <p:slideViewPr>
    <p:cSldViewPr snapToGrid="0" snapToObjects="1">
      <p:cViewPr varScale="1">
        <p:scale>
          <a:sx n="141" d="100"/>
          <a:sy n="141" d="100"/>
        </p:scale>
        <p:origin x="832"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隆志 川路" userId="56a5b3c66ebbbb1f" providerId="LiveId" clId="{627A33E8-1168-5D20-84B5-3DAF1B87F737}"/>
    <pc:docChg chg="modSld">
      <pc:chgData name="隆志 川路" userId="56a5b3c66ebbbb1f" providerId="LiveId" clId="{627A33E8-1168-5D20-84B5-3DAF1B87F737}" dt="2026-02-17T13:52:50.296" v="95" actId="14100"/>
      <pc:docMkLst>
        <pc:docMk/>
      </pc:docMkLst>
      <pc:sldChg chg="modSp mod">
        <pc:chgData name="隆志 川路" userId="56a5b3c66ebbbb1f" providerId="LiveId" clId="{627A33E8-1168-5D20-84B5-3DAF1B87F737}" dt="2026-02-16T13:12:49.929" v="5" actId="20577"/>
        <pc:sldMkLst>
          <pc:docMk/>
          <pc:sldMk cId="0" sldId="259"/>
        </pc:sldMkLst>
        <pc:graphicFrameChg chg="mod modGraphic">
          <ac:chgData name="隆志 川路" userId="56a5b3c66ebbbb1f" providerId="LiveId" clId="{627A33E8-1168-5D20-84B5-3DAF1B87F737}" dt="2026-02-16T13:12:49.929" v="5" actId="20577"/>
          <ac:graphicFrameMkLst>
            <pc:docMk/>
            <pc:sldMk cId="0" sldId="259"/>
            <ac:graphicFrameMk id="10" creationId="{00000000-0000-0000-0000-000000000000}"/>
          </ac:graphicFrameMkLst>
        </pc:graphicFrameChg>
      </pc:sldChg>
      <pc:sldChg chg="modSp mod">
        <pc:chgData name="隆志 川路" userId="56a5b3c66ebbbb1f" providerId="LiveId" clId="{627A33E8-1168-5D20-84B5-3DAF1B87F737}" dt="2026-02-16T13:14:13.486" v="63" actId="1035"/>
        <pc:sldMkLst>
          <pc:docMk/>
          <pc:sldMk cId="0" sldId="260"/>
        </pc:sldMkLst>
        <pc:spChg chg="mod">
          <ac:chgData name="隆志 川路" userId="56a5b3c66ebbbb1f" providerId="LiveId" clId="{627A33E8-1168-5D20-84B5-3DAF1B87F737}" dt="2026-02-16T13:14:13.486" v="63" actId="1035"/>
          <ac:spMkLst>
            <pc:docMk/>
            <pc:sldMk cId="0" sldId="260"/>
            <ac:spMk id="8" creationId="{00000000-0000-0000-0000-000000000000}"/>
          </ac:spMkLst>
        </pc:spChg>
        <pc:spChg chg="mod">
          <ac:chgData name="隆志 川路" userId="56a5b3c66ebbbb1f" providerId="LiveId" clId="{627A33E8-1168-5D20-84B5-3DAF1B87F737}" dt="2026-02-16T13:14:09.383" v="60" actId="1035"/>
          <ac:spMkLst>
            <pc:docMk/>
            <pc:sldMk cId="0" sldId="260"/>
            <ac:spMk id="100" creationId="{00000000-0000-0000-0000-000000000000}"/>
          </ac:spMkLst>
        </pc:spChg>
        <pc:graphicFrameChg chg="modGraphic">
          <ac:chgData name="隆志 川路" userId="56a5b3c66ebbbb1f" providerId="LiveId" clId="{627A33E8-1168-5D20-84B5-3DAF1B87F737}" dt="2026-02-16T13:13:30.544" v="23" actId="14100"/>
          <ac:graphicFrameMkLst>
            <pc:docMk/>
            <pc:sldMk cId="0" sldId="260"/>
            <ac:graphicFrameMk id="7" creationId="{00000000-0000-0000-0000-000000000000}"/>
          </ac:graphicFrameMkLst>
        </pc:graphicFrameChg>
      </pc:sldChg>
      <pc:sldChg chg="modSp mod">
        <pc:chgData name="隆志 川路" userId="56a5b3c66ebbbb1f" providerId="LiveId" clId="{627A33E8-1168-5D20-84B5-3DAF1B87F737}" dt="2026-02-17T13:50:54.644" v="78" actId="14100"/>
        <pc:sldMkLst>
          <pc:docMk/>
          <pc:sldMk cId="0" sldId="261"/>
        </pc:sldMkLst>
        <pc:spChg chg="mod">
          <ac:chgData name="隆志 川路" userId="56a5b3c66ebbbb1f" providerId="LiveId" clId="{627A33E8-1168-5D20-84B5-3DAF1B87F737}" dt="2026-02-17T13:50:54.644" v="78" actId="14100"/>
          <ac:spMkLst>
            <pc:docMk/>
            <pc:sldMk cId="0" sldId="261"/>
            <ac:spMk id="32" creationId="{00000000-0000-0000-0000-000000000000}"/>
          </ac:spMkLst>
        </pc:spChg>
      </pc:sldChg>
      <pc:sldChg chg="modSp mod">
        <pc:chgData name="隆志 川路" userId="56a5b3c66ebbbb1f" providerId="LiveId" clId="{627A33E8-1168-5D20-84B5-3DAF1B87F737}" dt="2026-02-17T13:51:04.121" v="80" actId="14100"/>
        <pc:sldMkLst>
          <pc:docMk/>
          <pc:sldMk cId="0" sldId="262"/>
        </pc:sldMkLst>
        <pc:spChg chg="mod">
          <ac:chgData name="隆志 川路" userId="56a5b3c66ebbbb1f" providerId="LiveId" clId="{627A33E8-1168-5D20-84B5-3DAF1B87F737}" dt="2026-02-16T13:14:34.345" v="64" actId="14100"/>
          <ac:spMkLst>
            <pc:docMk/>
            <pc:sldMk cId="0" sldId="262"/>
            <ac:spMk id="11" creationId="{00000000-0000-0000-0000-000000000000}"/>
          </ac:spMkLst>
        </pc:spChg>
        <pc:spChg chg="mod">
          <ac:chgData name="隆志 川路" userId="56a5b3c66ebbbb1f" providerId="LiveId" clId="{627A33E8-1168-5D20-84B5-3DAF1B87F737}" dt="2026-02-17T13:51:04.121" v="80" actId="14100"/>
          <ac:spMkLst>
            <pc:docMk/>
            <pc:sldMk cId="0" sldId="262"/>
            <ac:spMk id="28" creationId="{00000000-0000-0000-0000-000000000000}"/>
          </ac:spMkLst>
        </pc:spChg>
      </pc:sldChg>
      <pc:sldChg chg="modSp mod">
        <pc:chgData name="隆志 川路" userId="56a5b3c66ebbbb1f" providerId="LiveId" clId="{627A33E8-1168-5D20-84B5-3DAF1B87F737}" dt="2026-02-17T13:51:13.742" v="82" actId="14100"/>
        <pc:sldMkLst>
          <pc:docMk/>
          <pc:sldMk cId="0" sldId="263"/>
        </pc:sldMkLst>
        <pc:spChg chg="mod">
          <ac:chgData name="隆志 川路" userId="56a5b3c66ebbbb1f" providerId="LiveId" clId="{627A33E8-1168-5D20-84B5-3DAF1B87F737}" dt="2026-02-17T13:51:13.742" v="82" actId="14100"/>
          <ac:spMkLst>
            <pc:docMk/>
            <pc:sldMk cId="0" sldId="263"/>
            <ac:spMk id="28" creationId="{00000000-0000-0000-0000-000000000000}"/>
          </ac:spMkLst>
        </pc:spChg>
      </pc:sldChg>
      <pc:sldChg chg="modSp mod">
        <pc:chgData name="隆志 川路" userId="56a5b3c66ebbbb1f" providerId="LiveId" clId="{627A33E8-1168-5D20-84B5-3DAF1B87F737}" dt="2026-02-17T13:51:30.150" v="84" actId="14100"/>
        <pc:sldMkLst>
          <pc:docMk/>
          <pc:sldMk cId="0" sldId="264"/>
        </pc:sldMkLst>
        <pc:spChg chg="mod">
          <ac:chgData name="隆志 川路" userId="56a5b3c66ebbbb1f" providerId="LiveId" clId="{627A33E8-1168-5D20-84B5-3DAF1B87F737}" dt="2026-02-17T13:51:30.150" v="84" actId="14100"/>
          <ac:spMkLst>
            <pc:docMk/>
            <pc:sldMk cId="0" sldId="264"/>
            <ac:spMk id="28" creationId="{00000000-0000-0000-0000-000000000000}"/>
          </ac:spMkLst>
        </pc:spChg>
      </pc:sldChg>
      <pc:sldChg chg="modSp mod">
        <pc:chgData name="隆志 川路" userId="56a5b3c66ebbbb1f" providerId="LiveId" clId="{627A33E8-1168-5D20-84B5-3DAF1B87F737}" dt="2026-02-17T13:51:38.025" v="86" actId="14100"/>
        <pc:sldMkLst>
          <pc:docMk/>
          <pc:sldMk cId="0" sldId="265"/>
        </pc:sldMkLst>
        <pc:spChg chg="mod">
          <ac:chgData name="隆志 川路" userId="56a5b3c66ebbbb1f" providerId="LiveId" clId="{627A33E8-1168-5D20-84B5-3DAF1B87F737}" dt="2026-02-17T13:51:38.025" v="86" actId="14100"/>
          <ac:spMkLst>
            <pc:docMk/>
            <pc:sldMk cId="0" sldId="265"/>
            <ac:spMk id="28" creationId="{00000000-0000-0000-0000-000000000000}"/>
          </ac:spMkLst>
        </pc:spChg>
      </pc:sldChg>
      <pc:sldChg chg="modSp mod">
        <pc:chgData name="隆志 川路" userId="56a5b3c66ebbbb1f" providerId="LiveId" clId="{627A33E8-1168-5D20-84B5-3DAF1B87F737}" dt="2026-02-17T13:51:46.394" v="87" actId="14100"/>
        <pc:sldMkLst>
          <pc:docMk/>
          <pc:sldMk cId="0" sldId="266"/>
        </pc:sldMkLst>
        <pc:spChg chg="mod">
          <ac:chgData name="隆志 川路" userId="56a5b3c66ebbbb1f" providerId="LiveId" clId="{627A33E8-1168-5D20-84B5-3DAF1B87F737}" dt="2026-02-17T13:51:46.394" v="87" actId="14100"/>
          <ac:spMkLst>
            <pc:docMk/>
            <pc:sldMk cId="0" sldId="266"/>
            <ac:spMk id="28" creationId="{00000000-0000-0000-0000-000000000000}"/>
          </ac:spMkLst>
        </pc:spChg>
      </pc:sldChg>
      <pc:sldChg chg="modSp mod">
        <pc:chgData name="隆志 川路" userId="56a5b3c66ebbbb1f" providerId="LiveId" clId="{627A33E8-1168-5D20-84B5-3DAF1B87F737}" dt="2026-02-17T13:51:58.157" v="88" actId="14100"/>
        <pc:sldMkLst>
          <pc:docMk/>
          <pc:sldMk cId="0" sldId="267"/>
        </pc:sldMkLst>
        <pc:spChg chg="mod">
          <ac:chgData name="隆志 川路" userId="56a5b3c66ebbbb1f" providerId="LiveId" clId="{627A33E8-1168-5D20-84B5-3DAF1B87F737}" dt="2026-02-16T13:15:59.112" v="68" actId="20577"/>
          <ac:spMkLst>
            <pc:docMk/>
            <pc:sldMk cId="0" sldId="267"/>
            <ac:spMk id="21" creationId="{00000000-0000-0000-0000-000000000000}"/>
          </ac:spMkLst>
        </pc:spChg>
        <pc:spChg chg="mod">
          <ac:chgData name="隆志 川路" userId="56a5b3c66ebbbb1f" providerId="LiveId" clId="{627A33E8-1168-5D20-84B5-3DAF1B87F737}" dt="2026-02-17T13:51:58.157" v="88" actId="14100"/>
          <ac:spMkLst>
            <pc:docMk/>
            <pc:sldMk cId="0" sldId="267"/>
            <ac:spMk id="28" creationId="{00000000-0000-0000-0000-000000000000}"/>
          </ac:spMkLst>
        </pc:spChg>
      </pc:sldChg>
      <pc:sldChg chg="modSp mod">
        <pc:chgData name="隆志 川路" userId="56a5b3c66ebbbb1f" providerId="LiveId" clId="{627A33E8-1168-5D20-84B5-3DAF1B87F737}" dt="2026-02-17T13:52:07.011" v="89" actId="14100"/>
        <pc:sldMkLst>
          <pc:docMk/>
          <pc:sldMk cId="0" sldId="268"/>
        </pc:sldMkLst>
        <pc:spChg chg="mod">
          <ac:chgData name="隆志 川路" userId="56a5b3c66ebbbb1f" providerId="LiveId" clId="{627A33E8-1168-5D20-84B5-3DAF1B87F737}" dt="2026-02-17T13:52:07.011" v="89" actId="14100"/>
          <ac:spMkLst>
            <pc:docMk/>
            <pc:sldMk cId="0" sldId="268"/>
            <ac:spMk id="28" creationId="{00000000-0000-0000-0000-000000000000}"/>
          </ac:spMkLst>
        </pc:spChg>
      </pc:sldChg>
      <pc:sldChg chg="modSp mod">
        <pc:chgData name="隆志 川路" userId="56a5b3c66ebbbb1f" providerId="LiveId" clId="{627A33E8-1168-5D20-84B5-3DAF1B87F737}" dt="2026-02-17T13:52:18.056" v="91" actId="14100"/>
        <pc:sldMkLst>
          <pc:docMk/>
          <pc:sldMk cId="0" sldId="269"/>
        </pc:sldMkLst>
        <pc:spChg chg="mod">
          <ac:chgData name="隆志 川路" userId="56a5b3c66ebbbb1f" providerId="LiveId" clId="{627A33E8-1168-5D20-84B5-3DAF1B87F737}" dt="2026-02-17T13:52:18.056" v="91" actId="14100"/>
          <ac:spMkLst>
            <pc:docMk/>
            <pc:sldMk cId="0" sldId="269"/>
            <ac:spMk id="28" creationId="{00000000-0000-0000-0000-000000000000}"/>
          </ac:spMkLst>
        </pc:spChg>
      </pc:sldChg>
      <pc:sldChg chg="modSp mod">
        <pc:chgData name="隆志 川路" userId="56a5b3c66ebbbb1f" providerId="LiveId" clId="{627A33E8-1168-5D20-84B5-3DAF1B87F737}" dt="2026-02-17T13:52:25.118" v="92" actId="14100"/>
        <pc:sldMkLst>
          <pc:docMk/>
          <pc:sldMk cId="0" sldId="270"/>
        </pc:sldMkLst>
        <pc:spChg chg="mod">
          <ac:chgData name="隆志 川路" userId="56a5b3c66ebbbb1f" providerId="LiveId" clId="{627A33E8-1168-5D20-84B5-3DAF1B87F737}" dt="2026-02-17T13:52:25.118" v="92" actId="14100"/>
          <ac:spMkLst>
            <pc:docMk/>
            <pc:sldMk cId="0" sldId="270"/>
            <ac:spMk id="28" creationId="{00000000-0000-0000-0000-000000000000}"/>
          </ac:spMkLst>
        </pc:spChg>
      </pc:sldChg>
      <pc:sldChg chg="modSp mod">
        <pc:chgData name="隆志 川路" userId="56a5b3c66ebbbb1f" providerId="LiveId" clId="{627A33E8-1168-5D20-84B5-3DAF1B87F737}" dt="2026-02-17T13:52:41.295" v="94" actId="14100"/>
        <pc:sldMkLst>
          <pc:docMk/>
          <pc:sldMk cId="0" sldId="271"/>
        </pc:sldMkLst>
        <pc:spChg chg="mod">
          <ac:chgData name="隆志 川路" userId="56a5b3c66ebbbb1f" providerId="LiveId" clId="{627A33E8-1168-5D20-84B5-3DAF1B87F737}" dt="2026-02-17T13:52:41.295" v="94" actId="14100"/>
          <ac:spMkLst>
            <pc:docMk/>
            <pc:sldMk cId="0" sldId="271"/>
            <ac:spMk id="28" creationId="{00000000-0000-0000-0000-000000000000}"/>
          </ac:spMkLst>
        </pc:spChg>
      </pc:sldChg>
      <pc:sldChg chg="modSp mod">
        <pc:chgData name="隆志 川路" userId="56a5b3c66ebbbb1f" providerId="LiveId" clId="{627A33E8-1168-5D20-84B5-3DAF1B87F737}" dt="2026-02-17T13:52:50.296" v="95" actId="14100"/>
        <pc:sldMkLst>
          <pc:docMk/>
          <pc:sldMk cId="0" sldId="272"/>
        </pc:sldMkLst>
        <pc:spChg chg="mod">
          <ac:chgData name="隆志 川路" userId="56a5b3c66ebbbb1f" providerId="LiveId" clId="{627A33E8-1168-5D20-84B5-3DAF1B87F737}" dt="2026-02-16T13:16:32.402" v="72" actId="20577"/>
          <ac:spMkLst>
            <pc:docMk/>
            <pc:sldMk cId="0" sldId="272"/>
            <ac:spMk id="21" creationId="{00000000-0000-0000-0000-000000000000}"/>
          </ac:spMkLst>
        </pc:spChg>
        <pc:spChg chg="mod">
          <ac:chgData name="隆志 川路" userId="56a5b3c66ebbbb1f" providerId="LiveId" clId="{627A33E8-1168-5D20-84B5-3DAF1B87F737}" dt="2026-02-17T13:52:50.296" v="95" actId="14100"/>
          <ac:spMkLst>
            <pc:docMk/>
            <pc:sldMk cId="0" sldId="272"/>
            <ac:spMk id="28" creationId="{00000000-0000-0000-0000-000000000000}"/>
          </ac:spMkLst>
        </pc:spChg>
      </pc:sldChg>
      <pc:sldChg chg="addSp modSp mod">
        <pc:chgData name="隆志 川路" userId="56a5b3c66ebbbb1f" providerId="LiveId" clId="{627A33E8-1168-5D20-84B5-3DAF1B87F737}" dt="2026-02-17T13:50:35.912" v="77" actId="403"/>
        <pc:sldMkLst>
          <pc:docMk/>
          <pc:sldMk cId="0" sldId="275"/>
        </pc:sldMkLst>
        <pc:spChg chg="add mod">
          <ac:chgData name="隆志 川路" userId="56a5b3c66ebbbb1f" providerId="LiveId" clId="{627A33E8-1168-5D20-84B5-3DAF1B87F737}" dt="2026-02-17T13:45:50.129" v="73"/>
          <ac:spMkLst>
            <pc:docMk/>
            <pc:sldMk cId="0" sldId="275"/>
            <ac:spMk id="2" creationId="{DA946EF4-71EF-09BA-28B0-D0171E928B77}"/>
          </ac:spMkLst>
        </pc:spChg>
        <pc:spChg chg="mod">
          <ac:chgData name="隆志 川路" userId="56a5b3c66ebbbb1f" providerId="LiveId" clId="{627A33E8-1168-5D20-84B5-3DAF1B87F737}" dt="2026-02-17T13:50:35.912" v="77" actId="403"/>
          <ac:spMkLst>
            <pc:docMk/>
            <pc:sldMk cId="0" sldId="275"/>
            <ac:spMk id="5" creationId="{00000000-0000-0000-0000-000000000000}"/>
          </ac:spMkLst>
        </pc:spChg>
        <pc:grpChg chg="add mod">
          <ac:chgData name="隆志 川路" userId="56a5b3c66ebbbb1f" providerId="LiveId" clId="{627A33E8-1168-5D20-84B5-3DAF1B87F737}" dt="2026-02-17T13:45:50.129" v="73"/>
          <ac:grpSpMkLst>
            <pc:docMk/>
            <pc:sldMk cId="0" sldId="275"/>
            <ac:grpSpMk id="4" creationId="{C07672F0-C4FE-4634-6B11-4DE93FAFFF1C}"/>
          </ac:grpSpMkLst>
        </pc:grpChg>
        <pc:picChg chg="mod">
          <ac:chgData name="隆志 川路" userId="56a5b3c66ebbbb1f" providerId="LiveId" clId="{627A33E8-1168-5D20-84B5-3DAF1B87F737}" dt="2026-02-17T13:45:50.129" v="73"/>
          <ac:picMkLst>
            <pc:docMk/>
            <pc:sldMk cId="0" sldId="275"/>
            <ac:picMk id="8" creationId="{D0E1D844-8310-C70A-C0C4-626915DE40A1}"/>
          </ac:picMkLst>
        </pc:picChg>
        <pc:picChg chg="mod">
          <ac:chgData name="隆志 川路" userId="56a5b3c66ebbbb1f" providerId="LiveId" clId="{627A33E8-1168-5D20-84B5-3DAF1B87F737}" dt="2026-02-17T13:45:50.129" v="73"/>
          <ac:picMkLst>
            <pc:docMk/>
            <pc:sldMk cId="0" sldId="275"/>
            <ac:picMk id="9" creationId="{F2188F62-A497-2A33-D4F4-BAF57AE28F3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245256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1.jpe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1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18.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19.png"/><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20.png"/><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21.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22.png"/><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23.png"/><Relationship Id="rId9" Type="http://schemas.openxmlformats.org/officeDocument/2006/relationships/image" Target="../media/image12.png"/></Relationships>
</file>

<file path=ppt/slides/_rels/slide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24.png"/><Relationship Id="rId9" Type="http://schemas.openxmlformats.org/officeDocument/2006/relationships/image" Target="../media/image12.png"/></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25.png"/><Relationship Id="rId9"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26.png"/><Relationship Id="rId9" Type="http://schemas.openxmlformats.org/officeDocument/2006/relationships/image" Target="../media/image12.png"/></Relationships>
</file>

<file path=ppt/slides/_rels/slide1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6.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27.png"/><Relationship Id="rId9"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28.png"/><Relationship Id="rId7"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2286000" y="1463040"/>
            <a:ext cx="4572000" cy="0"/>
          </a:xfrm>
          <a:prstGeom prst="line">
            <a:avLst/>
          </a:prstGeom>
          <a:noFill/>
          <a:ln w="25400">
            <a:solidFill>
              <a:srgbClr val="8C2029"/>
            </a:solidFill>
            <a:prstDash val="solid"/>
          </a:ln>
        </p:spPr>
        <p:txBody>
          <a:bodyPr/>
          <a:lstStyle/>
          <a:p>
            <a:endParaRPr lang="ja-JP" altLang="en-US"/>
          </a:p>
        </p:txBody>
      </p:sp>
      <p:sp>
        <p:nvSpPr>
          <p:cNvPr id="4" name="Text 2"/>
          <p:cNvSpPr/>
          <p:nvPr/>
        </p:nvSpPr>
        <p:spPr>
          <a:xfrm>
            <a:off x="2286000" y="1097280"/>
            <a:ext cx="4572000" cy="411480"/>
          </a:xfrm>
          <a:prstGeom prst="rect">
            <a:avLst/>
          </a:prstGeom>
          <a:noFill/>
          <a:ln/>
        </p:spPr>
        <p:txBody>
          <a:bodyPr wrap="square" rtlCol="0" anchor="ctr"/>
          <a:lstStyle/>
          <a:p>
            <a:pPr marL="0" indent="0" algn="ctr">
              <a:buNone/>
            </a:pPr>
            <a:r>
              <a:rPr lang="en-US" sz="2000" b="1" dirty="0">
                <a:solidFill>
                  <a:srgbClr val="8C2029"/>
                </a:solidFill>
                <a:latin typeface="Yu Gothic" pitchFamily="34" charset="0"/>
                <a:ea typeface="Yu Gothic" pitchFamily="34" charset="-122"/>
                <a:cs typeface="Yu Gothic" pitchFamily="34" charset="-120"/>
              </a:rPr>
              <a:t>【ご提案書】</a:t>
            </a:r>
            <a:endParaRPr lang="en-US" sz="2000" dirty="0"/>
          </a:p>
        </p:txBody>
      </p:sp>
      <p:sp>
        <p:nvSpPr>
          <p:cNvPr id="5" name="Text 3"/>
          <p:cNvSpPr/>
          <p:nvPr/>
        </p:nvSpPr>
        <p:spPr>
          <a:xfrm>
            <a:off x="914400" y="1737360"/>
            <a:ext cx="7315200" cy="731520"/>
          </a:xfrm>
          <a:prstGeom prst="rect">
            <a:avLst/>
          </a:prstGeom>
          <a:noFill/>
          <a:ln/>
        </p:spPr>
        <p:txBody>
          <a:bodyPr wrap="square" rtlCol="0" anchor="ctr"/>
          <a:lstStyle/>
          <a:p>
            <a:pPr marL="0" indent="0" algn="ctr">
              <a:buNone/>
            </a:pPr>
            <a:r>
              <a:rPr lang="en-US" sz="3600" b="1" dirty="0">
                <a:solidFill>
                  <a:srgbClr val="8C2029"/>
                </a:solidFill>
                <a:latin typeface="Yu Gothic" pitchFamily="34" charset="0"/>
                <a:ea typeface="Yu Gothic" pitchFamily="34" charset="-122"/>
                <a:cs typeface="Yu Gothic" pitchFamily="34" charset="-120"/>
              </a:rPr>
              <a:t>管理職候補育成プログラム</a:t>
            </a:r>
            <a:endParaRPr lang="en-US" sz="3600" dirty="0"/>
          </a:p>
        </p:txBody>
      </p:sp>
      <p:sp>
        <p:nvSpPr>
          <p:cNvPr id="6" name="Text 4"/>
          <p:cNvSpPr/>
          <p:nvPr/>
        </p:nvSpPr>
        <p:spPr>
          <a:xfrm>
            <a:off x="914400" y="2423160"/>
            <a:ext cx="7315200" cy="411480"/>
          </a:xfrm>
          <a:prstGeom prst="rect">
            <a:avLst/>
          </a:prstGeom>
          <a:noFill/>
          <a:ln/>
        </p:spPr>
        <p:txBody>
          <a:bodyPr wrap="square" rtlCol="0" anchor="ctr"/>
          <a:lstStyle/>
          <a:p>
            <a:pPr marL="0" indent="0" algn="ctr">
              <a:buNone/>
            </a:pPr>
            <a:r>
              <a:rPr lang="en-US" sz="1600" dirty="0">
                <a:solidFill>
                  <a:srgbClr val="333333"/>
                </a:solidFill>
                <a:latin typeface="Yu Gothic" pitchFamily="34" charset="0"/>
                <a:ea typeface="Yu Gothic" pitchFamily="34" charset="-122"/>
                <a:cs typeface="Yu Gothic" pitchFamily="34" charset="-120"/>
              </a:rPr>
              <a:t>全12回（13日間）研修プログラムのご提案</a:t>
            </a:r>
            <a:endParaRPr lang="en-US" sz="1600" dirty="0"/>
          </a:p>
        </p:txBody>
      </p:sp>
      <p:sp>
        <p:nvSpPr>
          <p:cNvPr id="7" name="Text 5"/>
          <p:cNvSpPr/>
          <p:nvPr/>
        </p:nvSpPr>
        <p:spPr>
          <a:xfrm>
            <a:off x="1828800" y="3017520"/>
            <a:ext cx="5486400" cy="914400"/>
          </a:xfrm>
          <a:prstGeom prst="rect">
            <a:avLst/>
          </a:prstGeom>
          <a:noFill/>
          <a:ln/>
        </p:spPr>
        <p:txBody>
          <a:bodyPr wrap="square" rtlCol="0" anchor="ctr"/>
          <a:lstStyle/>
          <a:p>
            <a:pPr marL="0" indent="0" algn="ctr">
              <a:lnSpc>
                <a:spcPct val="150000"/>
              </a:lnSpc>
              <a:buNone/>
            </a:pPr>
            <a:r>
              <a:rPr lang="en-US" sz="1200" dirty="0">
                <a:solidFill>
                  <a:srgbClr val="333333"/>
                </a:solidFill>
                <a:latin typeface="Yu Gothic" pitchFamily="34" charset="0"/>
                <a:ea typeface="Yu Gothic" pitchFamily="34" charset="-122"/>
                <a:cs typeface="Yu Gothic" pitchFamily="34" charset="-120"/>
              </a:rPr>
              <a:t>対象：課長・次長クラス（将来の部長候補）10名程度</a:t>
            </a:r>
            <a:endParaRPr lang="en-US" sz="1200" dirty="0"/>
          </a:p>
          <a:p>
            <a:pPr marL="0" indent="0" algn="ctr">
              <a:lnSpc>
                <a:spcPct val="150000"/>
              </a:lnSpc>
              <a:buNone/>
            </a:pPr>
            <a:r>
              <a:rPr lang="en-US" sz="1200" dirty="0">
                <a:solidFill>
                  <a:srgbClr val="333333"/>
                </a:solidFill>
                <a:latin typeface="Yu Gothic" pitchFamily="34" charset="0"/>
                <a:ea typeface="Yu Gothic" pitchFamily="34" charset="-122"/>
                <a:cs typeface="Yu Gothic" pitchFamily="34" charset="-120"/>
              </a:rPr>
              <a:t>形式：月1回 終日研修 × 12回（第11回のみ2日間合宿）</a:t>
            </a:r>
            <a:endParaRPr lang="en-US" sz="1200" dirty="0"/>
          </a:p>
          <a:p>
            <a:pPr marL="0" indent="0" algn="ctr">
              <a:lnSpc>
                <a:spcPct val="150000"/>
              </a:lnSpc>
              <a:buNone/>
            </a:pPr>
            <a:r>
              <a:rPr lang="en-US" sz="1200" dirty="0">
                <a:solidFill>
                  <a:srgbClr val="333333"/>
                </a:solidFill>
                <a:latin typeface="Yu Gothic" pitchFamily="34" charset="0"/>
                <a:ea typeface="Yu Gothic" pitchFamily="34" charset="-122"/>
                <a:cs typeface="Yu Gothic" pitchFamily="34" charset="-120"/>
              </a:rPr>
              <a:t>期間：約12ヶ月間</a:t>
            </a:r>
            <a:endParaRPr lang="en-US" sz="1200" dirty="0"/>
          </a:p>
        </p:txBody>
      </p:sp>
      <p:sp>
        <p:nvSpPr>
          <p:cNvPr id="8" name="Text 6"/>
          <p:cNvSpPr/>
          <p:nvPr/>
        </p:nvSpPr>
        <p:spPr>
          <a:xfrm>
            <a:off x="5029200" y="3931920"/>
            <a:ext cx="3657600" cy="640080"/>
          </a:xfrm>
          <a:prstGeom prst="rect">
            <a:avLst/>
          </a:prstGeom>
          <a:noFill/>
          <a:ln/>
        </p:spPr>
        <p:txBody>
          <a:bodyPr wrap="square" rtlCol="0" anchor="ctr"/>
          <a:lstStyle/>
          <a:p>
            <a:pPr marL="0" indent="0" algn="r">
              <a:buNone/>
            </a:pPr>
            <a:r>
              <a:rPr lang="en-US" sz="1300" b="1" dirty="0">
                <a:solidFill>
                  <a:srgbClr val="333333"/>
                </a:solidFill>
                <a:latin typeface="Yu Gothic" pitchFamily="34" charset="0"/>
                <a:ea typeface="Yu Gothic" pitchFamily="34" charset="-122"/>
                <a:cs typeface="Yu Gothic" pitchFamily="34" charset="-120"/>
              </a:rPr>
              <a:t>株式会社えんのした</a:t>
            </a:r>
            <a:endParaRPr lang="en-US" sz="1300" dirty="0"/>
          </a:p>
          <a:p>
            <a:pPr marL="0" indent="0" algn="r">
              <a:buNone/>
            </a:pPr>
            <a:r>
              <a:rPr lang="en-US" sz="1100" dirty="0">
                <a:solidFill>
                  <a:srgbClr val="666666"/>
                </a:solidFill>
                <a:latin typeface="Yu Gothic" pitchFamily="34" charset="0"/>
                <a:ea typeface="Yu Gothic" pitchFamily="34" charset="-122"/>
                <a:cs typeface="Yu Gothic" pitchFamily="34" charset="-120"/>
              </a:rPr>
              <a:t>代表取締役　川路 隆志</a:t>
            </a:r>
            <a:endParaRPr lang="en-US" sz="1300" dirty="0"/>
          </a:p>
        </p:txBody>
      </p:sp>
      <p:sp>
        <p:nvSpPr>
          <p:cNvPr id="9" name="Shape 7"/>
          <p:cNvSpPr/>
          <p:nvPr/>
        </p:nvSpPr>
        <p:spPr>
          <a:xfrm>
            <a:off x="274320" y="4754880"/>
            <a:ext cx="8595360" cy="0"/>
          </a:xfrm>
          <a:prstGeom prst="line">
            <a:avLst/>
          </a:prstGeom>
          <a:noFill/>
          <a:ln w="12700">
            <a:solidFill>
              <a:srgbClr val="8C2029"/>
            </a:solidFill>
            <a:prstDash val="dash"/>
          </a:ln>
        </p:spPr>
        <p:txBody>
          <a:bodyPr/>
          <a:lstStyle/>
          <a:p>
            <a:endParaRPr lang="ja-JP" altLang="en-US"/>
          </a:p>
        </p:txBody>
      </p:sp>
      <p:sp>
        <p:nvSpPr>
          <p:cNvPr id="11" name="Text 2">
            <a:extLst>
              <a:ext uri="{FF2B5EF4-FFF2-40B4-BE49-F238E27FC236}">
                <a16:creationId xmlns:a16="http://schemas.microsoft.com/office/drawing/2014/main" id="{9C2D3F9A-59CF-3CD8-28DD-C27A30910FF2}"/>
              </a:ext>
            </a:extLst>
          </p:cNvPr>
          <p:cNvSpPr/>
          <p:nvPr/>
        </p:nvSpPr>
        <p:spPr>
          <a:xfrm>
            <a:off x="5943600" y="4800600"/>
            <a:ext cx="2926080" cy="274320"/>
          </a:xfrm>
          <a:prstGeom prst="rect">
            <a:avLst/>
          </a:prstGeom>
          <a:noFill/>
          <a:ln/>
        </p:spPr>
        <p:txBody>
          <a:bodyPr wrap="square"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grpSp>
        <p:nvGrpSpPr>
          <p:cNvPr id="12" name="グループ化 11">
            <a:extLst>
              <a:ext uri="{FF2B5EF4-FFF2-40B4-BE49-F238E27FC236}">
                <a16:creationId xmlns:a16="http://schemas.microsoft.com/office/drawing/2014/main" id="{8A94D862-D85F-BDDF-353E-C896259FCCF8}"/>
              </a:ext>
            </a:extLst>
          </p:cNvPr>
          <p:cNvGrpSpPr>
            <a:grpSpLocks/>
          </p:cNvGrpSpPr>
          <p:nvPr/>
        </p:nvGrpSpPr>
        <p:grpSpPr bwMode="auto">
          <a:xfrm>
            <a:off x="7529692" y="186460"/>
            <a:ext cx="1116012" cy="217488"/>
            <a:chOff x="0" y="0"/>
            <a:chExt cx="3462373" cy="671728"/>
          </a:xfrm>
        </p:grpSpPr>
        <p:pic>
          <p:nvPicPr>
            <p:cNvPr id="13" name="図 2">
              <a:extLst>
                <a:ext uri="{FF2B5EF4-FFF2-40B4-BE49-F238E27FC236}">
                  <a16:creationId xmlns:a16="http://schemas.microsoft.com/office/drawing/2014/main" id="{551652C1-AA3C-B995-F0E5-56011E66F5C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580" y="160437"/>
              <a:ext cx="2699793" cy="35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図 3">
              <a:extLst>
                <a:ext uri="{FF2B5EF4-FFF2-40B4-BE49-F238E27FC236}">
                  <a16:creationId xmlns:a16="http://schemas.microsoft.com/office/drawing/2014/main" id="{BBEFDC76-6CAE-0021-067D-0EEDAFF4EB9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71728" cy="67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1"/>
          <p:cNvSpPr/>
          <p:nvPr/>
        </p:nvSpPr>
        <p:spPr>
          <a:xfrm>
            <a:off x="274320" y="4754880"/>
            <a:ext cx="8595360" cy="0"/>
          </a:xfrm>
          <a:prstGeom prst="line">
            <a:avLst/>
          </a:prstGeom>
          <a:noFill/>
          <a:ln w="12700">
            <a:solidFill>
              <a:srgbClr val="8C2029"/>
            </a:solidFill>
            <a:prstDash val="dash"/>
          </a:ln>
        </p:spPr>
        <p:txBody>
          <a:bodyPr/>
          <a:lstStyle/>
          <a:p>
            <a:endParaRPr lang="ja-JP" altLang="en-US"/>
          </a:p>
        </p:txBody>
      </p:sp>
      <p:sp>
        <p:nvSpPr>
          <p:cNvPr id="5" name="Text 3"/>
          <p:cNvSpPr/>
          <p:nvPr/>
        </p:nvSpPr>
        <p:spPr>
          <a:xfrm>
            <a:off x="457200" y="182880"/>
            <a:ext cx="5943600" cy="457200"/>
          </a:xfrm>
          <a:prstGeom prst="rect">
            <a:avLst/>
          </a:prstGeom>
          <a:noFill/>
          <a:ln/>
        </p:spPr>
        <p:txBody>
          <a:bodyPr wrap="square" lIns="0" tIns="0" rIns="0" bIns="0" rtlCol="0" anchor="ctr"/>
          <a:lstStyle/>
          <a:p>
            <a:pPr marL="0" indent="0">
              <a:buNone/>
            </a:pPr>
            <a:r>
              <a:rPr lang="en-US" sz="2200" b="1" dirty="0">
                <a:solidFill>
                  <a:srgbClr val="333333"/>
                </a:solidFill>
                <a:latin typeface="Yu Gothic" pitchFamily="34" charset="0"/>
                <a:ea typeface="Yu Gothic" pitchFamily="34" charset="-122"/>
                <a:cs typeface="Yu Gothic" pitchFamily="34" charset="-120"/>
              </a:rPr>
              <a:t>研修設計の背景</a:t>
            </a:r>
            <a:endParaRPr lang="en-US" sz="2200" dirty="0"/>
          </a:p>
        </p:txBody>
      </p:sp>
      <p:sp>
        <p:nvSpPr>
          <p:cNvPr id="7" name="Shape 5"/>
          <p:cNvSpPr/>
          <p:nvPr/>
        </p:nvSpPr>
        <p:spPr>
          <a:xfrm>
            <a:off x="457200" y="914400"/>
            <a:ext cx="3931920" cy="1417320"/>
          </a:xfrm>
          <a:prstGeom prst="rect">
            <a:avLst/>
          </a:prstGeom>
          <a:solidFill>
            <a:srgbClr val="FFFFFF"/>
          </a:solidFill>
          <a:ln w="6350">
            <a:solidFill>
              <a:srgbClr val="DDDDDD"/>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8" name="Shape 6"/>
          <p:cNvSpPr/>
          <p:nvPr/>
        </p:nvSpPr>
        <p:spPr>
          <a:xfrm>
            <a:off x="457200" y="914400"/>
            <a:ext cx="54864" cy="1417320"/>
          </a:xfrm>
          <a:prstGeom prst="rect">
            <a:avLst/>
          </a:prstGeom>
          <a:solidFill>
            <a:srgbClr val="8C2029"/>
          </a:solidFill>
          <a:ln/>
        </p:spPr>
        <p:txBody>
          <a:bodyPr/>
          <a:lstStyle/>
          <a:p>
            <a:endParaRPr lang="ja-JP" altLang="en-US"/>
          </a:p>
        </p:txBody>
      </p:sp>
      <p:sp>
        <p:nvSpPr>
          <p:cNvPr id="9" name="Text 7"/>
          <p:cNvSpPr/>
          <p:nvPr/>
        </p:nvSpPr>
        <p:spPr>
          <a:xfrm>
            <a:off x="640080" y="914400"/>
            <a:ext cx="3657600" cy="365760"/>
          </a:xfrm>
          <a:prstGeom prst="rect">
            <a:avLst/>
          </a:prstGeom>
          <a:noFill/>
          <a:ln/>
        </p:spPr>
        <p:txBody>
          <a:bodyPr wrap="square" lIns="0" tIns="0" rIns="0" bIns="0" rtlCol="0" anchor="ctr"/>
          <a:lstStyle/>
          <a:p>
            <a:pPr marL="0" indent="0">
              <a:buNone/>
            </a:pPr>
            <a:r>
              <a:rPr lang="en-US" sz="1300" b="1" dirty="0">
                <a:solidFill>
                  <a:srgbClr val="8C2029"/>
                </a:solidFill>
                <a:latin typeface="Yu Gothic" pitchFamily="34" charset="0"/>
                <a:ea typeface="Yu Gothic" pitchFamily="34" charset="-122"/>
                <a:cs typeface="Yu Gothic" pitchFamily="34" charset="-120"/>
              </a:rPr>
              <a:t>役割認識</a:t>
            </a:r>
            <a:endParaRPr lang="en-US" sz="1300" dirty="0"/>
          </a:p>
        </p:txBody>
      </p:sp>
      <p:sp>
        <p:nvSpPr>
          <p:cNvPr id="10" name="Text 8"/>
          <p:cNvSpPr/>
          <p:nvPr/>
        </p:nvSpPr>
        <p:spPr>
          <a:xfrm>
            <a:off x="640080" y="1261872"/>
            <a:ext cx="3566160" cy="1005840"/>
          </a:xfrm>
          <a:prstGeom prst="rect">
            <a:avLst/>
          </a:prstGeom>
          <a:noFill/>
          <a:ln/>
        </p:spPr>
        <p:txBody>
          <a:bodyPr wrap="square" lIns="0" tIns="0" rIns="0" bIns="0" rtlCol="0" anchor="ctr"/>
          <a:lstStyle/>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管理職としての意識が十分に醸成されていない。</a:t>
            </a:r>
            <a:endParaRPr lang="en-US" sz="1000" dirty="0"/>
          </a:p>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プレイヤー意識が強く、マネジャーとしての役割転換が進んでいない。</a:t>
            </a:r>
            <a:endParaRPr lang="en-US" sz="1000" dirty="0"/>
          </a:p>
        </p:txBody>
      </p:sp>
      <p:sp>
        <p:nvSpPr>
          <p:cNvPr id="11" name="Shape 9"/>
          <p:cNvSpPr/>
          <p:nvPr/>
        </p:nvSpPr>
        <p:spPr>
          <a:xfrm>
            <a:off x="4663440" y="914400"/>
            <a:ext cx="3931920" cy="1417320"/>
          </a:xfrm>
          <a:prstGeom prst="rect">
            <a:avLst/>
          </a:prstGeom>
          <a:solidFill>
            <a:srgbClr val="FFFFFF"/>
          </a:solidFill>
          <a:ln w="6350">
            <a:solidFill>
              <a:srgbClr val="DDDDDD"/>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12" name="Shape 10"/>
          <p:cNvSpPr/>
          <p:nvPr/>
        </p:nvSpPr>
        <p:spPr>
          <a:xfrm>
            <a:off x="4663440" y="914400"/>
            <a:ext cx="54864" cy="1417320"/>
          </a:xfrm>
          <a:prstGeom prst="rect">
            <a:avLst/>
          </a:prstGeom>
          <a:solidFill>
            <a:srgbClr val="8C2029"/>
          </a:solidFill>
          <a:ln/>
        </p:spPr>
        <p:txBody>
          <a:bodyPr/>
          <a:lstStyle/>
          <a:p>
            <a:endParaRPr lang="ja-JP" altLang="en-US"/>
          </a:p>
        </p:txBody>
      </p:sp>
      <p:sp>
        <p:nvSpPr>
          <p:cNvPr id="13" name="Text 11"/>
          <p:cNvSpPr/>
          <p:nvPr/>
        </p:nvSpPr>
        <p:spPr>
          <a:xfrm>
            <a:off x="4846320" y="914400"/>
            <a:ext cx="3657600" cy="365760"/>
          </a:xfrm>
          <a:prstGeom prst="rect">
            <a:avLst/>
          </a:prstGeom>
          <a:noFill/>
          <a:ln/>
        </p:spPr>
        <p:txBody>
          <a:bodyPr wrap="square" lIns="0" tIns="0" rIns="0" bIns="0" rtlCol="0" anchor="ctr"/>
          <a:lstStyle/>
          <a:p>
            <a:pPr marL="0" indent="0">
              <a:buNone/>
            </a:pPr>
            <a:r>
              <a:rPr lang="en-US" sz="1300" b="1" dirty="0">
                <a:solidFill>
                  <a:srgbClr val="8C2029"/>
                </a:solidFill>
                <a:latin typeface="Yu Gothic" pitchFamily="34" charset="0"/>
                <a:ea typeface="Yu Gothic" pitchFamily="34" charset="-122"/>
                <a:cs typeface="Yu Gothic" pitchFamily="34" charset="-120"/>
              </a:rPr>
              <a:t>育成体制</a:t>
            </a:r>
            <a:endParaRPr lang="en-US" sz="1300" dirty="0"/>
          </a:p>
        </p:txBody>
      </p:sp>
      <p:sp>
        <p:nvSpPr>
          <p:cNvPr id="14" name="Text 12"/>
          <p:cNvSpPr/>
          <p:nvPr/>
        </p:nvSpPr>
        <p:spPr>
          <a:xfrm>
            <a:off x="4846320" y="1261872"/>
            <a:ext cx="3566160" cy="1005840"/>
          </a:xfrm>
          <a:prstGeom prst="rect">
            <a:avLst/>
          </a:prstGeom>
          <a:noFill/>
          <a:ln/>
        </p:spPr>
        <p:txBody>
          <a:bodyPr wrap="square" lIns="0" tIns="0" rIns="0" bIns="0" rtlCol="0" anchor="ctr"/>
          <a:lstStyle/>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管理職向けの体系的な研修を実施した経験がない。</a:t>
            </a:r>
            <a:endParaRPr lang="en-US" sz="1000" dirty="0"/>
          </a:p>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管理職に求められるスキルや知識を学ぶ機会が不足している。</a:t>
            </a:r>
            <a:endParaRPr lang="en-US" sz="1000" dirty="0"/>
          </a:p>
        </p:txBody>
      </p:sp>
      <p:sp>
        <p:nvSpPr>
          <p:cNvPr id="15" name="Shape 13"/>
          <p:cNvSpPr/>
          <p:nvPr/>
        </p:nvSpPr>
        <p:spPr>
          <a:xfrm>
            <a:off x="457200" y="2560320"/>
            <a:ext cx="3931920" cy="1417320"/>
          </a:xfrm>
          <a:prstGeom prst="rect">
            <a:avLst/>
          </a:prstGeom>
          <a:solidFill>
            <a:srgbClr val="FFFFFF"/>
          </a:solidFill>
          <a:ln w="6350">
            <a:solidFill>
              <a:srgbClr val="DDDDDD"/>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16" name="Shape 14"/>
          <p:cNvSpPr/>
          <p:nvPr/>
        </p:nvSpPr>
        <p:spPr>
          <a:xfrm>
            <a:off x="457200" y="2560320"/>
            <a:ext cx="54864" cy="1417320"/>
          </a:xfrm>
          <a:prstGeom prst="rect">
            <a:avLst/>
          </a:prstGeom>
          <a:solidFill>
            <a:srgbClr val="8C2029"/>
          </a:solidFill>
          <a:ln/>
        </p:spPr>
        <p:txBody>
          <a:bodyPr/>
          <a:lstStyle/>
          <a:p>
            <a:endParaRPr lang="ja-JP" altLang="en-US"/>
          </a:p>
        </p:txBody>
      </p:sp>
      <p:sp>
        <p:nvSpPr>
          <p:cNvPr id="17" name="Text 15"/>
          <p:cNvSpPr/>
          <p:nvPr/>
        </p:nvSpPr>
        <p:spPr>
          <a:xfrm>
            <a:off x="640080" y="2560320"/>
            <a:ext cx="3657600" cy="365760"/>
          </a:xfrm>
          <a:prstGeom prst="rect">
            <a:avLst/>
          </a:prstGeom>
          <a:noFill/>
          <a:ln/>
        </p:spPr>
        <p:txBody>
          <a:bodyPr wrap="square" lIns="0" tIns="0" rIns="0" bIns="0" rtlCol="0" anchor="ctr"/>
          <a:lstStyle/>
          <a:p>
            <a:pPr marL="0" indent="0">
              <a:buNone/>
            </a:pPr>
            <a:r>
              <a:rPr lang="en-US" sz="1300" b="1" dirty="0">
                <a:solidFill>
                  <a:srgbClr val="8C2029"/>
                </a:solidFill>
                <a:latin typeface="Yu Gothic" pitchFamily="34" charset="0"/>
                <a:ea typeface="Yu Gothic" pitchFamily="34" charset="-122"/>
                <a:cs typeface="Yu Gothic" pitchFamily="34" charset="-120"/>
              </a:rPr>
              <a:t>人事基盤</a:t>
            </a:r>
            <a:endParaRPr lang="en-US" sz="1300" dirty="0"/>
          </a:p>
        </p:txBody>
      </p:sp>
      <p:sp>
        <p:nvSpPr>
          <p:cNvPr id="18" name="Text 16"/>
          <p:cNvSpPr/>
          <p:nvPr/>
        </p:nvSpPr>
        <p:spPr>
          <a:xfrm>
            <a:off x="640080" y="2907792"/>
            <a:ext cx="3566160" cy="1005840"/>
          </a:xfrm>
          <a:prstGeom prst="rect">
            <a:avLst/>
          </a:prstGeom>
          <a:noFill/>
          <a:ln/>
        </p:spPr>
        <p:txBody>
          <a:bodyPr wrap="square" lIns="0" tIns="0" rIns="0" bIns="0" rtlCol="0" anchor="ctr"/>
          <a:lstStyle/>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人事制度が未整備。管理職の評価基準や期待役割が</a:t>
            </a:r>
            <a:endParaRPr lang="en-US" sz="1000" dirty="0"/>
          </a:p>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明文化されていない。フィードバック文化が根づいていない。</a:t>
            </a:r>
            <a:endParaRPr lang="en-US" sz="1000" dirty="0"/>
          </a:p>
        </p:txBody>
      </p:sp>
      <p:sp>
        <p:nvSpPr>
          <p:cNvPr id="19" name="Shape 17"/>
          <p:cNvSpPr/>
          <p:nvPr/>
        </p:nvSpPr>
        <p:spPr>
          <a:xfrm>
            <a:off x="4663440" y="2560320"/>
            <a:ext cx="3931920" cy="1417320"/>
          </a:xfrm>
          <a:prstGeom prst="rect">
            <a:avLst/>
          </a:prstGeom>
          <a:solidFill>
            <a:srgbClr val="FFFFFF"/>
          </a:solidFill>
          <a:ln w="6350">
            <a:solidFill>
              <a:srgbClr val="DDDDDD"/>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20" name="Shape 18"/>
          <p:cNvSpPr/>
          <p:nvPr/>
        </p:nvSpPr>
        <p:spPr>
          <a:xfrm>
            <a:off x="4663440" y="2560320"/>
            <a:ext cx="54864" cy="1417320"/>
          </a:xfrm>
          <a:prstGeom prst="rect">
            <a:avLst/>
          </a:prstGeom>
          <a:solidFill>
            <a:srgbClr val="8C2029"/>
          </a:solidFill>
          <a:ln/>
        </p:spPr>
        <p:txBody>
          <a:bodyPr/>
          <a:lstStyle/>
          <a:p>
            <a:endParaRPr lang="ja-JP" altLang="en-US"/>
          </a:p>
        </p:txBody>
      </p:sp>
      <p:sp>
        <p:nvSpPr>
          <p:cNvPr id="21" name="Text 19"/>
          <p:cNvSpPr/>
          <p:nvPr/>
        </p:nvSpPr>
        <p:spPr>
          <a:xfrm>
            <a:off x="4846320" y="2560320"/>
            <a:ext cx="3657600" cy="365760"/>
          </a:xfrm>
          <a:prstGeom prst="rect">
            <a:avLst/>
          </a:prstGeom>
          <a:noFill/>
          <a:ln/>
        </p:spPr>
        <p:txBody>
          <a:bodyPr wrap="square" lIns="0" tIns="0" rIns="0" bIns="0" rtlCol="0" anchor="ctr"/>
          <a:lstStyle/>
          <a:p>
            <a:pPr marL="0" indent="0">
              <a:buNone/>
            </a:pPr>
            <a:r>
              <a:rPr lang="en-US" sz="1300" b="1" dirty="0">
                <a:solidFill>
                  <a:srgbClr val="8C2029"/>
                </a:solidFill>
                <a:latin typeface="Yu Gothic" pitchFamily="34" charset="0"/>
                <a:ea typeface="Yu Gothic" pitchFamily="34" charset="-122"/>
                <a:cs typeface="Yu Gothic" pitchFamily="34" charset="-120"/>
              </a:rPr>
              <a:t>組織文化</a:t>
            </a:r>
            <a:endParaRPr lang="en-US" sz="1300" dirty="0"/>
          </a:p>
        </p:txBody>
      </p:sp>
      <p:sp>
        <p:nvSpPr>
          <p:cNvPr id="22" name="Text 20"/>
          <p:cNvSpPr/>
          <p:nvPr/>
        </p:nvSpPr>
        <p:spPr>
          <a:xfrm>
            <a:off x="4846320" y="2907792"/>
            <a:ext cx="3566160" cy="1005840"/>
          </a:xfrm>
          <a:prstGeom prst="rect">
            <a:avLst/>
          </a:prstGeom>
          <a:noFill/>
          <a:ln/>
        </p:spPr>
        <p:txBody>
          <a:bodyPr wrap="square" lIns="0" tIns="0" rIns="0" bIns="0" rtlCol="0" anchor="ctr"/>
          <a:lstStyle/>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信頼関係を基盤とした組織風土が根づいている一方、プロフェッショナルとしてのけじめが求められる場面も。</a:t>
            </a:r>
            <a:endParaRPr lang="en-US" sz="1000" dirty="0"/>
          </a:p>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組織の強みである人間関係の温かさを活かしつつ、成果と責任の文化を醸成する転換期にある。</a:t>
            </a:r>
            <a:endParaRPr lang="en-US" sz="1000" dirty="0"/>
          </a:p>
        </p:txBody>
      </p:sp>
      <p:sp>
        <p:nvSpPr>
          <p:cNvPr id="23" name="Text 2">
            <a:extLst>
              <a:ext uri="{FF2B5EF4-FFF2-40B4-BE49-F238E27FC236}">
                <a16:creationId xmlns:a16="http://schemas.microsoft.com/office/drawing/2014/main" id="{0DAA47F6-A8A4-8AA3-91C4-BD362C1EF526}"/>
              </a:ext>
            </a:extLst>
          </p:cNvPr>
          <p:cNvSpPr/>
          <p:nvPr/>
        </p:nvSpPr>
        <p:spPr>
          <a:xfrm>
            <a:off x="5943600" y="4800600"/>
            <a:ext cx="2926080" cy="274320"/>
          </a:xfrm>
          <a:prstGeom prst="rect">
            <a:avLst/>
          </a:prstGeom>
          <a:noFill/>
          <a:ln/>
        </p:spPr>
        <p:txBody>
          <a:bodyPr wrap="square"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grpSp>
        <p:nvGrpSpPr>
          <p:cNvPr id="25" name="グループ化 11">
            <a:extLst>
              <a:ext uri="{FF2B5EF4-FFF2-40B4-BE49-F238E27FC236}">
                <a16:creationId xmlns:a16="http://schemas.microsoft.com/office/drawing/2014/main" id="{B510D6F3-F632-7148-19F2-1A9BC2395F23}"/>
              </a:ext>
            </a:extLst>
          </p:cNvPr>
          <p:cNvGrpSpPr>
            <a:grpSpLocks/>
          </p:cNvGrpSpPr>
          <p:nvPr/>
        </p:nvGrpSpPr>
        <p:grpSpPr bwMode="auto">
          <a:xfrm>
            <a:off x="7529692" y="186460"/>
            <a:ext cx="1116012" cy="217488"/>
            <a:chOff x="0" y="0"/>
            <a:chExt cx="3462373" cy="671728"/>
          </a:xfrm>
        </p:grpSpPr>
        <p:pic>
          <p:nvPicPr>
            <p:cNvPr id="26" name="図 2">
              <a:extLst>
                <a:ext uri="{FF2B5EF4-FFF2-40B4-BE49-F238E27FC236}">
                  <a16:creationId xmlns:a16="http://schemas.microsoft.com/office/drawing/2014/main" id="{702628FB-A783-2B8A-E474-B2530A1BBFC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580" y="160437"/>
              <a:ext cx="2699793" cy="35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図 3">
              <a:extLst>
                <a:ext uri="{FF2B5EF4-FFF2-40B4-BE49-F238E27FC236}">
                  <a16:creationId xmlns:a16="http://schemas.microsoft.com/office/drawing/2014/main" id="{89C58BBA-5D33-66CD-668F-931FF8657A1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71728" cy="67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 name="Shape 4">
            <a:extLst>
              <a:ext uri="{FF2B5EF4-FFF2-40B4-BE49-F238E27FC236}">
                <a16:creationId xmlns:a16="http://schemas.microsoft.com/office/drawing/2014/main" id="{79DD6AE3-4FF4-DF9F-1B90-A3A1380FF2C8}"/>
              </a:ext>
            </a:extLst>
          </p:cNvPr>
          <p:cNvSpPr/>
          <p:nvPr/>
        </p:nvSpPr>
        <p:spPr>
          <a:xfrm flipV="1">
            <a:off x="457200" y="612649"/>
            <a:ext cx="775699" cy="45719"/>
          </a:xfrm>
          <a:prstGeom prst="rect">
            <a:avLst/>
          </a:prstGeom>
          <a:solidFill>
            <a:srgbClr val="8C2029"/>
          </a:solidFill>
          <a:ln/>
        </p:spPr>
        <p:txBody>
          <a:bodyPr/>
          <a:lstStyle/>
          <a:p>
            <a:endParaRPr lang="ja-JP"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1"/>
          <p:cNvSpPr/>
          <p:nvPr/>
        </p:nvSpPr>
        <p:spPr>
          <a:xfrm>
            <a:off x="274320" y="4754880"/>
            <a:ext cx="8595360" cy="0"/>
          </a:xfrm>
          <a:prstGeom prst="line">
            <a:avLst/>
          </a:prstGeom>
          <a:noFill/>
          <a:ln w="12700">
            <a:solidFill>
              <a:srgbClr val="8C2029"/>
            </a:solidFill>
            <a:prstDash val="dash"/>
          </a:ln>
        </p:spPr>
        <p:txBody>
          <a:bodyPr/>
          <a:lstStyle/>
          <a:p>
            <a:endParaRPr lang="ja-JP" altLang="en-US"/>
          </a:p>
        </p:txBody>
      </p:sp>
      <p:sp>
        <p:nvSpPr>
          <p:cNvPr id="5" name="Text 3"/>
          <p:cNvSpPr/>
          <p:nvPr/>
        </p:nvSpPr>
        <p:spPr>
          <a:xfrm>
            <a:off x="457200" y="182880"/>
            <a:ext cx="5943600" cy="457200"/>
          </a:xfrm>
          <a:prstGeom prst="rect">
            <a:avLst/>
          </a:prstGeom>
          <a:noFill/>
          <a:ln/>
        </p:spPr>
        <p:txBody>
          <a:bodyPr wrap="square" lIns="0" tIns="0" rIns="0" bIns="0" rtlCol="0" anchor="ctr"/>
          <a:lstStyle/>
          <a:p>
            <a:pPr marL="0" indent="0">
              <a:buNone/>
            </a:pPr>
            <a:r>
              <a:rPr lang="en-US" sz="2200" b="1" dirty="0">
                <a:solidFill>
                  <a:srgbClr val="333333"/>
                </a:solidFill>
                <a:latin typeface="Yu Gothic" pitchFamily="34" charset="0"/>
                <a:ea typeface="Yu Gothic" pitchFamily="34" charset="-122"/>
                <a:cs typeface="Yu Gothic" pitchFamily="34" charset="-120"/>
              </a:rPr>
              <a:t>研修のねらい ～ 3つの変革 ～</a:t>
            </a:r>
            <a:endParaRPr lang="en-US" sz="2200" dirty="0"/>
          </a:p>
        </p:txBody>
      </p:sp>
      <p:sp>
        <p:nvSpPr>
          <p:cNvPr id="7" name="Shape 5"/>
          <p:cNvSpPr/>
          <p:nvPr/>
        </p:nvSpPr>
        <p:spPr>
          <a:xfrm>
            <a:off x="457200" y="914400"/>
            <a:ext cx="2606040" cy="3474720"/>
          </a:xfrm>
          <a:prstGeom prst="rect">
            <a:avLst/>
          </a:prstGeom>
          <a:solidFill>
            <a:srgbClr val="FFFFFF"/>
          </a:solidFill>
          <a:ln w="6350">
            <a:solidFill>
              <a:srgbClr val="EEEEEE"/>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8" name="Shape 6"/>
          <p:cNvSpPr/>
          <p:nvPr/>
        </p:nvSpPr>
        <p:spPr>
          <a:xfrm>
            <a:off x="457200" y="914400"/>
            <a:ext cx="2606040" cy="54864"/>
          </a:xfrm>
          <a:prstGeom prst="rect">
            <a:avLst/>
          </a:prstGeom>
          <a:solidFill>
            <a:srgbClr val="8C2029"/>
          </a:solidFill>
          <a:ln/>
        </p:spPr>
        <p:txBody>
          <a:bodyPr/>
          <a:lstStyle/>
          <a:p>
            <a:endParaRPr lang="ja-JP" altLang="en-US"/>
          </a:p>
        </p:txBody>
      </p:sp>
      <p:sp>
        <p:nvSpPr>
          <p:cNvPr id="9" name="Shape 7"/>
          <p:cNvSpPr/>
          <p:nvPr/>
        </p:nvSpPr>
        <p:spPr>
          <a:xfrm>
            <a:off x="1417320" y="1143000"/>
            <a:ext cx="640080" cy="640080"/>
          </a:xfrm>
          <a:prstGeom prst="ellipse">
            <a:avLst/>
          </a:prstGeom>
          <a:solidFill>
            <a:srgbClr val="8C2029"/>
          </a:solidFill>
          <a:ln/>
        </p:spPr>
        <p:txBody>
          <a:bodyPr/>
          <a:lstStyle/>
          <a:p>
            <a:endParaRPr lang="ja-JP" altLang="en-US"/>
          </a:p>
        </p:txBody>
      </p:sp>
      <p:sp>
        <p:nvSpPr>
          <p:cNvPr id="10" name="Text 8"/>
          <p:cNvSpPr/>
          <p:nvPr/>
        </p:nvSpPr>
        <p:spPr>
          <a:xfrm>
            <a:off x="1417320" y="1143000"/>
            <a:ext cx="640080" cy="6400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01</a:t>
            </a:r>
            <a:endParaRPr lang="en-US" sz="1800" dirty="0"/>
          </a:p>
        </p:txBody>
      </p:sp>
      <p:pic>
        <p:nvPicPr>
          <p:cNvPr id="11" name="Image 0" descr="preencoded.png"/>
          <p:cNvPicPr>
            <a:picLocks noChangeAspect="1"/>
          </p:cNvPicPr>
          <p:nvPr/>
        </p:nvPicPr>
        <p:blipFill>
          <a:blip r:embed="rId3"/>
          <a:stretch>
            <a:fillRect/>
          </a:stretch>
        </p:blipFill>
        <p:spPr>
          <a:xfrm>
            <a:off x="1508760" y="1874520"/>
            <a:ext cx="457200" cy="457200"/>
          </a:xfrm>
          <a:prstGeom prst="rect">
            <a:avLst/>
          </a:prstGeom>
        </p:spPr>
      </p:pic>
      <p:sp>
        <p:nvSpPr>
          <p:cNvPr id="12" name="Text 9"/>
          <p:cNvSpPr/>
          <p:nvPr/>
        </p:nvSpPr>
        <p:spPr>
          <a:xfrm>
            <a:off x="594360" y="2377440"/>
            <a:ext cx="2331720" cy="365760"/>
          </a:xfrm>
          <a:prstGeom prst="rect">
            <a:avLst/>
          </a:prstGeom>
          <a:noFill/>
          <a:ln/>
        </p:spPr>
        <p:txBody>
          <a:bodyPr wrap="square" lIns="0" tIns="0" rIns="0" bIns="0" rtlCol="0" anchor="ctr"/>
          <a:lstStyle/>
          <a:p>
            <a:pPr marL="0" indent="0" algn="ctr">
              <a:buNone/>
            </a:pPr>
            <a:r>
              <a:rPr lang="en-US" sz="1400" b="1" dirty="0">
                <a:solidFill>
                  <a:srgbClr val="8C2029"/>
                </a:solidFill>
                <a:latin typeface="Yu Gothic" pitchFamily="34" charset="0"/>
                <a:ea typeface="Yu Gothic" pitchFamily="34" charset="-122"/>
                <a:cs typeface="Yu Gothic" pitchFamily="34" charset="-120"/>
              </a:rPr>
              <a:t>意識の変革</a:t>
            </a:r>
            <a:endParaRPr lang="en-US" sz="1400" dirty="0"/>
          </a:p>
        </p:txBody>
      </p:sp>
      <p:sp>
        <p:nvSpPr>
          <p:cNvPr id="13" name="Text 10"/>
          <p:cNvSpPr/>
          <p:nvPr/>
        </p:nvSpPr>
        <p:spPr>
          <a:xfrm>
            <a:off x="640080" y="2788920"/>
            <a:ext cx="2331720" cy="1463040"/>
          </a:xfrm>
          <a:prstGeom prst="rect">
            <a:avLst/>
          </a:prstGeom>
          <a:noFill/>
          <a:ln/>
        </p:spPr>
        <p:txBody>
          <a:bodyPr wrap="square" lIns="0" tIns="0" rIns="0" bIns="0" rtlCol="0" anchor="ctr"/>
          <a:lstStyle/>
          <a:p>
            <a:pPr marL="0" indent="0">
              <a:lnSpc>
                <a:spcPct val="150000"/>
              </a:lnSpc>
              <a:buNone/>
            </a:pPr>
            <a:r>
              <a:rPr lang="en-US" sz="950" dirty="0">
                <a:solidFill>
                  <a:srgbClr val="333333"/>
                </a:solidFill>
                <a:latin typeface="Yu Gothic" pitchFamily="34" charset="0"/>
                <a:ea typeface="Yu Gothic" pitchFamily="34" charset="-122"/>
                <a:cs typeface="Yu Gothic" pitchFamily="34" charset="-120"/>
              </a:rPr>
              <a:t>「</a:t>
            </a:r>
            <a:r>
              <a:rPr lang="en-US" sz="950" dirty="0" err="1">
                <a:solidFill>
                  <a:srgbClr val="333333"/>
                </a:solidFill>
                <a:latin typeface="Yu Gothic" pitchFamily="34" charset="0"/>
                <a:ea typeface="Yu Gothic" pitchFamily="34" charset="-122"/>
                <a:cs typeface="Yu Gothic" pitchFamily="34" charset="-120"/>
              </a:rPr>
              <a:t>自分は管理職である」という自覚と覚悟を持ち、受け身の姿勢から脱却している</a:t>
            </a:r>
            <a:r>
              <a:rPr lang="en-US" sz="950" dirty="0">
                <a:solidFill>
                  <a:srgbClr val="333333"/>
                </a:solidFill>
                <a:latin typeface="Yu Gothic" pitchFamily="34" charset="0"/>
                <a:ea typeface="Yu Gothic" pitchFamily="34" charset="-122"/>
                <a:cs typeface="Yu Gothic" pitchFamily="34" charset="-120"/>
              </a:rPr>
              <a:t>。</a:t>
            </a:r>
            <a:endParaRPr lang="en-US" sz="950" dirty="0"/>
          </a:p>
          <a:p>
            <a:pPr marL="0" indent="0">
              <a:lnSpc>
                <a:spcPct val="150000"/>
              </a:lnSpc>
              <a:buNone/>
            </a:pPr>
            <a:r>
              <a:rPr lang="en-US" sz="950" dirty="0">
                <a:solidFill>
                  <a:srgbClr val="333333"/>
                </a:solidFill>
                <a:latin typeface="Yu Gothic" pitchFamily="34" charset="0"/>
                <a:ea typeface="Yu Gothic" pitchFamily="34" charset="-122"/>
                <a:cs typeface="Yu Gothic" pitchFamily="34" charset="-120"/>
              </a:rPr>
              <a:t>経営理念を自分の言葉で語り、部下に示すことができる。</a:t>
            </a:r>
            <a:endParaRPr lang="en-US" sz="950" dirty="0"/>
          </a:p>
        </p:txBody>
      </p:sp>
      <p:sp>
        <p:nvSpPr>
          <p:cNvPr id="14" name="Shape 11"/>
          <p:cNvSpPr/>
          <p:nvPr/>
        </p:nvSpPr>
        <p:spPr>
          <a:xfrm>
            <a:off x="3291840" y="914400"/>
            <a:ext cx="2606040" cy="3474720"/>
          </a:xfrm>
          <a:prstGeom prst="rect">
            <a:avLst/>
          </a:prstGeom>
          <a:solidFill>
            <a:srgbClr val="FFFFFF"/>
          </a:solidFill>
          <a:ln w="6350">
            <a:solidFill>
              <a:srgbClr val="EEEEEE"/>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15" name="Shape 12"/>
          <p:cNvSpPr/>
          <p:nvPr/>
        </p:nvSpPr>
        <p:spPr>
          <a:xfrm>
            <a:off x="3291840" y="914400"/>
            <a:ext cx="2606040" cy="54864"/>
          </a:xfrm>
          <a:prstGeom prst="rect">
            <a:avLst/>
          </a:prstGeom>
          <a:solidFill>
            <a:srgbClr val="8C2029"/>
          </a:solidFill>
          <a:ln/>
        </p:spPr>
        <p:txBody>
          <a:bodyPr/>
          <a:lstStyle/>
          <a:p>
            <a:endParaRPr lang="ja-JP" altLang="en-US"/>
          </a:p>
        </p:txBody>
      </p:sp>
      <p:sp>
        <p:nvSpPr>
          <p:cNvPr id="16" name="Shape 13"/>
          <p:cNvSpPr/>
          <p:nvPr/>
        </p:nvSpPr>
        <p:spPr>
          <a:xfrm>
            <a:off x="4251960" y="1143000"/>
            <a:ext cx="640080" cy="640080"/>
          </a:xfrm>
          <a:prstGeom prst="ellipse">
            <a:avLst/>
          </a:prstGeom>
          <a:solidFill>
            <a:srgbClr val="8C2029"/>
          </a:solidFill>
          <a:ln/>
        </p:spPr>
        <p:txBody>
          <a:bodyPr/>
          <a:lstStyle/>
          <a:p>
            <a:endParaRPr lang="ja-JP" altLang="en-US"/>
          </a:p>
        </p:txBody>
      </p:sp>
      <p:sp>
        <p:nvSpPr>
          <p:cNvPr id="17" name="Text 14"/>
          <p:cNvSpPr/>
          <p:nvPr/>
        </p:nvSpPr>
        <p:spPr>
          <a:xfrm>
            <a:off x="4251960" y="1143000"/>
            <a:ext cx="640080" cy="6400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02</a:t>
            </a:r>
            <a:endParaRPr lang="en-US" sz="1800" dirty="0"/>
          </a:p>
        </p:txBody>
      </p:sp>
      <p:pic>
        <p:nvPicPr>
          <p:cNvPr id="18" name="Image 1" descr="preencoded.png"/>
          <p:cNvPicPr>
            <a:picLocks noChangeAspect="1"/>
          </p:cNvPicPr>
          <p:nvPr/>
        </p:nvPicPr>
        <p:blipFill>
          <a:blip r:embed="rId4"/>
          <a:stretch>
            <a:fillRect/>
          </a:stretch>
        </p:blipFill>
        <p:spPr>
          <a:xfrm>
            <a:off x="4343400" y="1874520"/>
            <a:ext cx="457200" cy="457200"/>
          </a:xfrm>
          <a:prstGeom prst="rect">
            <a:avLst/>
          </a:prstGeom>
        </p:spPr>
      </p:pic>
      <p:sp>
        <p:nvSpPr>
          <p:cNvPr id="19" name="Text 15"/>
          <p:cNvSpPr/>
          <p:nvPr/>
        </p:nvSpPr>
        <p:spPr>
          <a:xfrm>
            <a:off x="3429000" y="2377440"/>
            <a:ext cx="2331720" cy="365760"/>
          </a:xfrm>
          <a:prstGeom prst="rect">
            <a:avLst/>
          </a:prstGeom>
          <a:noFill/>
          <a:ln/>
        </p:spPr>
        <p:txBody>
          <a:bodyPr wrap="square" lIns="0" tIns="0" rIns="0" bIns="0" rtlCol="0" anchor="ctr"/>
          <a:lstStyle/>
          <a:p>
            <a:pPr marL="0" indent="0" algn="ctr">
              <a:buNone/>
            </a:pPr>
            <a:r>
              <a:rPr lang="en-US" sz="1400" b="1" dirty="0">
                <a:solidFill>
                  <a:srgbClr val="8C2029"/>
                </a:solidFill>
                <a:latin typeface="Yu Gothic" pitchFamily="34" charset="0"/>
                <a:ea typeface="Yu Gothic" pitchFamily="34" charset="-122"/>
                <a:cs typeface="Yu Gothic" pitchFamily="34" charset="-120"/>
              </a:rPr>
              <a:t>対話力の変革</a:t>
            </a:r>
            <a:endParaRPr lang="en-US" sz="1400" dirty="0"/>
          </a:p>
        </p:txBody>
      </p:sp>
      <p:sp>
        <p:nvSpPr>
          <p:cNvPr id="20" name="Text 16"/>
          <p:cNvSpPr/>
          <p:nvPr/>
        </p:nvSpPr>
        <p:spPr>
          <a:xfrm>
            <a:off x="3474720" y="2788920"/>
            <a:ext cx="2331720" cy="1463040"/>
          </a:xfrm>
          <a:prstGeom prst="rect">
            <a:avLst/>
          </a:prstGeom>
          <a:noFill/>
          <a:ln/>
        </p:spPr>
        <p:txBody>
          <a:bodyPr wrap="square" lIns="0" tIns="0" rIns="0" bIns="0" rtlCol="0" anchor="ctr"/>
          <a:lstStyle/>
          <a:p>
            <a:pPr marL="0" indent="0">
              <a:lnSpc>
                <a:spcPct val="150000"/>
              </a:lnSpc>
              <a:buNone/>
            </a:pPr>
            <a:r>
              <a:rPr lang="en-US" sz="950" dirty="0" err="1">
                <a:solidFill>
                  <a:srgbClr val="333333"/>
                </a:solidFill>
                <a:latin typeface="Yu Gothic" pitchFamily="34" charset="0"/>
                <a:ea typeface="Yu Gothic" pitchFamily="34" charset="-122"/>
                <a:cs typeface="Yu Gothic" pitchFamily="34" charset="-120"/>
              </a:rPr>
              <a:t>部下の話を傾聴し、コーチングで成長を引き出し、会議をファシリテートできる</a:t>
            </a:r>
            <a:r>
              <a:rPr lang="en-US" sz="950" dirty="0">
                <a:solidFill>
                  <a:srgbClr val="333333"/>
                </a:solidFill>
                <a:latin typeface="Yu Gothic" pitchFamily="34" charset="0"/>
                <a:ea typeface="Yu Gothic" pitchFamily="34" charset="-122"/>
                <a:cs typeface="Yu Gothic" pitchFamily="34" charset="-120"/>
              </a:rPr>
              <a:t>。</a:t>
            </a:r>
            <a:endParaRPr lang="en-US" sz="950" dirty="0"/>
          </a:p>
          <a:p>
            <a:pPr marL="0" indent="0">
              <a:lnSpc>
                <a:spcPct val="150000"/>
              </a:lnSpc>
              <a:buNone/>
            </a:pPr>
            <a:r>
              <a:rPr lang="en-US" sz="950" dirty="0">
                <a:solidFill>
                  <a:srgbClr val="333333"/>
                </a:solidFill>
                <a:latin typeface="Yu Gothic" pitchFamily="34" charset="0"/>
                <a:ea typeface="Yu Gothic" pitchFamily="34" charset="-122"/>
                <a:cs typeface="Yu Gothic" pitchFamily="34" charset="-120"/>
              </a:rPr>
              <a:t>「聴く・引き出す・まとめる」の3つの対話技術を実践。</a:t>
            </a:r>
            <a:endParaRPr lang="en-US" sz="950" dirty="0"/>
          </a:p>
        </p:txBody>
      </p:sp>
      <p:sp>
        <p:nvSpPr>
          <p:cNvPr id="21" name="Shape 17"/>
          <p:cNvSpPr/>
          <p:nvPr/>
        </p:nvSpPr>
        <p:spPr>
          <a:xfrm>
            <a:off x="6126480" y="914400"/>
            <a:ext cx="2606040" cy="3474720"/>
          </a:xfrm>
          <a:prstGeom prst="rect">
            <a:avLst/>
          </a:prstGeom>
          <a:solidFill>
            <a:srgbClr val="FFFFFF"/>
          </a:solidFill>
          <a:ln w="6350">
            <a:solidFill>
              <a:srgbClr val="EEEEEE"/>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22" name="Shape 18"/>
          <p:cNvSpPr/>
          <p:nvPr/>
        </p:nvSpPr>
        <p:spPr>
          <a:xfrm>
            <a:off x="6126480" y="914400"/>
            <a:ext cx="2606040" cy="54864"/>
          </a:xfrm>
          <a:prstGeom prst="rect">
            <a:avLst/>
          </a:prstGeom>
          <a:solidFill>
            <a:srgbClr val="8C2029"/>
          </a:solidFill>
          <a:ln/>
        </p:spPr>
        <p:txBody>
          <a:bodyPr/>
          <a:lstStyle/>
          <a:p>
            <a:endParaRPr lang="ja-JP" altLang="en-US"/>
          </a:p>
        </p:txBody>
      </p:sp>
      <p:sp>
        <p:nvSpPr>
          <p:cNvPr id="23" name="Shape 19"/>
          <p:cNvSpPr/>
          <p:nvPr/>
        </p:nvSpPr>
        <p:spPr>
          <a:xfrm>
            <a:off x="7086600" y="1143000"/>
            <a:ext cx="640080" cy="640080"/>
          </a:xfrm>
          <a:prstGeom prst="ellipse">
            <a:avLst/>
          </a:prstGeom>
          <a:solidFill>
            <a:srgbClr val="8C2029"/>
          </a:solidFill>
          <a:ln/>
        </p:spPr>
        <p:txBody>
          <a:bodyPr/>
          <a:lstStyle/>
          <a:p>
            <a:endParaRPr lang="ja-JP" altLang="en-US"/>
          </a:p>
        </p:txBody>
      </p:sp>
      <p:sp>
        <p:nvSpPr>
          <p:cNvPr id="24" name="Text 20"/>
          <p:cNvSpPr/>
          <p:nvPr/>
        </p:nvSpPr>
        <p:spPr>
          <a:xfrm>
            <a:off x="7086600" y="1143000"/>
            <a:ext cx="640080" cy="64008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03</a:t>
            </a:r>
            <a:endParaRPr lang="en-US" sz="1800" dirty="0"/>
          </a:p>
        </p:txBody>
      </p:sp>
      <p:pic>
        <p:nvPicPr>
          <p:cNvPr id="25" name="Image 2" descr="preencoded.png"/>
          <p:cNvPicPr>
            <a:picLocks noChangeAspect="1"/>
          </p:cNvPicPr>
          <p:nvPr/>
        </p:nvPicPr>
        <p:blipFill>
          <a:blip r:embed="rId5"/>
          <a:stretch>
            <a:fillRect/>
          </a:stretch>
        </p:blipFill>
        <p:spPr>
          <a:xfrm>
            <a:off x="7178040" y="1874520"/>
            <a:ext cx="457200" cy="457200"/>
          </a:xfrm>
          <a:prstGeom prst="rect">
            <a:avLst/>
          </a:prstGeom>
        </p:spPr>
      </p:pic>
      <p:sp>
        <p:nvSpPr>
          <p:cNvPr id="26" name="Text 21"/>
          <p:cNvSpPr/>
          <p:nvPr/>
        </p:nvSpPr>
        <p:spPr>
          <a:xfrm>
            <a:off x="6263640" y="2377440"/>
            <a:ext cx="2331720" cy="365760"/>
          </a:xfrm>
          <a:prstGeom prst="rect">
            <a:avLst/>
          </a:prstGeom>
          <a:noFill/>
          <a:ln/>
        </p:spPr>
        <p:txBody>
          <a:bodyPr wrap="square" lIns="0" tIns="0" rIns="0" bIns="0" rtlCol="0" anchor="ctr"/>
          <a:lstStyle/>
          <a:p>
            <a:pPr marL="0" indent="0" algn="ctr">
              <a:buNone/>
            </a:pPr>
            <a:r>
              <a:rPr lang="en-US" sz="1400" b="1" dirty="0">
                <a:solidFill>
                  <a:srgbClr val="8C2029"/>
                </a:solidFill>
                <a:latin typeface="Yu Gothic" pitchFamily="34" charset="0"/>
                <a:ea typeface="Yu Gothic" pitchFamily="34" charset="-122"/>
                <a:cs typeface="Yu Gothic" pitchFamily="34" charset="-120"/>
              </a:rPr>
              <a:t>思考の変革</a:t>
            </a:r>
            <a:endParaRPr lang="en-US" sz="1400" dirty="0"/>
          </a:p>
        </p:txBody>
      </p:sp>
      <p:sp>
        <p:nvSpPr>
          <p:cNvPr id="27" name="Text 22"/>
          <p:cNvSpPr/>
          <p:nvPr/>
        </p:nvSpPr>
        <p:spPr>
          <a:xfrm>
            <a:off x="6309360" y="2788920"/>
            <a:ext cx="2240280" cy="1463040"/>
          </a:xfrm>
          <a:prstGeom prst="rect">
            <a:avLst/>
          </a:prstGeom>
          <a:noFill/>
          <a:ln/>
        </p:spPr>
        <p:txBody>
          <a:bodyPr wrap="square" lIns="0" tIns="0" rIns="0" bIns="0" rtlCol="0" anchor="ctr"/>
          <a:lstStyle/>
          <a:p>
            <a:pPr marL="0" indent="0">
              <a:lnSpc>
                <a:spcPct val="150000"/>
              </a:lnSpc>
              <a:buNone/>
            </a:pPr>
            <a:r>
              <a:rPr lang="en-US" sz="950" dirty="0">
                <a:solidFill>
                  <a:srgbClr val="333333"/>
                </a:solidFill>
                <a:latin typeface="Yu Gothic" pitchFamily="34" charset="0"/>
                <a:ea typeface="Yu Gothic" pitchFamily="34" charset="-122"/>
                <a:cs typeface="Yu Gothic" pitchFamily="34" charset="-120"/>
              </a:rPr>
              <a:t>問題を構造的に捉え、戦略的に解決策を立案できる。</a:t>
            </a:r>
            <a:endParaRPr lang="en-US" sz="950" dirty="0"/>
          </a:p>
          <a:p>
            <a:pPr marL="0" indent="0">
              <a:lnSpc>
                <a:spcPct val="150000"/>
              </a:lnSpc>
              <a:buNone/>
            </a:pPr>
            <a:r>
              <a:rPr lang="en-US" sz="950" dirty="0">
                <a:solidFill>
                  <a:srgbClr val="333333"/>
                </a:solidFill>
                <a:latin typeface="Yu Gothic" pitchFamily="34" charset="0"/>
                <a:ea typeface="Yu Gothic" pitchFamily="34" charset="-122"/>
                <a:cs typeface="Yu Gothic" pitchFamily="34" charset="-120"/>
              </a:rPr>
              <a:t>経営者目線で自部門の課題を俯瞰し、</a:t>
            </a:r>
            <a:endParaRPr lang="en-US" sz="950" dirty="0"/>
          </a:p>
          <a:p>
            <a:pPr marL="0" indent="0">
              <a:lnSpc>
                <a:spcPct val="150000"/>
              </a:lnSpc>
              <a:buNone/>
            </a:pPr>
            <a:r>
              <a:rPr lang="en-US" sz="950" dirty="0">
                <a:solidFill>
                  <a:srgbClr val="333333"/>
                </a:solidFill>
                <a:latin typeface="Yu Gothic" pitchFamily="34" charset="0"/>
                <a:ea typeface="Yu Gothic" pitchFamily="34" charset="-122"/>
                <a:cs typeface="Yu Gothic" pitchFamily="34" charset="-120"/>
              </a:rPr>
              <a:t>具体的なアクションプランを描ける。</a:t>
            </a:r>
            <a:endParaRPr lang="en-US" sz="950" dirty="0"/>
          </a:p>
        </p:txBody>
      </p:sp>
      <p:sp>
        <p:nvSpPr>
          <p:cNvPr id="28" name="Text 2">
            <a:extLst>
              <a:ext uri="{FF2B5EF4-FFF2-40B4-BE49-F238E27FC236}">
                <a16:creationId xmlns:a16="http://schemas.microsoft.com/office/drawing/2014/main" id="{B554932D-9761-484B-2502-554C441EF661}"/>
              </a:ext>
            </a:extLst>
          </p:cNvPr>
          <p:cNvSpPr/>
          <p:nvPr/>
        </p:nvSpPr>
        <p:spPr>
          <a:xfrm>
            <a:off x="5943600" y="4800600"/>
            <a:ext cx="2926080" cy="274320"/>
          </a:xfrm>
          <a:prstGeom prst="rect">
            <a:avLst/>
          </a:prstGeom>
          <a:noFill/>
          <a:ln/>
        </p:spPr>
        <p:txBody>
          <a:bodyPr wrap="square"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grpSp>
        <p:nvGrpSpPr>
          <p:cNvPr id="29" name="グループ化 11">
            <a:extLst>
              <a:ext uri="{FF2B5EF4-FFF2-40B4-BE49-F238E27FC236}">
                <a16:creationId xmlns:a16="http://schemas.microsoft.com/office/drawing/2014/main" id="{4C7EF447-F72B-C3C0-35BB-E0162DDD085F}"/>
              </a:ext>
            </a:extLst>
          </p:cNvPr>
          <p:cNvGrpSpPr>
            <a:grpSpLocks/>
          </p:cNvGrpSpPr>
          <p:nvPr/>
        </p:nvGrpSpPr>
        <p:grpSpPr bwMode="auto">
          <a:xfrm>
            <a:off x="7529692" y="186460"/>
            <a:ext cx="1116012" cy="217488"/>
            <a:chOff x="0" y="0"/>
            <a:chExt cx="3462373" cy="671728"/>
          </a:xfrm>
        </p:grpSpPr>
        <p:pic>
          <p:nvPicPr>
            <p:cNvPr id="30" name="図 2">
              <a:extLst>
                <a:ext uri="{FF2B5EF4-FFF2-40B4-BE49-F238E27FC236}">
                  <a16:creationId xmlns:a16="http://schemas.microsoft.com/office/drawing/2014/main" id="{AA13827E-C380-BD35-8FDB-CC8F1DAF3B6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62580" y="160437"/>
              <a:ext cx="2699793" cy="35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図 3">
              <a:extLst>
                <a:ext uri="{FF2B5EF4-FFF2-40B4-BE49-F238E27FC236}">
                  <a16:creationId xmlns:a16="http://schemas.microsoft.com/office/drawing/2014/main" id="{30843681-46A1-4C47-1BF7-3C85A8C6E2B7}"/>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671728" cy="67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 name="Shape 4">
            <a:extLst>
              <a:ext uri="{FF2B5EF4-FFF2-40B4-BE49-F238E27FC236}">
                <a16:creationId xmlns:a16="http://schemas.microsoft.com/office/drawing/2014/main" id="{DE52D20F-9C2A-3E2C-7F52-D89714479755}"/>
              </a:ext>
            </a:extLst>
          </p:cNvPr>
          <p:cNvSpPr/>
          <p:nvPr/>
        </p:nvSpPr>
        <p:spPr>
          <a:xfrm flipV="1">
            <a:off x="457200" y="612649"/>
            <a:ext cx="775699" cy="45719"/>
          </a:xfrm>
          <a:prstGeom prst="rect">
            <a:avLst/>
          </a:prstGeom>
          <a:solidFill>
            <a:srgbClr val="8C2029"/>
          </a:solidFill>
          <a:ln/>
        </p:spPr>
        <p:txBody>
          <a:bodyPr/>
          <a:lstStyle/>
          <a:p>
            <a:endParaRPr lang="ja-JP"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hape 1"/>
          <p:cNvSpPr/>
          <p:nvPr/>
        </p:nvSpPr>
        <p:spPr>
          <a:xfrm>
            <a:off x="274320" y="4754880"/>
            <a:ext cx="8595360" cy="0"/>
          </a:xfrm>
          <a:prstGeom prst="line">
            <a:avLst/>
          </a:prstGeom>
          <a:noFill/>
          <a:ln w="12700">
            <a:solidFill>
              <a:srgbClr val="8C2029"/>
            </a:solidFill>
            <a:prstDash val="dash"/>
          </a:ln>
        </p:spPr>
        <p:txBody>
          <a:bodyPr/>
          <a:lstStyle/>
          <a:p>
            <a:endParaRPr lang="ja-JP" altLang="en-US"/>
          </a:p>
        </p:txBody>
      </p:sp>
      <p:sp>
        <p:nvSpPr>
          <p:cNvPr id="5" name="Text 3"/>
          <p:cNvSpPr/>
          <p:nvPr/>
        </p:nvSpPr>
        <p:spPr>
          <a:xfrm>
            <a:off x="457200" y="182880"/>
            <a:ext cx="5943600" cy="457200"/>
          </a:xfrm>
          <a:prstGeom prst="rect">
            <a:avLst/>
          </a:prstGeom>
          <a:noFill/>
          <a:ln/>
        </p:spPr>
        <p:txBody>
          <a:bodyPr wrap="square" lIns="0" tIns="0" rIns="0" bIns="0" rtlCol="0" anchor="ctr"/>
          <a:lstStyle/>
          <a:p>
            <a:pPr marL="0" indent="0">
              <a:buNone/>
            </a:pPr>
            <a:r>
              <a:rPr lang="en-US" sz="2200" b="1" dirty="0">
                <a:solidFill>
                  <a:srgbClr val="333333"/>
                </a:solidFill>
                <a:latin typeface="Yu Gothic" pitchFamily="34" charset="0"/>
                <a:ea typeface="Yu Gothic" pitchFamily="34" charset="-122"/>
                <a:cs typeface="Yu Gothic" pitchFamily="34" charset="-120"/>
              </a:rPr>
              <a:t>研修成功の鍵：「上司との連動」</a:t>
            </a:r>
            <a:endParaRPr lang="en-US" sz="2200" dirty="0"/>
          </a:p>
        </p:txBody>
      </p:sp>
      <p:sp>
        <p:nvSpPr>
          <p:cNvPr id="7" name="Shape 5"/>
          <p:cNvSpPr/>
          <p:nvPr/>
        </p:nvSpPr>
        <p:spPr>
          <a:xfrm>
            <a:off x="457200" y="868680"/>
            <a:ext cx="8229600" cy="594360"/>
          </a:xfrm>
          <a:prstGeom prst="rect">
            <a:avLst/>
          </a:prstGeom>
          <a:solidFill>
            <a:srgbClr val="FFF8E1"/>
          </a:solidFill>
          <a:ln w="12700">
            <a:solidFill>
              <a:srgbClr val="D4A017"/>
            </a:solidFill>
            <a:prstDash val="solid"/>
          </a:ln>
        </p:spPr>
        <p:txBody>
          <a:bodyPr/>
          <a:lstStyle/>
          <a:p>
            <a:endParaRPr lang="ja-JP" altLang="en-US"/>
          </a:p>
        </p:txBody>
      </p:sp>
      <p:pic>
        <p:nvPicPr>
          <p:cNvPr id="8" name="Image 0" descr="preencoded.png"/>
          <p:cNvPicPr>
            <a:picLocks noChangeAspect="1"/>
          </p:cNvPicPr>
          <p:nvPr/>
        </p:nvPicPr>
        <p:blipFill>
          <a:blip r:embed="rId3"/>
          <a:stretch>
            <a:fillRect/>
          </a:stretch>
        </p:blipFill>
        <p:spPr>
          <a:xfrm>
            <a:off x="594360" y="960120"/>
            <a:ext cx="320040" cy="320040"/>
          </a:xfrm>
          <a:prstGeom prst="rect">
            <a:avLst/>
          </a:prstGeom>
        </p:spPr>
      </p:pic>
      <p:sp>
        <p:nvSpPr>
          <p:cNvPr id="9" name="Text 6"/>
          <p:cNvSpPr/>
          <p:nvPr/>
        </p:nvSpPr>
        <p:spPr>
          <a:xfrm>
            <a:off x="1005840" y="868680"/>
            <a:ext cx="7498080" cy="594360"/>
          </a:xfrm>
          <a:prstGeom prst="rect">
            <a:avLst/>
          </a:prstGeom>
          <a:noFill/>
          <a:ln/>
        </p:spPr>
        <p:txBody>
          <a:bodyPr wrap="square" lIns="0" tIns="0" rIns="0" bIns="0" rtlCol="0" anchor="ctr"/>
          <a:lstStyle/>
          <a:p>
            <a:pPr marL="0" indent="0">
              <a:buNone/>
            </a:pPr>
            <a:r>
              <a:rPr lang="en-US" sz="1100" dirty="0">
                <a:solidFill>
                  <a:srgbClr val="7A5B00"/>
                </a:solidFill>
                <a:latin typeface="Yu Gothic" pitchFamily="34" charset="0"/>
                <a:ea typeface="Yu Gothic" pitchFamily="34" charset="-122"/>
                <a:cs typeface="Yu Gothic" pitchFamily="34" charset="-120"/>
              </a:rPr>
              <a:t>研修だけで管理職は育ちません。学んだことを職場で実践し、上司からFBを受けるサイクルが回って初めて本質的な行動変容が起こります。キーとなる上司がコーディネーターとして研修に参加していただくとより効果的です。</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2906808885"/>
              </p:ext>
            </p:extLst>
          </p:nvPr>
        </p:nvGraphicFramePr>
        <p:xfrm>
          <a:off x="457200" y="1645920"/>
          <a:ext cx="8229600" cy="2514600"/>
        </p:xfrm>
        <a:graphic>
          <a:graphicData uri="http://schemas.openxmlformats.org/drawingml/2006/table">
            <a:tbl>
              <a:tblPr/>
              <a:tblGrid>
                <a:gridCol w="13716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20040">
                <a:tc>
                  <a:txBody>
                    <a:bodyPr/>
                    <a:lstStyle/>
                    <a:p>
                      <a:pPr marL="0" indent="0" algn="ctr">
                        <a:buNone/>
                      </a:pPr>
                      <a:r>
                        <a:rPr lang="en-US" sz="1000" b="1" dirty="0">
                          <a:solidFill>
                            <a:srgbClr val="FFFFFF"/>
                          </a:solidFill>
                          <a:latin typeface="Yu Gothic" pitchFamily="34" charset="0"/>
                          <a:ea typeface="Yu Gothic" pitchFamily="34" charset="-122"/>
                          <a:cs typeface="Yu Gothic" pitchFamily="34" charset="-120"/>
                        </a:rPr>
                        <a:t>タイミング</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8C2029"/>
                    </a:solidFill>
                  </a:tcPr>
                </a:tc>
                <a:tc>
                  <a:txBody>
                    <a:bodyPr/>
                    <a:lstStyle/>
                    <a:p>
                      <a:pPr marL="0" indent="0">
                        <a:buNone/>
                      </a:pPr>
                      <a:r>
                        <a:rPr lang="en-US" sz="1000" b="1" dirty="0">
                          <a:solidFill>
                            <a:srgbClr val="FFFFFF"/>
                          </a:solidFill>
                          <a:latin typeface="Yu Gothic" pitchFamily="34" charset="0"/>
                          <a:ea typeface="Yu Gothic" pitchFamily="34" charset="-122"/>
                          <a:cs typeface="Yu Gothic" pitchFamily="34" charset="-120"/>
                        </a:rPr>
                        <a:t>上司の関わり方</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8C2029"/>
                    </a:solidFill>
                  </a:tcPr>
                </a:tc>
                <a:tc>
                  <a:txBody>
                    <a:bodyPr/>
                    <a:lstStyle/>
                    <a:p>
                      <a:pPr marL="0" indent="0">
                        <a:buNone/>
                      </a:pPr>
                      <a:r>
                        <a:rPr lang="en-US" sz="1000" b="1" dirty="0">
                          <a:solidFill>
                            <a:srgbClr val="FFFFFF"/>
                          </a:solidFill>
                          <a:latin typeface="Yu Gothic" pitchFamily="34" charset="0"/>
                          <a:ea typeface="Yu Gothic" pitchFamily="34" charset="-122"/>
                          <a:cs typeface="Yu Gothic" pitchFamily="34" charset="-120"/>
                        </a:rPr>
                        <a:t>期待される効果</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8C2029"/>
                    </a:solidFill>
                  </a:tcPr>
                </a:tc>
                <a:extLst>
                  <a:ext uri="{0D108BD9-81ED-4DB2-BD59-A6C34878D82A}">
                    <a16:rowId xmlns:a16="http://schemas.microsoft.com/office/drawing/2014/main" val="10000"/>
                  </a:ext>
                </a:extLst>
              </a:tr>
              <a:tr h="548640">
                <a:tc>
                  <a:txBody>
                    <a:bodyPr/>
                    <a:lstStyle/>
                    <a:p>
                      <a:pPr marL="0" indent="0">
                        <a:buNone/>
                      </a:pPr>
                      <a:r>
                        <a:rPr lang="en-US" sz="1000" b="1" dirty="0">
                          <a:solidFill>
                            <a:srgbClr val="000000"/>
                          </a:solidFill>
                          <a:latin typeface="Yu Gothic" pitchFamily="34" charset="0"/>
                          <a:ea typeface="Yu Gothic" pitchFamily="34" charset="-122"/>
                          <a:cs typeface="Yu Gothic" pitchFamily="34" charset="-120"/>
                        </a:rPr>
                        <a:t>研修前</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8"/>
                    </a:solidFill>
                  </a:tcPr>
                </a:tc>
                <a:tc>
                  <a:txBody>
                    <a:bodyPr/>
                    <a:lstStyle/>
                    <a:p>
                      <a:pPr marL="0" indent="0">
                        <a:buNone/>
                      </a:pPr>
                      <a:r>
                        <a:rPr lang="en-US" sz="950" dirty="0">
                          <a:solidFill>
                            <a:srgbClr val="000000"/>
                          </a:solidFill>
                          <a:latin typeface="Yu Gothic" pitchFamily="34" charset="0"/>
                          <a:ea typeface="Yu Gothic" pitchFamily="34" charset="-122"/>
                          <a:cs typeface="Yu Gothic" pitchFamily="34" charset="-120"/>
                        </a:rPr>
                        <a:t>受講生との面談（15分）</a:t>
                      </a:r>
                      <a:endParaRPr lang="en-US" sz="950" dirty="0">
                        <a:latin typeface="Yu Gothic" charset="0"/>
                        <a:ea typeface="Yu Gothic" charset="0"/>
                        <a:cs typeface="Yu Gothic" charset="0"/>
                      </a:endParaRPr>
                    </a:p>
                    <a:p>
                      <a:pPr marL="0" indent="0">
                        <a:buNone/>
                      </a:pPr>
                      <a:r>
                        <a:rPr lang="en-US" sz="950" dirty="0">
                          <a:solidFill>
                            <a:srgbClr val="000000"/>
                          </a:solidFill>
                          <a:latin typeface="Yu Gothic" pitchFamily="34" charset="0"/>
                          <a:ea typeface="Yu Gothic" pitchFamily="34" charset="-122"/>
                          <a:cs typeface="Yu Gothic" pitchFamily="34" charset="-120"/>
                        </a:rPr>
                        <a:t>研修テーマの事前共有・職場課題の確認</a:t>
                      </a:r>
                      <a:endParaRPr lang="en-US" sz="95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8"/>
                    </a:solidFill>
                  </a:tcPr>
                </a:tc>
                <a:tc>
                  <a:txBody>
                    <a:bodyPr/>
                    <a:lstStyle/>
                    <a:p>
                      <a:pPr marL="0" indent="0">
                        <a:buNone/>
                      </a:pPr>
                      <a:r>
                        <a:rPr lang="en-US" sz="950" dirty="0">
                          <a:solidFill>
                            <a:srgbClr val="000000"/>
                          </a:solidFill>
                          <a:latin typeface="Yu Gothic" pitchFamily="34" charset="0"/>
                          <a:ea typeface="Yu Gothic" pitchFamily="34" charset="-122"/>
                          <a:cs typeface="Yu Gothic" pitchFamily="34" charset="-120"/>
                        </a:rPr>
                        <a:t>課題意識が明確になる</a:t>
                      </a:r>
                      <a:endParaRPr lang="en-US" sz="950" dirty="0">
                        <a:latin typeface="Yu Gothic" charset="0"/>
                        <a:ea typeface="Yu Gothic" charset="0"/>
                        <a:cs typeface="Yu Gothic" charset="0"/>
                      </a:endParaRPr>
                    </a:p>
                    <a:p>
                      <a:pPr marL="0" indent="0">
                        <a:buNone/>
                      </a:pPr>
                      <a:r>
                        <a:rPr lang="en-US" sz="950" dirty="0">
                          <a:solidFill>
                            <a:srgbClr val="000000"/>
                          </a:solidFill>
                          <a:latin typeface="Yu Gothic" pitchFamily="34" charset="0"/>
                          <a:ea typeface="Yu Gothic" pitchFamily="34" charset="-122"/>
                          <a:cs typeface="Yu Gothic" pitchFamily="34" charset="-120"/>
                        </a:rPr>
                        <a:t>上司の期待が伝わる</a:t>
                      </a:r>
                      <a:endParaRPr lang="en-US" sz="95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8"/>
                    </a:solidFill>
                  </a:tcPr>
                </a:tc>
                <a:extLst>
                  <a:ext uri="{0D108BD9-81ED-4DB2-BD59-A6C34878D82A}">
                    <a16:rowId xmlns:a16="http://schemas.microsoft.com/office/drawing/2014/main" val="10001"/>
                  </a:ext>
                </a:extLst>
              </a:tr>
              <a:tr h="548640">
                <a:tc>
                  <a:txBody>
                    <a:bodyPr/>
                    <a:lstStyle/>
                    <a:p>
                      <a:pPr marL="0" indent="0">
                        <a:buNone/>
                      </a:pPr>
                      <a:r>
                        <a:rPr lang="en-US" sz="1000" b="1" dirty="0">
                          <a:solidFill>
                            <a:srgbClr val="000000"/>
                          </a:solidFill>
                          <a:latin typeface="Yu Gothic" pitchFamily="34" charset="0"/>
                          <a:ea typeface="Yu Gothic" pitchFamily="34" charset="-122"/>
                          <a:cs typeface="Yu Gothic" pitchFamily="34" charset="-120"/>
                        </a:rPr>
                        <a:t>研修後</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Yu Gothic" pitchFamily="34" charset="0"/>
                          <a:ea typeface="Yu Gothic" pitchFamily="34" charset="-122"/>
                          <a:cs typeface="Yu Gothic" pitchFamily="34" charset="-120"/>
                        </a:rPr>
                        <a:t>学び共有シートの確認（10分）</a:t>
                      </a:r>
                      <a:endParaRPr lang="en-US" sz="950" dirty="0">
                        <a:latin typeface="Yu Gothic" charset="0"/>
                        <a:ea typeface="Yu Gothic" charset="0"/>
                        <a:cs typeface="Yu Gothic" charset="0"/>
                      </a:endParaRPr>
                    </a:p>
                    <a:p>
                      <a:pPr marL="0" indent="0">
                        <a:buNone/>
                      </a:pPr>
                      <a:r>
                        <a:rPr lang="en-US" sz="950" dirty="0">
                          <a:solidFill>
                            <a:srgbClr val="000000"/>
                          </a:solidFill>
                          <a:latin typeface="Yu Gothic" pitchFamily="34" charset="0"/>
                          <a:ea typeface="Yu Gothic" pitchFamily="34" charset="-122"/>
                          <a:cs typeface="Yu Gothic" pitchFamily="34" charset="-120"/>
                        </a:rPr>
                        <a:t>受講生が学んだ内容と実践計画を報告</a:t>
                      </a:r>
                      <a:endParaRPr lang="en-US" sz="95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Yu Gothic" pitchFamily="34" charset="0"/>
                          <a:ea typeface="Yu Gothic" pitchFamily="34" charset="-122"/>
                          <a:cs typeface="Yu Gothic" pitchFamily="34" charset="-120"/>
                        </a:rPr>
                        <a:t>学びの定着が促進される</a:t>
                      </a:r>
                      <a:endParaRPr lang="en-US" sz="950" dirty="0">
                        <a:latin typeface="Yu Gothic" charset="0"/>
                        <a:ea typeface="Yu Gothic" charset="0"/>
                        <a:cs typeface="Yu Gothic" charset="0"/>
                      </a:endParaRPr>
                    </a:p>
                    <a:p>
                      <a:pPr marL="0" indent="0">
                        <a:buNone/>
                      </a:pPr>
                      <a:r>
                        <a:rPr lang="en-US" sz="950" dirty="0">
                          <a:solidFill>
                            <a:srgbClr val="000000"/>
                          </a:solidFill>
                          <a:latin typeface="Yu Gothic" pitchFamily="34" charset="0"/>
                          <a:ea typeface="Yu Gothic" pitchFamily="34" charset="-122"/>
                          <a:cs typeface="Yu Gothic" pitchFamily="34" charset="-120"/>
                        </a:rPr>
                        <a:t>実践への後押しになる</a:t>
                      </a:r>
                      <a:endParaRPr lang="en-US" sz="95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000" b="1" dirty="0">
                          <a:solidFill>
                            <a:srgbClr val="000000"/>
                          </a:solidFill>
                          <a:latin typeface="Yu Gothic" pitchFamily="34" charset="0"/>
                          <a:ea typeface="Yu Gothic" pitchFamily="34" charset="-122"/>
                          <a:cs typeface="Yu Gothic" pitchFamily="34" charset="-120"/>
                        </a:rPr>
                        <a:t>実践期間</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8"/>
                    </a:solidFill>
                  </a:tcPr>
                </a:tc>
                <a:tc>
                  <a:txBody>
                    <a:bodyPr/>
                    <a:lstStyle/>
                    <a:p>
                      <a:pPr marL="0" indent="0">
                        <a:buNone/>
                      </a:pPr>
                      <a:r>
                        <a:rPr lang="en-US" sz="950" dirty="0">
                          <a:solidFill>
                            <a:srgbClr val="000000"/>
                          </a:solidFill>
                          <a:latin typeface="Yu Gothic" pitchFamily="34" charset="0"/>
                          <a:ea typeface="Yu Gothic" pitchFamily="34" charset="-122"/>
                          <a:cs typeface="Yu Gothic" pitchFamily="34" charset="-120"/>
                        </a:rPr>
                        <a:t>実践のオブザーブ＆フィードバック</a:t>
                      </a:r>
                      <a:endParaRPr lang="en-US" sz="950" dirty="0">
                        <a:latin typeface="Yu Gothic" charset="0"/>
                        <a:ea typeface="Yu Gothic" charset="0"/>
                        <a:cs typeface="Yu Gothic" charset="0"/>
                      </a:endParaRPr>
                    </a:p>
                    <a:p>
                      <a:pPr marL="0" indent="0">
                        <a:buNone/>
                      </a:pPr>
                      <a:r>
                        <a:rPr lang="en-US" sz="950" dirty="0">
                          <a:solidFill>
                            <a:srgbClr val="000000"/>
                          </a:solidFill>
                          <a:latin typeface="Yu Gothic" pitchFamily="34" charset="0"/>
                          <a:ea typeface="Yu Gothic" pitchFamily="34" charset="-122"/>
                          <a:cs typeface="Yu Gothic" pitchFamily="34" charset="-120"/>
                        </a:rPr>
                        <a:t>受講生の行動変化を観察し、声をかける</a:t>
                      </a:r>
                      <a:endParaRPr lang="en-US" sz="95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8"/>
                    </a:solidFill>
                  </a:tcPr>
                </a:tc>
                <a:tc>
                  <a:txBody>
                    <a:bodyPr/>
                    <a:lstStyle/>
                    <a:p>
                      <a:pPr marL="0" indent="0">
                        <a:buNone/>
                      </a:pPr>
                      <a:r>
                        <a:rPr lang="en-US" sz="950" dirty="0">
                          <a:solidFill>
                            <a:srgbClr val="000000"/>
                          </a:solidFill>
                          <a:latin typeface="Yu Gothic" pitchFamily="34" charset="0"/>
                          <a:ea typeface="Yu Gothic" pitchFamily="34" charset="-122"/>
                          <a:cs typeface="Yu Gothic" pitchFamily="34" charset="-120"/>
                        </a:rPr>
                        <a:t>行動変容が加速する</a:t>
                      </a:r>
                      <a:endParaRPr lang="en-US" sz="950" dirty="0">
                        <a:latin typeface="Yu Gothic" charset="0"/>
                        <a:ea typeface="Yu Gothic" charset="0"/>
                        <a:cs typeface="Yu Gothic" charset="0"/>
                      </a:endParaRPr>
                    </a:p>
                    <a:p>
                      <a:pPr marL="0" indent="0">
                        <a:buNone/>
                      </a:pPr>
                      <a:r>
                        <a:rPr lang="en-US" altLang="ja-JP" sz="950" dirty="0" err="1">
                          <a:solidFill>
                            <a:srgbClr val="000000"/>
                          </a:solidFill>
                          <a:latin typeface="Yu Gothic" pitchFamily="34" charset="0"/>
                          <a:ea typeface="Yu Gothic" pitchFamily="34" charset="-122"/>
                          <a:cs typeface="Yu Gothic" pitchFamily="34" charset="-120"/>
                        </a:rPr>
                        <a:t>フィードバック</a:t>
                      </a:r>
                      <a:r>
                        <a:rPr lang="en-US" sz="950" dirty="0" err="1">
                          <a:solidFill>
                            <a:srgbClr val="000000"/>
                          </a:solidFill>
                          <a:latin typeface="Yu Gothic" pitchFamily="34" charset="0"/>
                          <a:ea typeface="Yu Gothic" pitchFamily="34" charset="-122"/>
                          <a:cs typeface="Yu Gothic" pitchFamily="34" charset="-120"/>
                        </a:rPr>
                        <a:t>文化が根づく</a:t>
                      </a:r>
                      <a:endParaRPr lang="en-US" sz="95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8"/>
                    </a:solidFill>
                  </a:tcPr>
                </a:tc>
                <a:extLst>
                  <a:ext uri="{0D108BD9-81ED-4DB2-BD59-A6C34878D82A}">
                    <a16:rowId xmlns:a16="http://schemas.microsoft.com/office/drawing/2014/main" val="10003"/>
                  </a:ext>
                </a:extLst>
              </a:tr>
              <a:tr h="548640">
                <a:tc>
                  <a:txBody>
                    <a:bodyPr/>
                    <a:lstStyle/>
                    <a:p>
                      <a:pPr marL="0" indent="0">
                        <a:buNone/>
                      </a:pPr>
                      <a:r>
                        <a:rPr lang="en-US" sz="1000" b="1" dirty="0">
                          <a:solidFill>
                            <a:srgbClr val="000000"/>
                          </a:solidFill>
                          <a:latin typeface="Yu Gothic" pitchFamily="34" charset="0"/>
                          <a:ea typeface="Yu Gothic" pitchFamily="34" charset="-122"/>
                          <a:cs typeface="Yu Gothic" pitchFamily="34" charset="-120"/>
                        </a:rPr>
                        <a:t>中間・最終</a:t>
                      </a:r>
                      <a:endParaRPr lang="en-US" sz="1000" dirty="0">
                        <a:latin typeface="Yu Gothic" charset="0"/>
                        <a:ea typeface="Yu Gothic" charset="0"/>
                        <a:cs typeface="Yu Gothic" charset="0"/>
                      </a:endParaRPr>
                    </a:p>
                    <a:p>
                      <a:pPr marL="0" indent="0">
                        <a:buNone/>
                      </a:pPr>
                      <a:r>
                        <a:rPr lang="en-US" sz="1000" b="1" dirty="0">
                          <a:solidFill>
                            <a:srgbClr val="000000"/>
                          </a:solidFill>
                          <a:latin typeface="Yu Gothic" pitchFamily="34" charset="0"/>
                          <a:ea typeface="Yu Gothic" pitchFamily="34" charset="-122"/>
                          <a:cs typeface="Yu Gothic" pitchFamily="34" charset="-120"/>
                        </a:rPr>
                        <a:t>報告会</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latin typeface="Yu Gothic" pitchFamily="34" charset="0"/>
                          <a:ea typeface="Yu Gothic" pitchFamily="34" charset="-122"/>
                          <a:cs typeface="Yu Gothic" pitchFamily="34" charset="-120"/>
                        </a:rPr>
                        <a:t>報告会への出席＆コメント【強く推奨】</a:t>
                      </a:r>
                      <a:endParaRPr lang="en-US" sz="950" dirty="0">
                        <a:latin typeface="Yu Gothic" charset="0"/>
                        <a:ea typeface="Yu Gothic" charset="0"/>
                        <a:cs typeface="Yu Gothic" charset="0"/>
                      </a:endParaRPr>
                    </a:p>
                    <a:p>
                      <a:pPr marL="0" indent="0">
                        <a:buNone/>
                      </a:pPr>
                      <a:r>
                        <a:rPr lang="en-US" sz="950" dirty="0">
                          <a:solidFill>
                            <a:srgbClr val="000000"/>
                          </a:solidFill>
                          <a:latin typeface="Yu Gothic" pitchFamily="34" charset="0"/>
                          <a:ea typeface="Yu Gothic" pitchFamily="34" charset="-122"/>
                          <a:cs typeface="Yu Gothic" pitchFamily="34" charset="-120"/>
                        </a:rPr>
                        <a:t>受講生への評価・今後の期待を表明</a:t>
                      </a:r>
                      <a:endParaRPr lang="en-US" sz="95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err="1">
                          <a:solidFill>
                            <a:srgbClr val="000000"/>
                          </a:solidFill>
                          <a:latin typeface="Yu Gothic" pitchFamily="34" charset="0"/>
                          <a:ea typeface="Yu Gothic" pitchFamily="34" charset="-122"/>
                          <a:cs typeface="Yu Gothic" pitchFamily="34" charset="-120"/>
                        </a:rPr>
                        <a:t>公式な</a:t>
                      </a:r>
                      <a:r>
                        <a:rPr lang="en-US" altLang="ja-JP" sz="950" dirty="0" err="1">
                          <a:solidFill>
                            <a:srgbClr val="000000"/>
                          </a:solidFill>
                          <a:latin typeface="Yu Gothic" pitchFamily="34" charset="0"/>
                          <a:ea typeface="Yu Gothic" pitchFamily="34" charset="-122"/>
                          <a:cs typeface="Yu Gothic" pitchFamily="34" charset="-120"/>
                        </a:rPr>
                        <a:t>フィードバック</a:t>
                      </a:r>
                      <a:r>
                        <a:rPr lang="en-US" sz="950" dirty="0" err="1">
                          <a:solidFill>
                            <a:srgbClr val="000000"/>
                          </a:solidFill>
                          <a:latin typeface="Yu Gothic" pitchFamily="34" charset="0"/>
                          <a:ea typeface="Yu Gothic" pitchFamily="34" charset="-122"/>
                          <a:cs typeface="Yu Gothic" pitchFamily="34" charset="-120"/>
                        </a:rPr>
                        <a:t>機会</a:t>
                      </a:r>
                      <a:endParaRPr lang="en-US" sz="950" dirty="0">
                        <a:latin typeface="Yu Gothic" charset="0"/>
                        <a:ea typeface="Yu Gothic" charset="0"/>
                        <a:cs typeface="Yu Gothic" charset="0"/>
                      </a:endParaRPr>
                    </a:p>
                    <a:p>
                      <a:pPr marL="0" indent="0">
                        <a:buNone/>
                      </a:pPr>
                      <a:r>
                        <a:rPr lang="en-US" sz="950" dirty="0">
                          <a:solidFill>
                            <a:srgbClr val="000000"/>
                          </a:solidFill>
                          <a:latin typeface="Yu Gothic" pitchFamily="34" charset="0"/>
                          <a:ea typeface="Yu Gothic" pitchFamily="34" charset="-122"/>
                          <a:cs typeface="Yu Gothic" pitchFamily="34" charset="-120"/>
                        </a:rPr>
                        <a:t>受講生の覚悟が固まる</a:t>
                      </a:r>
                      <a:endParaRPr lang="en-US" sz="95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Shape 7"/>
          <p:cNvSpPr/>
          <p:nvPr/>
        </p:nvSpPr>
        <p:spPr>
          <a:xfrm>
            <a:off x="457200" y="4251960"/>
            <a:ext cx="8229600" cy="365760"/>
          </a:xfrm>
          <a:prstGeom prst="rect">
            <a:avLst/>
          </a:prstGeom>
          <a:solidFill>
            <a:srgbClr val="F2E0E0"/>
          </a:solidFill>
          <a:ln/>
        </p:spPr>
        <p:txBody>
          <a:bodyPr/>
          <a:lstStyle/>
          <a:p>
            <a:endParaRPr lang="ja-JP" altLang="en-US"/>
          </a:p>
        </p:txBody>
      </p:sp>
      <p:sp>
        <p:nvSpPr>
          <p:cNvPr id="12" name="Text 8"/>
          <p:cNvSpPr/>
          <p:nvPr/>
        </p:nvSpPr>
        <p:spPr>
          <a:xfrm>
            <a:off x="548640" y="4251960"/>
            <a:ext cx="8046720" cy="365760"/>
          </a:xfrm>
          <a:prstGeom prst="rect">
            <a:avLst/>
          </a:prstGeom>
          <a:noFill/>
          <a:ln/>
        </p:spPr>
        <p:txBody>
          <a:bodyPr wrap="square" lIns="0" tIns="0" rIns="0" bIns="0" rtlCol="0" anchor="ctr"/>
          <a:lstStyle/>
          <a:p>
            <a:pPr marL="0" indent="0">
              <a:buNone/>
            </a:pPr>
            <a:r>
              <a:rPr lang="en-US" sz="1000" b="1" dirty="0">
                <a:solidFill>
                  <a:srgbClr val="8C2029"/>
                </a:solidFill>
                <a:latin typeface="Yu Gothic" pitchFamily="34" charset="0"/>
                <a:ea typeface="Yu Gothic" pitchFamily="34" charset="-122"/>
                <a:cs typeface="Yu Gothic" pitchFamily="34" charset="-120"/>
              </a:rPr>
              <a:t>ご提案：上司向けオリエンテーション（30分・無料）を研修開始前に実施し、上司の関わり方をご説明いたします。</a:t>
            </a:r>
            <a:endParaRPr lang="en-US" sz="1000" dirty="0"/>
          </a:p>
        </p:txBody>
      </p:sp>
      <p:sp>
        <p:nvSpPr>
          <p:cNvPr id="13" name="Text 2">
            <a:extLst>
              <a:ext uri="{FF2B5EF4-FFF2-40B4-BE49-F238E27FC236}">
                <a16:creationId xmlns:a16="http://schemas.microsoft.com/office/drawing/2014/main" id="{E3F4AFA0-A2D6-76A5-2DC3-5E88BE238981}"/>
              </a:ext>
            </a:extLst>
          </p:cNvPr>
          <p:cNvSpPr/>
          <p:nvPr/>
        </p:nvSpPr>
        <p:spPr>
          <a:xfrm>
            <a:off x="5943600" y="4800600"/>
            <a:ext cx="2926080" cy="274320"/>
          </a:xfrm>
          <a:prstGeom prst="rect">
            <a:avLst/>
          </a:prstGeom>
          <a:noFill/>
          <a:ln/>
        </p:spPr>
        <p:txBody>
          <a:bodyPr wrap="square"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grpSp>
        <p:nvGrpSpPr>
          <p:cNvPr id="14" name="グループ化 11">
            <a:extLst>
              <a:ext uri="{FF2B5EF4-FFF2-40B4-BE49-F238E27FC236}">
                <a16:creationId xmlns:a16="http://schemas.microsoft.com/office/drawing/2014/main" id="{1D735830-6B74-0DE9-6C5E-84412F86BB8C}"/>
              </a:ext>
            </a:extLst>
          </p:cNvPr>
          <p:cNvGrpSpPr>
            <a:grpSpLocks/>
          </p:cNvGrpSpPr>
          <p:nvPr/>
        </p:nvGrpSpPr>
        <p:grpSpPr bwMode="auto">
          <a:xfrm>
            <a:off x="7529692" y="186460"/>
            <a:ext cx="1116012" cy="217488"/>
            <a:chOff x="0" y="0"/>
            <a:chExt cx="3462373" cy="671728"/>
          </a:xfrm>
        </p:grpSpPr>
        <p:pic>
          <p:nvPicPr>
            <p:cNvPr id="15" name="図 2">
              <a:extLst>
                <a:ext uri="{FF2B5EF4-FFF2-40B4-BE49-F238E27FC236}">
                  <a16:creationId xmlns:a16="http://schemas.microsoft.com/office/drawing/2014/main" id="{7D9010AC-BE12-828A-9D7A-BAB33475D7B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2580" y="160437"/>
              <a:ext cx="2699793" cy="35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図 3">
              <a:extLst>
                <a:ext uri="{FF2B5EF4-FFF2-40B4-BE49-F238E27FC236}">
                  <a16:creationId xmlns:a16="http://schemas.microsoft.com/office/drawing/2014/main" id="{7A5F3C8E-C648-1B43-F925-57F4A2F83AA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671728" cy="67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7" name="Shape 4">
            <a:extLst>
              <a:ext uri="{FF2B5EF4-FFF2-40B4-BE49-F238E27FC236}">
                <a16:creationId xmlns:a16="http://schemas.microsoft.com/office/drawing/2014/main" id="{9F6C2373-C425-E843-0DBE-C2E5D5BC5B70}"/>
              </a:ext>
            </a:extLst>
          </p:cNvPr>
          <p:cNvSpPr/>
          <p:nvPr/>
        </p:nvSpPr>
        <p:spPr>
          <a:xfrm flipV="1">
            <a:off x="457200" y="612649"/>
            <a:ext cx="775699" cy="45719"/>
          </a:xfrm>
          <a:prstGeom prst="rect">
            <a:avLst/>
          </a:prstGeom>
          <a:solidFill>
            <a:srgbClr val="8C2029"/>
          </a:solidFill>
          <a:ln/>
        </p:spPr>
        <p:txBody>
          <a:bodyPr/>
          <a:lstStyle/>
          <a:p>
            <a:endParaRPr lang="ja-JP"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0" y="137160"/>
            <a:ext cx="2560320" cy="320040"/>
          </a:xfrm>
          <a:prstGeom prst="rect">
            <a:avLst/>
          </a:prstGeom>
          <a:noFill/>
          <a:ln/>
        </p:spPr>
        <p:txBody>
          <a:bodyPr wrap="square" rtlCol="0" anchor="ctr"/>
          <a:lstStyle/>
          <a:p>
            <a:pPr marL="0" indent="0" algn="r">
              <a:buNone/>
            </a:pPr>
            <a:endParaRPr lang="en-US" sz="1100" dirty="0"/>
          </a:p>
        </p:txBody>
      </p:sp>
      <p:sp>
        <p:nvSpPr>
          <p:cNvPr id="3" name="Shape 1"/>
          <p:cNvSpPr/>
          <p:nvPr/>
        </p:nvSpPr>
        <p:spPr>
          <a:xfrm>
            <a:off x="274320" y="4754880"/>
            <a:ext cx="8595360" cy="0"/>
          </a:xfrm>
          <a:prstGeom prst="line">
            <a:avLst/>
          </a:prstGeom>
          <a:noFill/>
          <a:ln w="12700">
            <a:solidFill>
              <a:srgbClr val="8C2029"/>
            </a:solidFill>
            <a:prstDash val="dash"/>
          </a:ln>
        </p:spPr>
        <p:txBody>
          <a:bodyPr/>
          <a:lstStyle/>
          <a:p>
            <a:endParaRPr lang="ja-JP" altLang="en-US"/>
          </a:p>
        </p:txBody>
      </p:sp>
      <p:sp>
        <p:nvSpPr>
          <p:cNvPr id="5" name="Text 3"/>
          <p:cNvSpPr/>
          <p:nvPr/>
        </p:nvSpPr>
        <p:spPr>
          <a:xfrm>
            <a:off x="457200" y="182880"/>
            <a:ext cx="5943600" cy="457200"/>
          </a:xfrm>
          <a:prstGeom prst="rect">
            <a:avLst/>
          </a:prstGeom>
          <a:noFill/>
          <a:ln/>
        </p:spPr>
        <p:txBody>
          <a:bodyPr wrap="square" lIns="0" tIns="0" rIns="0" bIns="0" rtlCol="0" anchor="ctr"/>
          <a:lstStyle/>
          <a:p>
            <a:pPr marL="0" indent="0">
              <a:buNone/>
            </a:pPr>
            <a:r>
              <a:rPr lang="en-US" sz="2200" b="1" dirty="0">
                <a:solidFill>
                  <a:srgbClr val="333333"/>
                </a:solidFill>
                <a:latin typeface="Yu Gothic" pitchFamily="34" charset="0"/>
                <a:ea typeface="Yu Gothic" pitchFamily="34" charset="-122"/>
                <a:cs typeface="Yu Gothic" pitchFamily="34" charset="-120"/>
              </a:rPr>
              <a:t>全12回 研修テーマ一覧</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409430985"/>
              </p:ext>
            </p:extLst>
          </p:nvPr>
        </p:nvGraphicFramePr>
        <p:xfrm>
          <a:off x="457200" y="868680"/>
          <a:ext cx="8229600" cy="3410706"/>
        </p:xfrm>
        <a:graphic>
          <a:graphicData uri="http://schemas.openxmlformats.org/drawingml/2006/table">
            <a:tbl>
              <a:tblPr/>
              <a:tblGrid>
                <a:gridCol w="5486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262362">
                <a:tc>
                  <a:txBody>
                    <a:bodyPr/>
                    <a:lstStyle/>
                    <a:p>
                      <a:pPr marL="0" indent="0" algn="ctr">
                        <a:buNone/>
                      </a:pPr>
                      <a:r>
                        <a:rPr lang="en-US" sz="900" b="1" dirty="0">
                          <a:solidFill>
                            <a:srgbClr val="FFFFFF"/>
                          </a:solidFill>
                          <a:latin typeface="Yu Gothic" pitchFamily="34" charset="0"/>
                          <a:ea typeface="Yu Gothic" pitchFamily="34" charset="-122"/>
                          <a:cs typeface="Yu Gothic" pitchFamily="34" charset="-120"/>
                        </a:rPr>
                        <a:t>回</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8C2029"/>
                    </a:solidFill>
                  </a:tcPr>
                </a:tc>
                <a:tc>
                  <a:txBody>
                    <a:bodyPr/>
                    <a:lstStyle/>
                    <a:p>
                      <a:pPr marL="0" indent="0">
                        <a:buNone/>
                      </a:pPr>
                      <a:r>
                        <a:rPr lang="en-US" sz="900" b="1" dirty="0">
                          <a:solidFill>
                            <a:srgbClr val="FFFFFF"/>
                          </a:solidFill>
                          <a:latin typeface="Yu Gothic" pitchFamily="34" charset="0"/>
                          <a:ea typeface="Yu Gothic" pitchFamily="34" charset="-122"/>
                          <a:cs typeface="Yu Gothic" pitchFamily="34" charset="-120"/>
                        </a:rPr>
                        <a:t>テーマ</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8C2029"/>
                    </a:solidFill>
                  </a:tcPr>
                </a:tc>
                <a:tc>
                  <a:txBody>
                    <a:bodyPr/>
                    <a:lstStyle/>
                    <a:p>
                      <a:pPr marL="0" indent="0">
                        <a:buNone/>
                      </a:pPr>
                      <a:r>
                        <a:rPr lang="en-US" sz="900" b="1" dirty="0">
                          <a:solidFill>
                            <a:srgbClr val="FFFFFF"/>
                          </a:solidFill>
                          <a:latin typeface="Yu Gothic" pitchFamily="34" charset="0"/>
                          <a:ea typeface="Yu Gothic" pitchFamily="34" charset="-122"/>
                          <a:cs typeface="Yu Gothic" pitchFamily="34" charset="-120"/>
                        </a:rPr>
                        <a:t>主要キーワード</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8C2029"/>
                    </a:solidFill>
                  </a:tcPr>
                </a:tc>
                <a:extLst>
                  <a:ext uri="{0D108BD9-81ED-4DB2-BD59-A6C34878D82A}">
                    <a16:rowId xmlns:a16="http://schemas.microsoft.com/office/drawing/2014/main" val="10000"/>
                  </a:ext>
                </a:extLst>
              </a:tr>
              <a:tr h="262362">
                <a:tc>
                  <a:txBody>
                    <a:bodyPr/>
                    <a:lstStyle/>
                    <a:p>
                      <a:pPr marL="0" indent="0" algn="ctr">
                        <a:buNone/>
                      </a:pPr>
                      <a:r>
                        <a:rPr lang="en-US" sz="900" dirty="0">
                          <a:solidFill>
                            <a:srgbClr val="000000"/>
                          </a:solidFill>
                          <a:latin typeface="Yu Gothic" pitchFamily="34" charset="0"/>
                          <a:ea typeface="Yu Gothic" pitchFamily="34" charset="-122"/>
                          <a:cs typeface="Yu Gothic" pitchFamily="34" charset="-120"/>
                        </a:rPr>
                        <a:t>1</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tc>
                  <a:txBody>
                    <a:bodyPr/>
                    <a:lstStyle/>
                    <a:p>
                      <a:pPr marL="0" indent="0">
                        <a:buNone/>
                      </a:pPr>
                      <a:r>
                        <a:rPr lang="en-US" sz="900" dirty="0">
                          <a:solidFill>
                            <a:srgbClr val="333333"/>
                          </a:solidFill>
                          <a:latin typeface="Yu Gothic" pitchFamily="34" charset="0"/>
                          <a:ea typeface="Yu Gothic" pitchFamily="34" charset="-122"/>
                          <a:cs typeface="Yu Gothic" pitchFamily="34" charset="-120"/>
                        </a:rPr>
                        <a:t>オリエンテーション＆管理職の役割認識</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tc>
                  <a:txBody>
                    <a:bodyPr/>
                    <a:lstStyle/>
                    <a:p>
                      <a:pPr marL="0" indent="0">
                        <a:buNone/>
                      </a:pPr>
                      <a:r>
                        <a:rPr lang="en-US" sz="900" dirty="0">
                          <a:solidFill>
                            <a:srgbClr val="000000"/>
                          </a:solidFill>
                          <a:latin typeface="Yu Gothic" pitchFamily="34" charset="0"/>
                          <a:ea typeface="Yu Gothic" pitchFamily="34" charset="-122"/>
                          <a:cs typeface="Yu Gothic" pitchFamily="34" charset="-120"/>
                        </a:rPr>
                        <a:t>経営理念・役割認識</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extLst>
                  <a:ext uri="{0D108BD9-81ED-4DB2-BD59-A6C34878D82A}">
                    <a16:rowId xmlns:a16="http://schemas.microsoft.com/office/drawing/2014/main" val="10001"/>
                  </a:ext>
                </a:extLst>
              </a:tr>
              <a:tr h="262362">
                <a:tc>
                  <a:txBody>
                    <a:bodyPr/>
                    <a:lstStyle/>
                    <a:p>
                      <a:pPr marL="0" indent="0" algn="ctr">
                        <a:buNone/>
                      </a:pPr>
                      <a:r>
                        <a:rPr lang="en-US" sz="900" dirty="0">
                          <a:solidFill>
                            <a:srgbClr val="000000"/>
                          </a:solidFill>
                          <a:latin typeface="Yu Gothic" pitchFamily="34" charset="0"/>
                          <a:ea typeface="Yu Gothic" pitchFamily="34" charset="-122"/>
                          <a:cs typeface="Yu Gothic" pitchFamily="34" charset="-120"/>
                        </a:rPr>
                        <a:t>2</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333333"/>
                          </a:solidFill>
                          <a:latin typeface="Yu Gothic" pitchFamily="34" charset="0"/>
                          <a:ea typeface="Yu Gothic" pitchFamily="34" charset="-122"/>
                          <a:cs typeface="Yu Gothic" pitchFamily="34" charset="-120"/>
                        </a:rPr>
                        <a:t>自己理解を深める（MBTI）</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Yu Gothic" pitchFamily="34" charset="0"/>
                          <a:ea typeface="Yu Gothic" pitchFamily="34" charset="-122"/>
                          <a:cs typeface="Yu Gothic" pitchFamily="34" charset="-120"/>
                        </a:rPr>
                        <a:t>MBTI・自己理解</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2362">
                <a:tc>
                  <a:txBody>
                    <a:bodyPr/>
                    <a:lstStyle/>
                    <a:p>
                      <a:pPr marL="0" indent="0" algn="ctr">
                        <a:buNone/>
                      </a:pPr>
                      <a:r>
                        <a:rPr lang="en-US" sz="900" dirty="0">
                          <a:solidFill>
                            <a:srgbClr val="000000"/>
                          </a:solidFill>
                          <a:latin typeface="Yu Gothic" pitchFamily="34" charset="0"/>
                          <a:ea typeface="Yu Gothic" pitchFamily="34" charset="-122"/>
                          <a:cs typeface="Yu Gothic" pitchFamily="34" charset="-120"/>
                        </a:rPr>
                        <a:t>3</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tc>
                  <a:txBody>
                    <a:bodyPr/>
                    <a:lstStyle/>
                    <a:p>
                      <a:pPr marL="0" indent="0">
                        <a:buNone/>
                      </a:pPr>
                      <a:r>
                        <a:rPr lang="en-US" sz="900" dirty="0">
                          <a:solidFill>
                            <a:srgbClr val="333333"/>
                          </a:solidFill>
                          <a:latin typeface="Yu Gothic" pitchFamily="34" charset="0"/>
                          <a:ea typeface="Yu Gothic" pitchFamily="34" charset="-122"/>
                          <a:cs typeface="Yu Gothic" pitchFamily="34" charset="-120"/>
                        </a:rPr>
                        <a:t>管理職のコンピテンシーと自己分析</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tc>
                  <a:txBody>
                    <a:bodyPr/>
                    <a:lstStyle/>
                    <a:p>
                      <a:pPr marL="0" indent="0">
                        <a:buNone/>
                      </a:pPr>
                      <a:r>
                        <a:rPr lang="en-US" sz="900" dirty="0">
                          <a:solidFill>
                            <a:srgbClr val="000000"/>
                          </a:solidFill>
                          <a:latin typeface="Yu Gothic" pitchFamily="34" charset="0"/>
                          <a:ea typeface="Yu Gothic" pitchFamily="34" charset="-122"/>
                          <a:cs typeface="Yu Gothic" pitchFamily="34" charset="-120"/>
                        </a:rPr>
                        <a:t>リーダー像・アセスメント</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extLst>
                  <a:ext uri="{0D108BD9-81ED-4DB2-BD59-A6C34878D82A}">
                    <a16:rowId xmlns:a16="http://schemas.microsoft.com/office/drawing/2014/main" val="10003"/>
                  </a:ext>
                </a:extLst>
              </a:tr>
              <a:tr h="262362">
                <a:tc>
                  <a:txBody>
                    <a:bodyPr/>
                    <a:lstStyle/>
                    <a:p>
                      <a:pPr marL="0" indent="0" algn="ctr">
                        <a:buNone/>
                      </a:pPr>
                      <a:r>
                        <a:rPr lang="en-US" sz="900" dirty="0">
                          <a:solidFill>
                            <a:srgbClr val="000000"/>
                          </a:solidFill>
                          <a:latin typeface="Yu Gothic" pitchFamily="34" charset="0"/>
                          <a:ea typeface="Yu Gothic" pitchFamily="34" charset="-122"/>
                          <a:cs typeface="Yu Gothic" pitchFamily="34" charset="-120"/>
                        </a:rPr>
                        <a:t>4</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333333"/>
                          </a:solidFill>
                          <a:latin typeface="Yu Gothic" pitchFamily="34" charset="0"/>
                          <a:ea typeface="Yu Gothic" pitchFamily="34" charset="-122"/>
                          <a:cs typeface="Yu Gothic" pitchFamily="34" charset="-120"/>
                        </a:rPr>
                        <a:t>リーダーシップの本質</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Yu Gothic" pitchFamily="34" charset="0"/>
                          <a:ea typeface="Yu Gothic" pitchFamily="34" charset="-122"/>
                          <a:cs typeface="Yu Gothic" pitchFamily="34" charset="-120"/>
                        </a:rPr>
                        <a:t>リーダーシップ・SMART</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2362">
                <a:tc>
                  <a:txBody>
                    <a:bodyPr/>
                    <a:lstStyle/>
                    <a:p>
                      <a:pPr marL="0" indent="0" algn="ctr">
                        <a:buNone/>
                      </a:pPr>
                      <a:r>
                        <a:rPr lang="en-US" sz="900" dirty="0">
                          <a:solidFill>
                            <a:srgbClr val="000000"/>
                          </a:solidFill>
                          <a:latin typeface="Yu Gothic" pitchFamily="34" charset="0"/>
                          <a:ea typeface="Yu Gothic" pitchFamily="34" charset="-122"/>
                          <a:cs typeface="Yu Gothic" pitchFamily="34" charset="-120"/>
                        </a:rPr>
                        <a:t>5</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tc>
                  <a:txBody>
                    <a:bodyPr/>
                    <a:lstStyle/>
                    <a:p>
                      <a:pPr marL="0" indent="0">
                        <a:buNone/>
                      </a:pPr>
                      <a:r>
                        <a:rPr lang="en-US" sz="900" dirty="0">
                          <a:solidFill>
                            <a:srgbClr val="333333"/>
                          </a:solidFill>
                          <a:latin typeface="Yu Gothic" pitchFamily="34" charset="0"/>
                          <a:ea typeface="Yu Gothic" pitchFamily="34" charset="-122"/>
                          <a:cs typeface="Yu Gothic" pitchFamily="34" charset="-120"/>
                        </a:rPr>
                        <a:t>問題解決の技術</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tc>
                  <a:txBody>
                    <a:bodyPr/>
                    <a:lstStyle/>
                    <a:p>
                      <a:pPr marL="0" indent="0">
                        <a:buNone/>
                      </a:pPr>
                      <a:r>
                        <a:rPr lang="en-US" sz="900" dirty="0">
                          <a:solidFill>
                            <a:srgbClr val="000000"/>
                          </a:solidFill>
                          <a:latin typeface="Yu Gothic" pitchFamily="34" charset="0"/>
                          <a:ea typeface="Yu Gothic" pitchFamily="34" charset="-122"/>
                          <a:cs typeface="Yu Gothic" pitchFamily="34" charset="-120"/>
                        </a:rPr>
                        <a:t>MECE・ロジックツリー</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extLst>
                  <a:ext uri="{0D108BD9-81ED-4DB2-BD59-A6C34878D82A}">
                    <a16:rowId xmlns:a16="http://schemas.microsoft.com/office/drawing/2014/main" val="10005"/>
                  </a:ext>
                </a:extLst>
              </a:tr>
              <a:tr h="262362">
                <a:tc>
                  <a:txBody>
                    <a:bodyPr/>
                    <a:lstStyle/>
                    <a:p>
                      <a:pPr marL="0" indent="0" algn="ctr">
                        <a:buNone/>
                      </a:pPr>
                      <a:r>
                        <a:rPr lang="en-US" sz="900" dirty="0">
                          <a:solidFill>
                            <a:srgbClr val="000000"/>
                          </a:solidFill>
                          <a:latin typeface="Yu Gothic" pitchFamily="34" charset="0"/>
                          <a:ea typeface="Yu Gothic" pitchFamily="34" charset="-122"/>
                          <a:cs typeface="Yu Gothic" pitchFamily="34" charset="-120"/>
                        </a:rPr>
                        <a:t>6</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333333"/>
                          </a:solidFill>
                          <a:latin typeface="Yu Gothic" pitchFamily="34" charset="0"/>
                          <a:ea typeface="Yu Gothic" pitchFamily="34" charset="-122"/>
                          <a:cs typeface="Yu Gothic" pitchFamily="34" charset="-120"/>
                        </a:rPr>
                        <a:t>プレゼンテーション技術</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Yu Gothic" pitchFamily="34" charset="0"/>
                          <a:ea typeface="Yu Gothic" pitchFamily="34" charset="-122"/>
                          <a:cs typeface="Yu Gothic" pitchFamily="34" charset="-120"/>
                        </a:rPr>
                        <a:t>資料作成・伝える力</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2362">
                <a:tc>
                  <a:txBody>
                    <a:bodyPr/>
                    <a:lstStyle/>
                    <a:p>
                      <a:pPr marL="0" indent="0" algn="ctr">
                        <a:buNone/>
                      </a:pPr>
                      <a:r>
                        <a:rPr lang="en-US" sz="900" b="1" dirty="0">
                          <a:solidFill>
                            <a:srgbClr val="000000"/>
                          </a:solidFill>
                          <a:latin typeface="Yu Gothic" pitchFamily="34" charset="0"/>
                          <a:ea typeface="Yu Gothic" pitchFamily="34" charset="-122"/>
                          <a:cs typeface="Yu Gothic" pitchFamily="34" charset="-120"/>
                        </a:rPr>
                        <a:t>7</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tc>
                  <a:txBody>
                    <a:bodyPr/>
                    <a:lstStyle/>
                    <a:p>
                      <a:pPr marL="0" indent="0">
                        <a:buNone/>
                      </a:pPr>
                      <a:r>
                        <a:rPr lang="en-US" sz="900" b="1" dirty="0">
                          <a:solidFill>
                            <a:srgbClr val="8C2029"/>
                          </a:solidFill>
                          <a:latin typeface="Yu Gothic" pitchFamily="34" charset="0"/>
                          <a:ea typeface="Yu Gothic" pitchFamily="34" charset="-122"/>
                          <a:cs typeface="Yu Gothic" pitchFamily="34" charset="-120"/>
                        </a:rPr>
                        <a:t>中間報告会</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tc>
                  <a:txBody>
                    <a:bodyPr/>
                    <a:lstStyle/>
                    <a:p>
                      <a:pPr marL="0" indent="0">
                        <a:buNone/>
                      </a:pPr>
                      <a:r>
                        <a:rPr lang="en-US" sz="900" dirty="0">
                          <a:solidFill>
                            <a:srgbClr val="000000"/>
                          </a:solidFill>
                          <a:latin typeface="Yu Gothic" pitchFamily="34" charset="0"/>
                          <a:ea typeface="Yu Gothic" pitchFamily="34" charset="-122"/>
                          <a:cs typeface="Yu Gothic" pitchFamily="34" charset="-120"/>
                        </a:rPr>
                        <a:t>成果発表・FB</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extLst>
                  <a:ext uri="{0D108BD9-81ED-4DB2-BD59-A6C34878D82A}">
                    <a16:rowId xmlns:a16="http://schemas.microsoft.com/office/drawing/2014/main" val="10007"/>
                  </a:ext>
                </a:extLst>
              </a:tr>
              <a:tr h="262362">
                <a:tc>
                  <a:txBody>
                    <a:bodyPr/>
                    <a:lstStyle/>
                    <a:p>
                      <a:pPr marL="0" indent="0" algn="ctr">
                        <a:buNone/>
                      </a:pPr>
                      <a:r>
                        <a:rPr lang="en-US" sz="900" dirty="0">
                          <a:solidFill>
                            <a:srgbClr val="000000"/>
                          </a:solidFill>
                          <a:latin typeface="Yu Gothic" pitchFamily="34" charset="0"/>
                          <a:ea typeface="Yu Gothic" pitchFamily="34" charset="-122"/>
                          <a:cs typeface="Yu Gothic" pitchFamily="34" charset="-120"/>
                        </a:rPr>
                        <a:t>8</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333333"/>
                          </a:solidFill>
                          <a:latin typeface="Yu Gothic" pitchFamily="34" charset="0"/>
                          <a:ea typeface="Yu Gothic" pitchFamily="34" charset="-122"/>
                          <a:cs typeface="Yu Gothic" pitchFamily="34" charset="-120"/>
                        </a:rPr>
                        <a:t>対話の技術① カウンセリング</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Yu Gothic" pitchFamily="34" charset="0"/>
                          <a:ea typeface="Yu Gothic" pitchFamily="34" charset="-122"/>
                          <a:cs typeface="Yu Gothic" pitchFamily="34" charset="-120"/>
                        </a:rPr>
                        <a:t>傾聴・共感</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2362">
                <a:tc>
                  <a:txBody>
                    <a:bodyPr/>
                    <a:lstStyle/>
                    <a:p>
                      <a:pPr marL="0" indent="0" algn="ctr">
                        <a:buNone/>
                      </a:pPr>
                      <a:r>
                        <a:rPr lang="en-US" sz="900" dirty="0">
                          <a:solidFill>
                            <a:srgbClr val="000000"/>
                          </a:solidFill>
                          <a:latin typeface="Yu Gothic" pitchFamily="34" charset="0"/>
                          <a:ea typeface="Yu Gothic" pitchFamily="34" charset="-122"/>
                          <a:cs typeface="Yu Gothic" pitchFamily="34" charset="-120"/>
                        </a:rPr>
                        <a:t>9</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tc>
                  <a:txBody>
                    <a:bodyPr/>
                    <a:lstStyle/>
                    <a:p>
                      <a:pPr marL="0" indent="0">
                        <a:buNone/>
                      </a:pPr>
                      <a:r>
                        <a:rPr lang="en-US" sz="900" dirty="0">
                          <a:solidFill>
                            <a:srgbClr val="333333"/>
                          </a:solidFill>
                          <a:latin typeface="Yu Gothic" pitchFamily="34" charset="0"/>
                          <a:ea typeface="Yu Gothic" pitchFamily="34" charset="-122"/>
                          <a:cs typeface="Yu Gothic" pitchFamily="34" charset="-120"/>
                        </a:rPr>
                        <a:t>対話の技術② コーチング</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tc>
                  <a:txBody>
                    <a:bodyPr/>
                    <a:lstStyle/>
                    <a:p>
                      <a:pPr marL="0" indent="0">
                        <a:buNone/>
                      </a:pPr>
                      <a:r>
                        <a:rPr lang="en-US" sz="900" dirty="0">
                          <a:solidFill>
                            <a:srgbClr val="000000"/>
                          </a:solidFill>
                          <a:latin typeface="Yu Gothic" pitchFamily="34" charset="0"/>
                          <a:ea typeface="Yu Gothic" pitchFamily="34" charset="-122"/>
                          <a:cs typeface="Yu Gothic" pitchFamily="34" charset="-120"/>
                        </a:rPr>
                        <a:t>GROW・質問技術</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extLst>
                  <a:ext uri="{0D108BD9-81ED-4DB2-BD59-A6C34878D82A}">
                    <a16:rowId xmlns:a16="http://schemas.microsoft.com/office/drawing/2014/main" val="10009"/>
                  </a:ext>
                </a:extLst>
              </a:tr>
              <a:tr h="262362">
                <a:tc>
                  <a:txBody>
                    <a:bodyPr/>
                    <a:lstStyle/>
                    <a:p>
                      <a:pPr marL="0" indent="0" algn="ctr">
                        <a:buNone/>
                      </a:pPr>
                      <a:r>
                        <a:rPr lang="en-US" sz="900" dirty="0">
                          <a:solidFill>
                            <a:srgbClr val="000000"/>
                          </a:solidFill>
                          <a:latin typeface="Yu Gothic" pitchFamily="34" charset="0"/>
                          <a:ea typeface="Yu Gothic" pitchFamily="34" charset="-122"/>
                          <a:cs typeface="Yu Gothic" pitchFamily="34" charset="-120"/>
                        </a:rPr>
                        <a:t>10</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333333"/>
                          </a:solidFill>
                          <a:latin typeface="Yu Gothic" pitchFamily="34" charset="0"/>
                          <a:ea typeface="Yu Gothic" pitchFamily="34" charset="-122"/>
                          <a:cs typeface="Yu Gothic" pitchFamily="34" charset="-120"/>
                        </a:rPr>
                        <a:t>会議ファシリテーション</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Yu Gothic" pitchFamily="34" charset="0"/>
                          <a:ea typeface="Yu Gothic" pitchFamily="34" charset="-122"/>
                          <a:cs typeface="Yu Gothic" pitchFamily="34" charset="-120"/>
                        </a:rPr>
                        <a:t>会議改革</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62362">
                <a:tc>
                  <a:txBody>
                    <a:bodyPr/>
                    <a:lstStyle/>
                    <a:p>
                      <a:pPr marL="0" indent="0" algn="ctr">
                        <a:buNone/>
                      </a:pPr>
                      <a:r>
                        <a:rPr lang="en-US" sz="900" dirty="0">
                          <a:solidFill>
                            <a:srgbClr val="000000"/>
                          </a:solidFill>
                          <a:latin typeface="Yu Gothic" pitchFamily="34" charset="0"/>
                          <a:ea typeface="Yu Gothic" pitchFamily="34" charset="-122"/>
                          <a:cs typeface="Yu Gothic" pitchFamily="34" charset="-120"/>
                        </a:rPr>
                        <a:t>11</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tc>
                  <a:txBody>
                    <a:bodyPr/>
                    <a:lstStyle/>
                    <a:p>
                      <a:pPr marL="0" indent="0">
                        <a:buNone/>
                      </a:pPr>
                      <a:r>
                        <a:rPr lang="en-US" sz="900" dirty="0">
                          <a:solidFill>
                            <a:srgbClr val="333333"/>
                          </a:solidFill>
                          <a:latin typeface="Yu Gothic" pitchFamily="34" charset="0"/>
                          <a:ea typeface="Yu Gothic" pitchFamily="34" charset="-122"/>
                          <a:cs typeface="Yu Gothic" pitchFamily="34" charset="-120"/>
                        </a:rPr>
                        <a:t>事業戦略（2日間合宿）</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tc>
                  <a:txBody>
                    <a:bodyPr/>
                    <a:lstStyle/>
                    <a:p>
                      <a:pPr marL="0" indent="0">
                        <a:buNone/>
                      </a:pPr>
                      <a:r>
                        <a:rPr lang="en-US" sz="900" dirty="0">
                          <a:solidFill>
                            <a:srgbClr val="000000"/>
                          </a:solidFill>
                          <a:latin typeface="Yu Gothic" pitchFamily="34" charset="0"/>
                          <a:ea typeface="Yu Gothic" pitchFamily="34" charset="-122"/>
                          <a:cs typeface="Yu Gothic" pitchFamily="34" charset="-120"/>
                        </a:rPr>
                        <a:t>SWOT・3C・戦略思考</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8F8"/>
                    </a:solidFill>
                  </a:tcPr>
                </a:tc>
                <a:extLst>
                  <a:ext uri="{0D108BD9-81ED-4DB2-BD59-A6C34878D82A}">
                    <a16:rowId xmlns:a16="http://schemas.microsoft.com/office/drawing/2014/main" val="10011"/>
                  </a:ext>
                </a:extLst>
              </a:tr>
              <a:tr h="262362">
                <a:tc>
                  <a:txBody>
                    <a:bodyPr/>
                    <a:lstStyle/>
                    <a:p>
                      <a:pPr marL="0" indent="0" algn="ctr">
                        <a:buNone/>
                      </a:pPr>
                      <a:r>
                        <a:rPr lang="en-US" sz="900" b="1" dirty="0">
                          <a:solidFill>
                            <a:srgbClr val="000000"/>
                          </a:solidFill>
                          <a:latin typeface="Yu Gothic" pitchFamily="34" charset="0"/>
                          <a:ea typeface="Yu Gothic" pitchFamily="34" charset="-122"/>
                          <a:cs typeface="Yu Gothic" pitchFamily="34" charset="-120"/>
                        </a:rPr>
                        <a:t>12</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b="1" dirty="0">
                          <a:solidFill>
                            <a:srgbClr val="8C2029"/>
                          </a:solidFill>
                          <a:latin typeface="Yu Gothic" pitchFamily="34" charset="0"/>
                          <a:ea typeface="Yu Gothic" pitchFamily="34" charset="-122"/>
                          <a:cs typeface="Yu Gothic" pitchFamily="34" charset="-120"/>
                        </a:rPr>
                        <a:t>最終報告会</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latin typeface="Yu Gothic" pitchFamily="34" charset="0"/>
                          <a:ea typeface="Yu Gothic" pitchFamily="34" charset="-122"/>
                          <a:cs typeface="Yu Gothic" pitchFamily="34" charset="-120"/>
                        </a:rPr>
                        <a:t>決意表明</a:t>
                      </a:r>
                      <a:endParaRPr lang="en-US" sz="900" dirty="0">
                        <a:latin typeface="Yu Gothic" charset="0"/>
                        <a:ea typeface="Yu Gothic" charset="0"/>
                        <a:cs typeface="Yu Gothic" charset="0"/>
                      </a:endParaRPr>
                    </a:p>
                  </a:txBody>
                  <a:tcPr marL="50800" marR="508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8" name="Text 5"/>
          <p:cNvSpPr/>
          <p:nvPr/>
        </p:nvSpPr>
        <p:spPr>
          <a:xfrm>
            <a:off x="457200" y="4254230"/>
            <a:ext cx="8229600" cy="274320"/>
          </a:xfrm>
          <a:prstGeom prst="rect">
            <a:avLst/>
          </a:prstGeom>
          <a:noFill/>
          <a:ln/>
        </p:spPr>
        <p:txBody>
          <a:bodyPr wrap="square" rtlCol="0" anchor="ctr"/>
          <a:lstStyle/>
          <a:p>
            <a:pPr marL="0" indent="0">
              <a:buNone/>
            </a:pPr>
            <a:r>
              <a:rPr lang="en-US" sz="850" dirty="0">
                <a:solidFill>
                  <a:srgbClr val="666666"/>
                </a:solidFill>
                <a:latin typeface="Yu Gothic" pitchFamily="34" charset="0"/>
                <a:ea typeface="Yu Gothic" pitchFamily="34" charset="-122"/>
                <a:cs typeface="Yu Gothic" pitchFamily="34" charset="-120"/>
              </a:rPr>
              <a:t>※ 各回 終日研修（9:00〜17:00）。第11回のみ2日間合宿。毎回冒頭に社長講話・2分間スピーチ・振り返り・活動報告シェアを実施。</a:t>
            </a:r>
            <a:endParaRPr lang="en-US" sz="850" dirty="0"/>
          </a:p>
        </p:txBody>
      </p:sp>
      <p:sp>
        <p:nvSpPr>
          <p:cNvPr id="18" name="Text 2">
            <a:extLst>
              <a:ext uri="{FF2B5EF4-FFF2-40B4-BE49-F238E27FC236}">
                <a16:creationId xmlns:a16="http://schemas.microsoft.com/office/drawing/2014/main" id="{8AE0D94B-4953-BEA4-EBCE-DCF8F1641A15}"/>
              </a:ext>
            </a:extLst>
          </p:cNvPr>
          <p:cNvSpPr/>
          <p:nvPr/>
        </p:nvSpPr>
        <p:spPr>
          <a:xfrm>
            <a:off x="5943600" y="4800600"/>
            <a:ext cx="2926080" cy="274320"/>
          </a:xfrm>
          <a:prstGeom prst="rect">
            <a:avLst/>
          </a:prstGeom>
          <a:noFill/>
          <a:ln/>
        </p:spPr>
        <p:txBody>
          <a:bodyPr wrap="square"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grpSp>
        <p:nvGrpSpPr>
          <p:cNvPr id="19" name="グループ化 11">
            <a:extLst>
              <a:ext uri="{FF2B5EF4-FFF2-40B4-BE49-F238E27FC236}">
                <a16:creationId xmlns:a16="http://schemas.microsoft.com/office/drawing/2014/main" id="{90FB982D-7414-1189-043B-5005677F0FA2}"/>
              </a:ext>
            </a:extLst>
          </p:cNvPr>
          <p:cNvGrpSpPr>
            <a:grpSpLocks/>
          </p:cNvGrpSpPr>
          <p:nvPr/>
        </p:nvGrpSpPr>
        <p:grpSpPr bwMode="auto">
          <a:xfrm>
            <a:off x="7529692" y="186460"/>
            <a:ext cx="1116012" cy="217488"/>
            <a:chOff x="0" y="0"/>
            <a:chExt cx="3462373" cy="671728"/>
          </a:xfrm>
        </p:grpSpPr>
        <p:pic>
          <p:nvPicPr>
            <p:cNvPr id="20" name="図 2">
              <a:extLst>
                <a:ext uri="{FF2B5EF4-FFF2-40B4-BE49-F238E27FC236}">
                  <a16:creationId xmlns:a16="http://schemas.microsoft.com/office/drawing/2014/main" id="{368536E0-0FA2-C673-D123-9BB09F64FA9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580" y="160437"/>
              <a:ext cx="2699793" cy="35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図 3">
              <a:extLst>
                <a:ext uri="{FF2B5EF4-FFF2-40B4-BE49-F238E27FC236}">
                  <a16:creationId xmlns:a16="http://schemas.microsoft.com/office/drawing/2014/main" id="{6D5B3B9D-50E0-3EA0-CCBD-54555E2E61F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71728" cy="67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 name="Shape 4">
            <a:extLst>
              <a:ext uri="{FF2B5EF4-FFF2-40B4-BE49-F238E27FC236}">
                <a16:creationId xmlns:a16="http://schemas.microsoft.com/office/drawing/2014/main" id="{A449A5D6-42A8-0531-8A92-DDE559E295E5}"/>
              </a:ext>
            </a:extLst>
          </p:cNvPr>
          <p:cNvSpPr/>
          <p:nvPr/>
        </p:nvSpPr>
        <p:spPr>
          <a:xfrm flipV="1">
            <a:off x="457200" y="612649"/>
            <a:ext cx="775699" cy="45719"/>
          </a:xfrm>
          <a:prstGeom prst="rect">
            <a:avLst/>
          </a:prstGeom>
          <a:solidFill>
            <a:srgbClr val="8C2029"/>
          </a:solidFill>
          <a:ln/>
        </p:spPr>
        <p:txBody>
          <a:bodyPr/>
          <a:lstStyle/>
          <a:p>
            <a:endParaRPr lang="ja-JP" altLang="en-US"/>
          </a:p>
        </p:txBody>
      </p:sp>
      <p:sp>
        <p:nvSpPr>
          <p:cNvPr id="100" name="FootnoteRationale"/>
          <p:cNvSpPr/>
          <p:nvPr/>
        </p:nvSpPr>
        <p:spPr>
          <a:xfrm>
            <a:off x="457199" y="4444348"/>
            <a:ext cx="8333715" cy="365760"/>
          </a:xfrm>
          <a:prstGeom prst="rect">
            <a:avLst/>
          </a:prstGeom>
          <a:noFill/>
          <a:ln>
            <a:noFill/>
          </a:ln>
        </p:spPr>
        <p:txBody>
          <a:bodyPr wrap="square" lIns="91440" tIns="45720" rIns="91440" bIns="45720" rtlCol="0" anchor="t"/>
          <a:lstStyle/>
          <a:p>
            <a:pPr marL="0" indent="0">
              <a:buNone/>
            </a:pPr>
            <a:r>
              <a:rPr lang="en-US" sz="800" dirty="0">
                <a:solidFill>
                  <a:srgbClr val="666666"/>
                </a:solidFill>
                <a:latin typeface="Yu Gothic" pitchFamily="34" charset="0"/>
                <a:ea typeface="Yu Gothic" pitchFamily="34" charset="-122"/>
                <a:cs typeface="Yu Gothic" pitchFamily="34" charset="-120"/>
              </a:rPr>
              <a:t>※ カリキュラム設計の考え方：前半で自己理解・コンピテンシー分析により「自分を知る」土台を築いたうえで、中間報告に向けた論理的思考・プレゼンテーション力を養成。</a:t>
            </a:r>
          </a:p>
          <a:p>
            <a:pPr marL="0" indent="0">
              <a:buNone/>
            </a:pPr>
            <a:r>
              <a:rPr lang="en-US" sz="800" dirty="0">
                <a:solidFill>
                  <a:srgbClr val="666666"/>
                </a:solidFill>
                <a:latin typeface="Yu Gothic" pitchFamily="34" charset="0"/>
                <a:ea typeface="Yu Gothic" pitchFamily="34" charset="-122"/>
                <a:cs typeface="Yu Gothic" pitchFamily="34" charset="-120"/>
              </a:rPr>
              <a:t>　後半の対話スキル（カウンセリング・コーチング・会議ファシリテーション）は、自己理解を経た段階で学ぶことで実践への応用力が格段に高まります。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C2029"/>
          </a:solidFill>
          <a:ln/>
        </p:spPr>
        <p:txBody>
          <a:bodyPr/>
          <a:lstStyle/>
          <a:p>
            <a:endParaRPr lang="ja-JP" altLang="en-US"/>
          </a:p>
        </p:txBody>
      </p:sp>
      <p:pic>
        <p:nvPicPr>
          <p:cNvPr id="3" name="Image 0" descr="/sessions/cool-intelligent-bohr/logo_icon.jpeg"/>
          <p:cNvPicPr>
            <a:picLocks noChangeAspect="1"/>
          </p:cNvPicPr>
          <p:nvPr/>
        </p:nvPicPr>
        <p:blipFill>
          <a:blip r:embed="rId2"/>
          <a:stretch>
            <a:fillRect/>
          </a:stretch>
        </p:blipFill>
        <p:spPr>
          <a:xfrm>
            <a:off x="7498080" y="109728"/>
            <a:ext cx="182880" cy="182880"/>
          </a:xfrm>
          <a:prstGeom prst="rect">
            <a:avLst/>
          </a:prstGeom>
        </p:spPr>
      </p:pic>
      <p:pic>
        <p:nvPicPr>
          <p:cNvPr id="4" name="Image 1" descr="/sessions/cool-intelligent-bohr/logo_text.jpeg"/>
          <p:cNvPicPr>
            <a:picLocks noChangeAspect="1"/>
          </p:cNvPicPr>
          <p:nvPr/>
        </p:nvPicPr>
        <p:blipFill>
          <a:blip r:embed="rId3"/>
          <a:stretch>
            <a:fillRect/>
          </a:stretch>
        </p:blipFill>
        <p:spPr>
          <a:xfrm>
            <a:off x="7726680" y="128016"/>
            <a:ext cx="1097280" cy="146304"/>
          </a:xfrm>
          <a:prstGeom prst="rect">
            <a:avLst/>
          </a:prstGeom>
        </p:spPr>
      </p:pic>
      <p:sp>
        <p:nvSpPr>
          <p:cNvPr id="5" name="Text 1"/>
          <p:cNvSpPr/>
          <p:nvPr/>
        </p:nvSpPr>
        <p:spPr>
          <a:xfrm>
            <a:off x="457200" y="137160"/>
            <a:ext cx="6858000" cy="411480"/>
          </a:xfrm>
          <a:prstGeom prst="rect">
            <a:avLst/>
          </a:prstGeom>
          <a:noFill/>
          <a:ln/>
        </p:spPr>
        <p:txBody>
          <a:bodyPr wrap="square" lIns="0" tIns="0" rIns="0" bIns="0" rtlCol="0" anchor="ctr"/>
          <a:lstStyle/>
          <a:p>
            <a:pPr marL="0" indent="0">
              <a:buNone/>
            </a:pPr>
            <a:r>
              <a:rPr lang="en-US" sz="1300" b="1" dirty="0">
                <a:solidFill>
                  <a:srgbClr val="8C2029"/>
                </a:solidFill>
                <a:latin typeface="Arial" pitchFamily="34" charset="0"/>
                <a:ea typeface="Arial" pitchFamily="34" charset="-122"/>
                <a:cs typeface="Arial" pitchFamily="34" charset="-120"/>
              </a:rPr>
              <a:t>Session 1</a:t>
            </a:r>
            <a:r>
              <a:rPr lang="en-US" sz="2000" b="1" dirty="0">
                <a:solidFill>
                  <a:srgbClr val="333333"/>
                </a:solidFill>
                <a:latin typeface="Yu Gothic" pitchFamily="34" charset="0"/>
                <a:ea typeface="Yu Gothic" pitchFamily="34" charset="-122"/>
                <a:cs typeface="Yu Gothic" pitchFamily="34" charset="-120"/>
              </a:rPr>
              <a:t>：オリエンテーション＆管理職の役割認識</a:t>
            </a:r>
            <a:endParaRPr lang="en-US" sz="1300" dirty="0"/>
          </a:p>
        </p:txBody>
      </p:sp>
      <p:sp>
        <p:nvSpPr>
          <p:cNvPr id="6" name="Shape 2"/>
          <p:cNvSpPr/>
          <p:nvPr/>
        </p:nvSpPr>
        <p:spPr>
          <a:xfrm>
            <a:off x="457200" y="566928"/>
            <a:ext cx="640080" cy="36576"/>
          </a:xfrm>
          <a:prstGeom prst="rect">
            <a:avLst/>
          </a:prstGeom>
          <a:solidFill>
            <a:srgbClr val="8C2029"/>
          </a:solidFill>
          <a:ln/>
        </p:spPr>
        <p:txBody>
          <a:bodyPr/>
          <a:lstStyle/>
          <a:p>
            <a:endParaRPr lang="ja-JP" altLang="en-US"/>
          </a:p>
        </p:txBody>
      </p:sp>
      <p:sp>
        <p:nvSpPr>
          <p:cNvPr id="7" name="Shape 3"/>
          <p:cNvSpPr/>
          <p:nvPr/>
        </p:nvSpPr>
        <p:spPr>
          <a:xfrm>
            <a:off x="457200" y="713232"/>
            <a:ext cx="8229600" cy="292608"/>
          </a:xfrm>
          <a:prstGeom prst="rect">
            <a:avLst/>
          </a:prstGeom>
          <a:solidFill>
            <a:srgbClr val="F2E0E0"/>
          </a:solidFill>
          <a:ln/>
        </p:spPr>
        <p:txBody>
          <a:bodyPr/>
          <a:lstStyle/>
          <a:p>
            <a:endParaRPr lang="ja-JP" altLang="en-US"/>
          </a:p>
        </p:txBody>
      </p:sp>
      <p:sp>
        <p:nvSpPr>
          <p:cNvPr id="8" name="Text 4"/>
          <p:cNvSpPr/>
          <p:nvPr/>
        </p:nvSpPr>
        <p:spPr>
          <a:xfrm>
            <a:off x="457200" y="713232"/>
            <a:ext cx="8229600" cy="292608"/>
          </a:xfrm>
          <a:prstGeom prst="rect">
            <a:avLst/>
          </a:prstGeom>
          <a:noFill/>
          <a:ln/>
        </p:spPr>
        <p:txBody>
          <a:bodyPr wrap="square" lIns="0" tIns="0" rIns="0" bIns="0" rtlCol="0" anchor="ctr"/>
          <a:lstStyle/>
          <a:p>
            <a:pPr marL="0" indent="0" algn="ctr">
              <a:buNone/>
            </a:pPr>
            <a:r>
              <a:rPr lang="en-US" sz="1200" dirty="0">
                <a:solidFill>
                  <a:srgbClr val="8C2029"/>
                </a:solidFill>
                <a:latin typeface="Yu Gothic" pitchFamily="34" charset="0"/>
                <a:ea typeface="Yu Gothic" pitchFamily="34" charset="-122"/>
                <a:cs typeface="Yu Gothic" pitchFamily="34" charset="-120"/>
              </a:rPr>
              <a:t>〜 管理職としての覚悟を決める 〜</a:t>
            </a:r>
            <a:endParaRPr lang="en-US" sz="1200" dirty="0"/>
          </a:p>
        </p:txBody>
      </p:sp>
      <p:sp>
        <p:nvSpPr>
          <p:cNvPr id="9" name="Shape 5"/>
          <p:cNvSpPr/>
          <p:nvPr/>
        </p:nvSpPr>
        <p:spPr>
          <a:xfrm>
            <a:off x="457200" y="1143000"/>
            <a:ext cx="640080" cy="256032"/>
          </a:xfrm>
          <a:prstGeom prst="rect">
            <a:avLst/>
          </a:prstGeom>
          <a:solidFill>
            <a:srgbClr val="8C2029"/>
          </a:solidFill>
          <a:ln/>
        </p:spPr>
        <p:txBody>
          <a:bodyPr/>
          <a:lstStyle/>
          <a:p>
            <a:endParaRPr lang="ja-JP" altLang="en-US"/>
          </a:p>
        </p:txBody>
      </p:sp>
      <p:sp>
        <p:nvSpPr>
          <p:cNvPr id="10" name="Text 6"/>
          <p:cNvSpPr/>
          <p:nvPr/>
        </p:nvSpPr>
        <p:spPr>
          <a:xfrm>
            <a:off x="457200" y="1143000"/>
            <a:ext cx="6400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Yu Gothic" pitchFamily="34" charset="0"/>
                <a:ea typeface="Yu Gothic" pitchFamily="34" charset="-122"/>
                <a:cs typeface="Yu Gothic" pitchFamily="34" charset="-120"/>
              </a:rPr>
              <a:t>ねらい</a:t>
            </a:r>
            <a:endParaRPr lang="en-US" sz="1100" dirty="0"/>
          </a:p>
        </p:txBody>
      </p:sp>
      <p:sp>
        <p:nvSpPr>
          <p:cNvPr id="11" name="Text 7"/>
          <p:cNvSpPr/>
          <p:nvPr/>
        </p:nvSpPr>
        <p:spPr>
          <a:xfrm>
            <a:off x="1188720" y="1143000"/>
            <a:ext cx="4572000" cy="256032"/>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研修全体の目的を共有し「管理職とは何か」を正面から問い直す。管理職としての自覚と覚悟を醸成する。</a:t>
            </a:r>
            <a:endParaRPr lang="en-US" sz="1100" dirty="0"/>
          </a:p>
        </p:txBody>
      </p:sp>
      <p:sp>
        <p:nvSpPr>
          <p:cNvPr id="12" name="Shape 8"/>
          <p:cNvSpPr/>
          <p:nvPr/>
        </p:nvSpPr>
        <p:spPr>
          <a:xfrm>
            <a:off x="6537960" y="1097280"/>
            <a:ext cx="685800" cy="685800"/>
          </a:xfrm>
          <a:prstGeom prst="ellipse">
            <a:avLst/>
          </a:prstGeom>
          <a:solidFill>
            <a:srgbClr val="8C2029"/>
          </a:solidFill>
          <a:ln/>
          <a:effectLst>
            <a:outerShdw blurRad="50800" dist="25400" dir="8100000" algn="bl" rotWithShape="0">
              <a:srgbClr val="000000">
                <a:alpha val="8000"/>
              </a:srgbClr>
            </a:outerShdw>
          </a:effectLst>
        </p:spPr>
        <p:txBody>
          <a:bodyPr/>
          <a:lstStyle/>
          <a:p>
            <a:endParaRPr lang="ja-JP" altLang="en-US"/>
          </a:p>
        </p:txBody>
      </p:sp>
      <p:pic>
        <p:nvPicPr>
          <p:cNvPr id="13" name="Image 2" descr="preencoded.png"/>
          <p:cNvPicPr>
            <a:picLocks noChangeAspect="1"/>
          </p:cNvPicPr>
          <p:nvPr/>
        </p:nvPicPr>
        <p:blipFill>
          <a:blip r:embed="rId4"/>
          <a:stretch>
            <a:fillRect/>
          </a:stretch>
        </p:blipFill>
        <p:spPr>
          <a:xfrm>
            <a:off x="6656832" y="1216152"/>
            <a:ext cx="457200" cy="457200"/>
          </a:xfrm>
          <a:prstGeom prst="rect">
            <a:avLst/>
          </a:prstGeom>
        </p:spPr>
      </p:pic>
      <p:sp>
        <p:nvSpPr>
          <p:cNvPr id="14" name="Text 9"/>
          <p:cNvSpPr/>
          <p:nvPr/>
        </p:nvSpPr>
        <p:spPr>
          <a:xfrm>
            <a:off x="457200" y="1554480"/>
            <a:ext cx="1645920" cy="228600"/>
          </a:xfrm>
          <a:prstGeom prst="rect">
            <a:avLst/>
          </a:prstGeom>
          <a:noFill/>
          <a:ln/>
        </p:spPr>
        <p:txBody>
          <a:bodyPr wrap="square" lIns="0" tIns="0" rIns="0" bIns="0" rtlCol="0" anchor="ctr"/>
          <a:lstStyle/>
          <a:p>
            <a:pPr marL="0" indent="0">
              <a:buNone/>
            </a:pPr>
            <a:r>
              <a:rPr lang="en-US" sz="1100" b="1" dirty="0">
                <a:solidFill>
                  <a:srgbClr val="8C2029"/>
                </a:solidFill>
                <a:latin typeface="Yu Gothic" pitchFamily="34" charset="0"/>
                <a:ea typeface="Yu Gothic" pitchFamily="34" charset="-122"/>
                <a:cs typeface="Yu Gothic" pitchFamily="34" charset="-120"/>
              </a:rPr>
              <a:t>主な研修内容（案）</a:t>
            </a:r>
            <a:endParaRPr lang="en-US" sz="1100" dirty="0"/>
          </a:p>
        </p:txBody>
      </p:sp>
      <p:sp>
        <p:nvSpPr>
          <p:cNvPr id="15" name="Shape 10"/>
          <p:cNvSpPr/>
          <p:nvPr/>
        </p:nvSpPr>
        <p:spPr>
          <a:xfrm>
            <a:off x="740664" y="1975104"/>
            <a:ext cx="0" cy="2304288"/>
          </a:xfrm>
          <a:prstGeom prst="line">
            <a:avLst/>
          </a:prstGeom>
          <a:noFill/>
          <a:ln w="25400">
            <a:solidFill>
              <a:srgbClr val="D4A0A5"/>
            </a:solidFill>
            <a:prstDash val="solid"/>
          </a:ln>
        </p:spPr>
        <p:txBody>
          <a:bodyPr/>
          <a:lstStyle/>
          <a:p>
            <a:endParaRPr lang="ja-JP" altLang="en-US"/>
          </a:p>
        </p:txBody>
      </p:sp>
      <p:pic>
        <p:nvPicPr>
          <p:cNvPr id="16" name="Image 3" descr="preencoded.png"/>
          <p:cNvPicPr>
            <a:picLocks noChangeAspect="1"/>
          </p:cNvPicPr>
          <p:nvPr/>
        </p:nvPicPr>
        <p:blipFill>
          <a:blip r:embed="rId5"/>
          <a:stretch>
            <a:fillRect/>
          </a:stretch>
        </p:blipFill>
        <p:spPr>
          <a:xfrm>
            <a:off x="640080" y="1874520"/>
            <a:ext cx="201168" cy="201168"/>
          </a:xfrm>
          <a:prstGeom prst="rect">
            <a:avLst/>
          </a:prstGeom>
        </p:spPr>
      </p:pic>
      <p:sp>
        <p:nvSpPr>
          <p:cNvPr id="17" name="Text 11"/>
          <p:cNvSpPr/>
          <p:nvPr/>
        </p:nvSpPr>
        <p:spPr>
          <a:xfrm>
            <a:off x="960120" y="187452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開会・社長挨拶（研修への期待表明）</a:t>
            </a:r>
            <a:endParaRPr lang="en-US" sz="1100" dirty="0"/>
          </a:p>
        </p:txBody>
      </p:sp>
      <p:pic>
        <p:nvPicPr>
          <p:cNvPr id="18" name="Image 4" descr="preencoded.png"/>
          <p:cNvPicPr>
            <a:picLocks noChangeAspect="1"/>
          </p:cNvPicPr>
          <p:nvPr/>
        </p:nvPicPr>
        <p:blipFill>
          <a:blip r:embed="rId6"/>
          <a:stretch>
            <a:fillRect/>
          </a:stretch>
        </p:blipFill>
        <p:spPr>
          <a:xfrm>
            <a:off x="640080" y="2203704"/>
            <a:ext cx="201168" cy="201168"/>
          </a:xfrm>
          <a:prstGeom prst="rect">
            <a:avLst/>
          </a:prstGeom>
        </p:spPr>
      </p:pic>
      <p:sp>
        <p:nvSpPr>
          <p:cNvPr id="19" name="Text 12"/>
          <p:cNvSpPr/>
          <p:nvPr/>
        </p:nvSpPr>
        <p:spPr>
          <a:xfrm>
            <a:off x="960120" y="2203704"/>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講師自己紹介＆研修全体像の説明</a:t>
            </a:r>
            <a:endParaRPr lang="en-US" sz="1100" dirty="0"/>
          </a:p>
        </p:txBody>
      </p:sp>
      <p:pic>
        <p:nvPicPr>
          <p:cNvPr id="20" name="Image 5" descr="preencoded.png"/>
          <p:cNvPicPr>
            <a:picLocks noChangeAspect="1"/>
          </p:cNvPicPr>
          <p:nvPr/>
        </p:nvPicPr>
        <p:blipFill>
          <a:blip r:embed="rId7"/>
          <a:stretch>
            <a:fillRect/>
          </a:stretch>
        </p:blipFill>
        <p:spPr>
          <a:xfrm>
            <a:off x="640080" y="2532888"/>
            <a:ext cx="201168" cy="201168"/>
          </a:xfrm>
          <a:prstGeom prst="rect">
            <a:avLst/>
          </a:prstGeom>
        </p:spPr>
      </p:pic>
      <p:sp>
        <p:nvSpPr>
          <p:cNvPr id="21" name="Text 13"/>
          <p:cNvSpPr/>
          <p:nvPr/>
        </p:nvSpPr>
        <p:spPr>
          <a:xfrm>
            <a:off x="960120" y="2532888"/>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学びのガイダンス（基本姿勢・ルール）</a:t>
            </a:r>
            <a:endParaRPr lang="en-US" sz="1100" dirty="0"/>
          </a:p>
        </p:txBody>
      </p:sp>
      <p:pic>
        <p:nvPicPr>
          <p:cNvPr id="22" name="Image 6" descr="preencoded.png"/>
          <p:cNvPicPr>
            <a:picLocks noChangeAspect="1"/>
          </p:cNvPicPr>
          <p:nvPr/>
        </p:nvPicPr>
        <p:blipFill>
          <a:blip r:embed="rId8"/>
          <a:stretch>
            <a:fillRect/>
          </a:stretch>
        </p:blipFill>
        <p:spPr>
          <a:xfrm>
            <a:off x="640080" y="2862072"/>
            <a:ext cx="201168" cy="201168"/>
          </a:xfrm>
          <a:prstGeom prst="rect">
            <a:avLst/>
          </a:prstGeom>
        </p:spPr>
      </p:pic>
      <p:sp>
        <p:nvSpPr>
          <p:cNvPr id="23" name="Text 14"/>
          <p:cNvSpPr/>
          <p:nvPr/>
        </p:nvSpPr>
        <p:spPr>
          <a:xfrm>
            <a:off x="960120" y="2862072"/>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チェックイン：受講生自己紹介（2分間スピーチ）</a:t>
            </a:r>
            <a:endParaRPr lang="en-US" sz="1100" dirty="0"/>
          </a:p>
        </p:txBody>
      </p:sp>
      <p:pic>
        <p:nvPicPr>
          <p:cNvPr id="24" name="Image 7" descr="preencoded.png"/>
          <p:cNvPicPr>
            <a:picLocks noChangeAspect="1"/>
          </p:cNvPicPr>
          <p:nvPr/>
        </p:nvPicPr>
        <p:blipFill>
          <a:blip r:embed="rId9"/>
          <a:stretch>
            <a:fillRect/>
          </a:stretch>
        </p:blipFill>
        <p:spPr>
          <a:xfrm>
            <a:off x="640080" y="3191256"/>
            <a:ext cx="201168" cy="201168"/>
          </a:xfrm>
          <a:prstGeom prst="rect">
            <a:avLst/>
          </a:prstGeom>
        </p:spPr>
      </p:pic>
      <p:sp>
        <p:nvSpPr>
          <p:cNvPr id="25" name="Text 15"/>
          <p:cNvSpPr/>
          <p:nvPr/>
        </p:nvSpPr>
        <p:spPr>
          <a:xfrm>
            <a:off x="960120" y="3191256"/>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チームビルディング：チームフラッグ作成</a:t>
            </a:r>
            <a:endParaRPr lang="en-US" sz="1100" dirty="0"/>
          </a:p>
        </p:txBody>
      </p:sp>
      <p:pic>
        <p:nvPicPr>
          <p:cNvPr id="26" name="Image 8" descr="preencoded.png"/>
          <p:cNvPicPr>
            <a:picLocks noChangeAspect="1"/>
          </p:cNvPicPr>
          <p:nvPr/>
        </p:nvPicPr>
        <p:blipFill>
          <a:blip r:embed="rId10"/>
          <a:stretch>
            <a:fillRect/>
          </a:stretch>
        </p:blipFill>
        <p:spPr>
          <a:xfrm>
            <a:off x="640080" y="3520440"/>
            <a:ext cx="201168" cy="201168"/>
          </a:xfrm>
          <a:prstGeom prst="rect">
            <a:avLst/>
          </a:prstGeom>
        </p:spPr>
      </p:pic>
      <p:sp>
        <p:nvSpPr>
          <p:cNvPr id="27" name="Text 16"/>
          <p:cNvSpPr/>
          <p:nvPr/>
        </p:nvSpPr>
        <p:spPr>
          <a:xfrm>
            <a:off x="960120" y="352044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管理職の役割とは何か？（講義＋GW）</a:t>
            </a:r>
            <a:endParaRPr lang="en-US" sz="1100" dirty="0"/>
          </a:p>
        </p:txBody>
      </p:sp>
      <p:pic>
        <p:nvPicPr>
          <p:cNvPr id="28" name="Image 9" descr="preencoded.png"/>
          <p:cNvPicPr>
            <a:picLocks noChangeAspect="1"/>
          </p:cNvPicPr>
          <p:nvPr/>
        </p:nvPicPr>
        <p:blipFill>
          <a:blip r:embed="rId11"/>
          <a:stretch>
            <a:fillRect/>
          </a:stretch>
        </p:blipFill>
        <p:spPr>
          <a:xfrm>
            <a:off x="640080" y="3849624"/>
            <a:ext cx="201168" cy="201168"/>
          </a:xfrm>
          <a:prstGeom prst="rect">
            <a:avLst/>
          </a:prstGeom>
        </p:spPr>
      </p:pic>
      <p:sp>
        <p:nvSpPr>
          <p:cNvPr id="29" name="Text 17"/>
          <p:cNvSpPr/>
          <p:nvPr/>
        </p:nvSpPr>
        <p:spPr>
          <a:xfrm>
            <a:off x="960120" y="3849624"/>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目標行動設定シートの説明＆記入</a:t>
            </a:r>
            <a:endParaRPr lang="en-US" sz="1100" dirty="0"/>
          </a:p>
        </p:txBody>
      </p:sp>
      <p:pic>
        <p:nvPicPr>
          <p:cNvPr id="30" name="Image 10" descr="preencoded.png"/>
          <p:cNvPicPr>
            <a:picLocks noChangeAspect="1"/>
          </p:cNvPicPr>
          <p:nvPr/>
        </p:nvPicPr>
        <p:blipFill>
          <a:blip r:embed="rId12"/>
          <a:stretch>
            <a:fillRect/>
          </a:stretch>
        </p:blipFill>
        <p:spPr>
          <a:xfrm>
            <a:off x="640080" y="4178808"/>
            <a:ext cx="201168" cy="201168"/>
          </a:xfrm>
          <a:prstGeom prst="rect">
            <a:avLst/>
          </a:prstGeom>
        </p:spPr>
      </p:pic>
      <p:sp>
        <p:nvSpPr>
          <p:cNvPr id="31" name="Text 18"/>
          <p:cNvSpPr/>
          <p:nvPr/>
        </p:nvSpPr>
        <p:spPr>
          <a:xfrm>
            <a:off x="960120" y="4178808"/>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振り返り＆次回までの課題説明</a:t>
            </a:r>
            <a:endParaRPr lang="en-US" sz="1100" dirty="0"/>
          </a:p>
        </p:txBody>
      </p:sp>
      <p:sp>
        <p:nvSpPr>
          <p:cNvPr id="32" name="Shape 19"/>
          <p:cNvSpPr/>
          <p:nvPr/>
        </p:nvSpPr>
        <p:spPr>
          <a:xfrm>
            <a:off x="5852160" y="1965960"/>
            <a:ext cx="2880360" cy="1261870"/>
          </a:xfrm>
          <a:prstGeom prst="rect">
            <a:avLst/>
          </a:prstGeom>
          <a:solidFill>
            <a:srgbClr val="F9ECEE"/>
          </a:solidFill>
          <a:ln w="6350">
            <a:solidFill>
              <a:srgbClr val="D4A0A5"/>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33" name="Shape 20"/>
          <p:cNvSpPr/>
          <p:nvPr/>
        </p:nvSpPr>
        <p:spPr>
          <a:xfrm>
            <a:off x="5852160" y="1965960"/>
            <a:ext cx="2880360" cy="320040"/>
          </a:xfrm>
          <a:prstGeom prst="rect">
            <a:avLst/>
          </a:prstGeom>
          <a:solidFill>
            <a:srgbClr val="6B1520"/>
          </a:solidFill>
          <a:ln/>
        </p:spPr>
        <p:txBody>
          <a:bodyPr/>
          <a:lstStyle/>
          <a:p>
            <a:endParaRPr lang="ja-JP" altLang="en-US"/>
          </a:p>
        </p:txBody>
      </p:sp>
      <p:pic>
        <p:nvPicPr>
          <p:cNvPr id="34" name="Image 11" descr="preencoded.png"/>
          <p:cNvPicPr>
            <a:picLocks noChangeAspect="1"/>
          </p:cNvPicPr>
          <p:nvPr/>
        </p:nvPicPr>
        <p:blipFill>
          <a:blip r:embed="rId13"/>
          <a:stretch>
            <a:fillRect/>
          </a:stretch>
        </p:blipFill>
        <p:spPr>
          <a:xfrm>
            <a:off x="5989320" y="2011680"/>
            <a:ext cx="228600" cy="228600"/>
          </a:xfrm>
          <a:prstGeom prst="rect">
            <a:avLst/>
          </a:prstGeom>
        </p:spPr>
      </p:pic>
      <p:sp>
        <p:nvSpPr>
          <p:cNvPr id="35" name="Text 21"/>
          <p:cNvSpPr/>
          <p:nvPr/>
        </p:nvSpPr>
        <p:spPr>
          <a:xfrm>
            <a:off x="6263640" y="1965960"/>
            <a:ext cx="1828800" cy="320040"/>
          </a:xfrm>
          <a:prstGeom prst="rect">
            <a:avLst/>
          </a:prstGeom>
          <a:noFill/>
          <a:ln/>
        </p:spPr>
        <p:txBody>
          <a:bodyPr wrap="square" lIns="0" tIns="0" rIns="0" bIns="0" rtlCol="0" anchor="ctr"/>
          <a:lstStyle/>
          <a:p>
            <a:pPr marL="0" indent="0">
              <a:buNone/>
            </a:pPr>
            <a:r>
              <a:rPr lang="en-US" sz="1300" b="1" dirty="0">
                <a:solidFill>
                  <a:srgbClr val="FFFFFF"/>
                </a:solidFill>
                <a:latin typeface="Yu Gothic" pitchFamily="34" charset="0"/>
                <a:ea typeface="Yu Gothic" pitchFamily="34" charset="-122"/>
                <a:cs typeface="Yu Gothic" pitchFamily="34" charset="-120"/>
              </a:rPr>
              <a:t>上司連動</a:t>
            </a:r>
            <a:endParaRPr lang="en-US" sz="1300" dirty="0"/>
          </a:p>
        </p:txBody>
      </p:sp>
      <p:sp>
        <p:nvSpPr>
          <p:cNvPr id="36" name="Text 22"/>
          <p:cNvSpPr/>
          <p:nvPr/>
        </p:nvSpPr>
        <p:spPr>
          <a:xfrm>
            <a:off x="6035040" y="2423160"/>
            <a:ext cx="2514600" cy="1828800"/>
          </a:xfrm>
          <a:prstGeom prst="rect">
            <a:avLst/>
          </a:prstGeom>
          <a:noFill/>
          <a:ln/>
        </p:spPr>
        <p:txBody>
          <a:bodyPr wrap="square" lIns="0" tIns="0" rIns="0" bIns="0" rtlCol="0" anchor="t"/>
          <a:lstStyle/>
          <a:p>
            <a:pPr marL="0" indent="0">
              <a:spcAft>
                <a:spcPts val="600"/>
              </a:spcAft>
              <a:buNone/>
            </a:pPr>
            <a:r>
              <a:rPr lang="en-US" sz="1200" dirty="0">
                <a:solidFill>
                  <a:srgbClr val="5A1018"/>
                </a:solidFill>
                <a:latin typeface="Yu Gothic" pitchFamily="34" charset="0"/>
                <a:ea typeface="Yu Gothic" pitchFamily="34" charset="-122"/>
                <a:cs typeface="Yu Gothic" pitchFamily="34" charset="-120"/>
              </a:rPr>
              <a:t>社長から研修への期待を直接表明。管理職行動基準を共有し「何を期待しているか」を明確に伝える場とする。</a:t>
            </a:r>
            <a:endParaRPr lang="en-US" sz="1200" dirty="0"/>
          </a:p>
        </p:txBody>
      </p:sp>
      <p:sp>
        <p:nvSpPr>
          <p:cNvPr id="37" name="Shape 23"/>
          <p:cNvSpPr/>
          <p:nvPr/>
        </p:nvSpPr>
        <p:spPr>
          <a:xfrm>
            <a:off x="274320" y="4617720"/>
            <a:ext cx="8595360" cy="0"/>
          </a:xfrm>
          <a:prstGeom prst="line">
            <a:avLst/>
          </a:prstGeom>
          <a:noFill/>
          <a:ln w="12700">
            <a:solidFill>
              <a:srgbClr val="8C2029"/>
            </a:solidFill>
            <a:prstDash val="dash"/>
          </a:ln>
        </p:spPr>
        <p:txBody>
          <a:bodyPr/>
          <a:lstStyle/>
          <a:p>
            <a:endParaRPr lang="ja-JP" altLang="en-US"/>
          </a:p>
        </p:txBody>
      </p:sp>
      <p:sp>
        <p:nvSpPr>
          <p:cNvPr id="38" name="Text 24"/>
          <p:cNvSpPr/>
          <p:nvPr/>
        </p:nvSpPr>
        <p:spPr>
          <a:xfrm>
            <a:off x="5943600" y="4663440"/>
            <a:ext cx="2743200" cy="274320"/>
          </a:xfrm>
          <a:prstGeom prst="rect">
            <a:avLst/>
          </a:prstGeom>
          <a:noFill/>
          <a:ln/>
        </p:spPr>
        <p:txBody>
          <a:bodyPr wrap="square" lIns="0" tIns="0" rIns="0" bIns="0"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C2029"/>
          </a:solidFill>
          <a:ln/>
        </p:spPr>
        <p:txBody>
          <a:bodyPr/>
          <a:lstStyle/>
          <a:p>
            <a:endParaRPr lang="ja-JP" altLang="en-US"/>
          </a:p>
        </p:txBody>
      </p:sp>
      <p:pic>
        <p:nvPicPr>
          <p:cNvPr id="3" name="Image 0" descr="/sessions/cool-intelligent-bohr/logo_icon.jpeg"/>
          <p:cNvPicPr>
            <a:picLocks noChangeAspect="1"/>
          </p:cNvPicPr>
          <p:nvPr/>
        </p:nvPicPr>
        <p:blipFill>
          <a:blip r:embed="rId2"/>
          <a:stretch>
            <a:fillRect/>
          </a:stretch>
        </p:blipFill>
        <p:spPr>
          <a:xfrm>
            <a:off x="7498080" y="109728"/>
            <a:ext cx="182880" cy="182880"/>
          </a:xfrm>
          <a:prstGeom prst="rect">
            <a:avLst/>
          </a:prstGeom>
        </p:spPr>
      </p:pic>
      <p:pic>
        <p:nvPicPr>
          <p:cNvPr id="4" name="Image 1" descr="/sessions/cool-intelligent-bohr/logo_text.jpeg"/>
          <p:cNvPicPr>
            <a:picLocks noChangeAspect="1"/>
          </p:cNvPicPr>
          <p:nvPr/>
        </p:nvPicPr>
        <p:blipFill>
          <a:blip r:embed="rId3"/>
          <a:stretch>
            <a:fillRect/>
          </a:stretch>
        </p:blipFill>
        <p:spPr>
          <a:xfrm>
            <a:off x="7726680" y="128016"/>
            <a:ext cx="1097280" cy="146304"/>
          </a:xfrm>
          <a:prstGeom prst="rect">
            <a:avLst/>
          </a:prstGeom>
        </p:spPr>
      </p:pic>
      <p:sp>
        <p:nvSpPr>
          <p:cNvPr id="5" name="Text 1"/>
          <p:cNvSpPr/>
          <p:nvPr/>
        </p:nvSpPr>
        <p:spPr>
          <a:xfrm>
            <a:off x="457200" y="137160"/>
            <a:ext cx="6858000" cy="411480"/>
          </a:xfrm>
          <a:prstGeom prst="rect">
            <a:avLst/>
          </a:prstGeom>
          <a:noFill/>
          <a:ln/>
        </p:spPr>
        <p:txBody>
          <a:bodyPr wrap="square" lIns="0" tIns="0" rIns="0" bIns="0" rtlCol="0" anchor="ctr"/>
          <a:lstStyle/>
          <a:p>
            <a:pPr marL="0" indent="0">
              <a:buNone/>
            </a:pPr>
            <a:r>
              <a:rPr lang="en-US" sz="1300" b="1" dirty="0">
                <a:solidFill>
                  <a:srgbClr val="8C2029"/>
                </a:solidFill>
                <a:latin typeface="Arial" pitchFamily="34" charset="0"/>
                <a:ea typeface="Arial" pitchFamily="34" charset="-122"/>
                <a:cs typeface="Arial" pitchFamily="34" charset="-120"/>
              </a:rPr>
              <a:t>Session 2</a:t>
            </a:r>
            <a:r>
              <a:rPr lang="en-US" sz="2000" b="1" dirty="0">
                <a:solidFill>
                  <a:srgbClr val="333333"/>
                </a:solidFill>
                <a:latin typeface="Yu Gothic" pitchFamily="34" charset="0"/>
                <a:ea typeface="Yu Gothic" pitchFamily="34" charset="-122"/>
                <a:cs typeface="Yu Gothic" pitchFamily="34" charset="-120"/>
              </a:rPr>
              <a:t>：自己理解を深める（MBTI）</a:t>
            </a:r>
            <a:endParaRPr lang="en-US" sz="1300" dirty="0"/>
          </a:p>
        </p:txBody>
      </p:sp>
      <p:sp>
        <p:nvSpPr>
          <p:cNvPr id="6" name="Shape 2"/>
          <p:cNvSpPr/>
          <p:nvPr/>
        </p:nvSpPr>
        <p:spPr>
          <a:xfrm>
            <a:off x="457200" y="566928"/>
            <a:ext cx="640080" cy="36576"/>
          </a:xfrm>
          <a:prstGeom prst="rect">
            <a:avLst/>
          </a:prstGeom>
          <a:solidFill>
            <a:srgbClr val="8C2029"/>
          </a:solidFill>
          <a:ln/>
        </p:spPr>
        <p:txBody>
          <a:bodyPr/>
          <a:lstStyle/>
          <a:p>
            <a:endParaRPr lang="ja-JP" altLang="en-US"/>
          </a:p>
        </p:txBody>
      </p:sp>
      <p:sp>
        <p:nvSpPr>
          <p:cNvPr id="7" name="Shape 3"/>
          <p:cNvSpPr/>
          <p:nvPr/>
        </p:nvSpPr>
        <p:spPr>
          <a:xfrm>
            <a:off x="457200" y="713232"/>
            <a:ext cx="8229600" cy="292608"/>
          </a:xfrm>
          <a:prstGeom prst="rect">
            <a:avLst/>
          </a:prstGeom>
          <a:solidFill>
            <a:srgbClr val="F2E0E0"/>
          </a:solidFill>
          <a:ln/>
        </p:spPr>
        <p:txBody>
          <a:bodyPr/>
          <a:lstStyle/>
          <a:p>
            <a:endParaRPr lang="ja-JP" altLang="en-US"/>
          </a:p>
        </p:txBody>
      </p:sp>
      <p:sp>
        <p:nvSpPr>
          <p:cNvPr id="8" name="Text 4"/>
          <p:cNvSpPr/>
          <p:nvPr/>
        </p:nvSpPr>
        <p:spPr>
          <a:xfrm>
            <a:off x="457200" y="713232"/>
            <a:ext cx="8229600" cy="292608"/>
          </a:xfrm>
          <a:prstGeom prst="rect">
            <a:avLst/>
          </a:prstGeom>
          <a:noFill/>
          <a:ln/>
        </p:spPr>
        <p:txBody>
          <a:bodyPr wrap="square" lIns="0" tIns="0" rIns="0" bIns="0" rtlCol="0" anchor="ctr"/>
          <a:lstStyle/>
          <a:p>
            <a:pPr marL="0" indent="0" algn="ctr">
              <a:buNone/>
            </a:pPr>
            <a:r>
              <a:rPr lang="en-US" sz="1200" dirty="0">
                <a:solidFill>
                  <a:srgbClr val="8C2029"/>
                </a:solidFill>
                <a:latin typeface="Yu Gothic" pitchFamily="34" charset="0"/>
                <a:ea typeface="Yu Gothic" pitchFamily="34" charset="-122"/>
                <a:cs typeface="Yu Gothic" pitchFamily="34" charset="-120"/>
              </a:rPr>
              <a:t>〜 自分を知り、他者を理解する 〜</a:t>
            </a:r>
            <a:endParaRPr lang="en-US" sz="1200" dirty="0"/>
          </a:p>
        </p:txBody>
      </p:sp>
      <p:sp>
        <p:nvSpPr>
          <p:cNvPr id="9" name="Shape 5"/>
          <p:cNvSpPr/>
          <p:nvPr/>
        </p:nvSpPr>
        <p:spPr>
          <a:xfrm>
            <a:off x="457200" y="1143000"/>
            <a:ext cx="640080" cy="256032"/>
          </a:xfrm>
          <a:prstGeom prst="rect">
            <a:avLst/>
          </a:prstGeom>
          <a:solidFill>
            <a:srgbClr val="8C2029"/>
          </a:solidFill>
          <a:ln/>
        </p:spPr>
        <p:txBody>
          <a:bodyPr/>
          <a:lstStyle/>
          <a:p>
            <a:endParaRPr lang="ja-JP" altLang="en-US"/>
          </a:p>
        </p:txBody>
      </p:sp>
      <p:sp>
        <p:nvSpPr>
          <p:cNvPr id="10" name="Text 6"/>
          <p:cNvSpPr/>
          <p:nvPr/>
        </p:nvSpPr>
        <p:spPr>
          <a:xfrm>
            <a:off x="457200" y="1143000"/>
            <a:ext cx="6400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Yu Gothic" pitchFamily="34" charset="0"/>
                <a:ea typeface="Yu Gothic" pitchFamily="34" charset="-122"/>
                <a:cs typeface="Yu Gothic" pitchFamily="34" charset="-120"/>
              </a:rPr>
              <a:t>ねらい</a:t>
            </a:r>
            <a:endParaRPr lang="en-US" sz="1100" dirty="0"/>
          </a:p>
        </p:txBody>
      </p:sp>
      <p:sp>
        <p:nvSpPr>
          <p:cNvPr id="11" name="Text 7"/>
          <p:cNvSpPr/>
          <p:nvPr/>
        </p:nvSpPr>
        <p:spPr>
          <a:xfrm>
            <a:off x="1188720" y="1097280"/>
            <a:ext cx="5468112" cy="38404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MBTI※を通じて自分の性格タイプを客観的に把握し、自己理解と他者理解を深める。</a:t>
            </a:r>
            <a:endParaRPr lang="en-US" sz="1100" dirty="0"/>
          </a:p>
          <a:p>
            <a:pPr marL="0" indent="0">
              <a:buNone/>
            </a:pPr>
            <a:r>
              <a:rPr lang="en-US" sz="900" i="1" dirty="0">
                <a:solidFill>
                  <a:srgbClr val="777777"/>
                </a:solidFill>
                <a:latin typeface="Yu Gothic" pitchFamily="34" charset="0"/>
                <a:ea typeface="Yu Gothic" pitchFamily="34" charset="-122"/>
                <a:cs typeface="Yu Gothic" pitchFamily="34" charset="-120"/>
              </a:rPr>
              <a:t>※MBTI：世界的に活用されている性格タイプ指標。自己の強みや対人傾向を客観的に理解するツール。</a:t>
            </a:r>
            <a:endParaRPr lang="en-US" sz="1100" dirty="0"/>
          </a:p>
        </p:txBody>
      </p:sp>
      <p:sp>
        <p:nvSpPr>
          <p:cNvPr id="12" name="Shape 8"/>
          <p:cNvSpPr/>
          <p:nvPr/>
        </p:nvSpPr>
        <p:spPr>
          <a:xfrm>
            <a:off x="6537960" y="1097280"/>
            <a:ext cx="685800" cy="685800"/>
          </a:xfrm>
          <a:prstGeom prst="ellipse">
            <a:avLst/>
          </a:prstGeom>
          <a:solidFill>
            <a:srgbClr val="8C2029"/>
          </a:solidFill>
          <a:ln/>
          <a:effectLst>
            <a:outerShdw blurRad="50800" dist="25400" dir="8100000" algn="bl" rotWithShape="0">
              <a:srgbClr val="000000">
                <a:alpha val="8000"/>
              </a:srgbClr>
            </a:outerShdw>
          </a:effectLst>
        </p:spPr>
        <p:txBody>
          <a:bodyPr/>
          <a:lstStyle/>
          <a:p>
            <a:endParaRPr lang="ja-JP" altLang="en-US"/>
          </a:p>
        </p:txBody>
      </p:sp>
      <p:pic>
        <p:nvPicPr>
          <p:cNvPr id="13" name="Image 2" descr="preencoded.png"/>
          <p:cNvPicPr>
            <a:picLocks noChangeAspect="1"/>
          </p:cNvPicPr>
          <p:nvPr/>
        </p:nvPicPr>
        <p:blipFill>
          <a:blip r:embed="rId4"/>
          <a:stretch>
            <a:fillRect/>
          </a:stretch>
        </p:blipFill>
        <p:spPr>
          <a:xfrm>
            <a:off x="6656832" y="1216152"/>
            <a:ext cx="457200" cy="457200"/>
          </a:xfrm>
          <a:prstGeom prst="rect">
            <a:avLst/>
          </a:prstGeom>
        </p:spPr>
      </p:pic>
      <p:sp>
        <p:nvSpPr>
          <p:cNvPr id="14" name="Text 9"/>
          <p:cNvSpPr/>
          <p:nvPr/>
        </p:nvSpPr>
        <p:spPr>
          <a:xfrm>
            <a:off x="457200" y="1554480"/>
            <a:ext cx="1645920" cy="228600"/>
          </a:xfrm>
          <a:prstGeom prst="rect">
            <a:avLst/>
          </a:prstGeom>
          <a:noFill/>
          <a:ln/>
        </p:spPr>
        <p:txBody>
          <a:bodyPr wrap="square" lIns="0" tIns="0" rIns="0" bIns="0" rtlCol="0" anchor="ctr"/>
          <a:lstStyle/>
          <a:p>
            <a:pPr marL="0" indent="0">
              <a:buNone/>
            </a:pPr>
            <a:r>
              <a:rPr lang="en-US" sz="1100" b="1" dirty="0">
                <a:solidFill>
                  <a:srgbClr val="8C2029"/>
                </a:solidFill>
                <a:latin typeface="Yu Gothic" pitchFamily="34" charset="0"/>
                <a:ea typeface="Yu Gothic" pitchFamily="34" charset="-122"/>
                <a:cs typeface="Yu Gothic" pitchFamily="34" charset="-120"/>
              </a:rPr>
              <a:t>主な研修内容（案）</a:t>
            </a:r>
            <a:endParaRPr lang="en-US" sz="1100" dirty="0"/>
          </a:p>
        </p:txBody>
      </p:sp>
      <p:sp>
        <p:nvSpPr>
          <p:cNvPr id="15" name="Shape 10"/>
          <p:cNvSpPr/>
          <p:nvPr/>
        </p:nvSpPr>
        <p:spPr>
          <a:xfrm>
            <a:off x="740664" y="1975104"/>
            <a:ext cx="0" cy="1920240"/>
          </a:xfrm>
          <a:prstGeom prst="line">
            <a:avLst/>
          </a:prstGeom>
          <a:noFill/>
          <a:ln w="25400">
            <a:solidFill>
              <a:srgbClr val="D4A0A5"/>
            </a:solidFill>
            <a:prstDash val="solid"/>
          </a:ln>
        </p:spPr>
        <p:txBody>
          <a:bodyPr/>
          <a:lstStyle/>
          <a:p>
            <a:endParaRPr lang="ja-JP" altLang="en-US"/>
          </a:p>
        </p:txBody>
      </p:sp>
      <p:pic>
        <p:nvPicPr>
          <p:cNvPr id="16" name="Image 3" descr="preencoded.png"/>
          <p:cNvPicPr>
            <a:picLocks noChangeAspect="1"/>
          </p:cNvPicPr>
          <p:nvPr/>
        </p:nvPicPr>
        <p:blipFill>
          <a:blip r:embed="rId5"/>
          <a:stretch>
            <a:fillRect/>
          </a:stretch>
        </p:blipFill>
        <p:spPr>
          <a:xfrm>
            <a:off x="640080" y="1874520"/>
            <a:ext cx="201168" cy="201168"/>
          </a:xfrm>
          <a:prstGeom prst="rect">
            <a:avLst/>
          </a:prstGeom>
        </p:spPr>
      </p:pic>
      <p:sp>
        <p:nvSpPr>
          <p:cNvPr id="17" name="Text 11"/>
          <p:cNvSpPr/>
          <p:nvPr/>
        </p:nvSpPr>
        <p:spPr>
          <a:xfrm>
            <a:off x="960120" y="187452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振り返り・活動報告シェア</a:t>
            </a:r>
            <a:endParaRPr lang="en-US" sz="1100" dirty="0"/>
          </a:p>
        </p:txBody>
      </p:sp>
      <p:pic>
        <p:nvPicPr>
          <p:cNvPr id="18" name="Image 4" descr="preencoded.png"/>
          <p:cNvPicPr>
            <a:picLocks noChangeAspect="1"/>
          </p:cNvPicPr>
          <p:nvPr/>
        </p:nvPicPr>
        <p:blipFill>
          <a:blip r:embed="rId6"/>
          <a:stretch>
            <a:fillRect/>
          </a:stretch>
        </p:blipFill>
        <p:spPr>
          <a:xfrm>
            <a:off x="640080" y="2258568"/>
            <a:ext cx="201168" cy="201168"/>
          </a:xfrm>
          <a:prstGeom prst="rect">
            <a:avLst/>
          </a:prstGeom>
        </p:spPr>
      </p:pic>
      <p:sp>
        <p:nvSpPr>
          <p:cNvPr id="19" name="Text 12"/>
          <p:cNvSpPr/>
          <p:nvPr/>
        </p:nvSpPr>
        <p:spPr>
          <a:xfrm>
            <a:off x="960120" y="2258568"/>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MBTIとは何か？（解説・結果返却）</a:t>
            </a:r>
            <a:endParaRPr lang="en-US" sz="1100" dirty="0"/>
          </a:p>
        </p:txBody>
      </p:sp>
      <p:pic>
        <p:nvPicPr>
          <p:cNvPr id="20" name="Image 5" descr="preencoded.png"/>
          <p:cNvPicPr>
            <a:picLocks noChangeAspect="1"/>
          </p:cNvPicPr>
          <p:nvPr/>
        </p:nvPicPr>
        <p:blipFill>
          <a:blip r:embed="rId7"/>
          <a:stretch>
            <a:fillRect/>
          </a:stretch>
        </p:blipFill>
        <p:spPr>
          <a:xfrm>
            <a:off x="640080" y="2642616"/>
            <a:ext cx="201168" cy="201168"/>
          </a:xfrm>
          <a:prstGeom prst="rect">
            <a:avLst/>
          </a:prstGeom>
        </p:spPr>
      </p:pic>
      <p:sp>
        <p:nvSpPr>
          <p:cNvPr id="21" name="Text 13"/>
          <p:cNvSpPr/>
          <p:nvPr/>
        </p:nvSpPr>
        <p:spPr>
          <a:xfrm>
            <a:off x="960120" y="2642616"/>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4つの指向の体験ワーク（E/I, S/N, T/F, J/P）</a:t>
            </a:r>
            <a:endParaRPr lang="en-US" sz="1100" dirty="0"/>
          </a:p>
        </p:txBody>
      </p:sp>
      <p:pic>
        <p:nvPicPr>
          <p:cNvPr id="22" name="Image 6" descr="preencoded.png"/>
          <p:cNvPicPr>
            <a:picLocks noChangeAspect="1"/>
          </p:cNvPicPr>
          <p:nvPr/>
        </p:nvPicPr>
        <p:blipFill>
          <a:blip r:embed="rId8"/>
          <a:stretch>
            <a:fillRect/>
          </a:stretch>
        </p:blipFill>
        <p:spPr>
          <a:xfrm>
            <a:off x="640080" y="3026664"/>
            <a:ext cx="201168" cy="201168"/>
          </a:xfrm>
          <a:prstGeom prst="rect">
            <a:avLst/>
          </a:prstGeom>
        </p:spPr>
      </p:pic>
      <p:sp>
        <p:nvSpPr>
          <p:cNvPr id="23" name="Text 14"/>
          <p:cNvSpPr/>
          <p:nvPr/>
        </p:nvSpPr>
        <p:spPr>
          <a:xfrm>
            <a:off x="960120" y="3026664"/>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タイプ確定・個別フォロー</a:t>
            </a:r>
            <a:endParaRPr lang="en-US" sz="1100" dirty="0"/>
          </a:p>
        </p:txBody>
      </p:sp>
      <p:pic>
        <p:nvPicPr>
          <p:cNvPr id="24" name="Image 7" descr="preencoded.png"/>
          <p:cNvPicPr>
            <a:picLocks noChangeAspect="1"/>
          </p:cNvPicPr>
          <p:nvPr/>
        </p:nvPicPr>
        <p:blipFill>
          <a:blip r:embed="rId9"/>
          <a:stretch>
            <a:fillRect/>
          </a:stretch>
        </p:blipFill>
        <p:spPr>
          <a:xfrm>
            <a:off x="640080" y="3410712"/>
            <a:ext cx="201168" cy="201168"/>
          </a:xfrm>
          <a:prstGeom prst="rect">
            <a:avLst/>
          </a:prstGeom>
        </p:spPr>
      </p:pic>
      <p:sp>
        <p:nvSpPr>
          <p:cNvPr id="25" name="Text 15"/>
          <p:cNvSpPr/>
          <p:nvPr/>
        </p:nvSpPr>
        <p:spPr>
          <a:xfrm>
            <a:off x="960120" y="3410712"/>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職場への活かし方（部下との関わりへの示唆）</a:t>
            </a:r>
            <a:endParaRPr lang="en-US" sz="1100" dirty="0"/>
          </a:p>
        </p:txBody>
      </p:sp>
      <p:pic>
        <p:nvPicPr>
          <p:cNvPr id="26" name="Image 8" descr="preencoded.png"/>
          <p:cNvPicPr>
            <a:picLocks noChangeAspect="1"/>
          </p:cNvPicPr>
          <p:nvPr/>
        </p:nvPicPr>
        <p:blipFill>
          <a:blip r:embed="rId10"/>
          <a:stretch>
            <a:fillRect/>
          </a:stretch>
        </p:blipFill>
        <p:spPr>
          <a:xfrm>
            <a:off x="640080" y="3794760"/>
            <a:ext cx="201168" cy="201168"/>
          </a:xfrm>
          <a:prstGeom prst="rect">
            <a:avLst/>
          </a:prstGeom>
        </p:spPr>
      </p:pic>
      <p:sp>
        <p:nvSpPr>
          <p:cNvPr id="27" name="Text 16"/>
          <p:cNvSpPr/>
          <p:nvPr/>
        </p:nvSpPr>
        <p:spPr>
          <a:xfrm>
            <a:off x="960120" y="379476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全体振り返り＆チェックアウト</a:t>
            </a:r>
            <a:endParaRPr lang="en-US" sz="1100" dirty="0"/>
          </a:p>
        </p:txBody>
      </p:sp>
      <p:sp>
        <p:nvSpPr>
          <p:cNvPr id="28" name="Shape 17"/>
          <p:cNvSpPr/>
          <p:nvPr/>
        </p:nvSpPr>
        <p:spPr>
          <a:xfrm>
            <a:off x="5852160" y="1965960"/>
            <a:ext cx="2880360" cy="1261871"/>
          </a:xfrm>
          <a:prstGeom prst="rect">
            <a:avLst/>
          </a:prstGeom>
          <a:solidFill>
            <a:srgbClr val="F9ECEE"/>
          </a:solidFill>
          <a:ln w="6350">
            <a:solidFill>
              <a:srgbClr val="D4A0A5"/>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29" name="Shape 18"/>
          <p:cNvSpPr/>
          <p:nvPr/>
        </p:nvSpPr>
        <p:spPr>
          <a:xfrm>
            <a:off x="5852160" y="1965960"/>
            <a:ext cx="2880360" cy="320040"/>
          </a:xfrm>
          <a:prstGeom prst="rect">
            <a:avLst/>
          </a:prstGeom>
          <a:solidFill>
            <a:srgbClr val="6B1520"/>
          </a:solidFill>
          <a:ln/>
        </p:spPr>
        <p:txBody>
          <a:bodyPr/>
          <a:lstStyle/>
          <a:p>
            <a:endParaRPr lang="ja-JP" altLang="en-US"/>
          </a:p>
        </p:txBody>
      </p:sp>
      <p:pic>
        <p:nvPicPr>
          <p:cNvPr id="30" name="Image 9" descr="preencoded.png"/>
          <p:cNvPicPr>
            <a:picLocks noChangeAspect="1"/>
          </p:cNvPicPr>
          <p:nvPr/>
        </p:nvPicPr>
        <p:blipFill>
          <a:blip r:embed="rId11"/>
          <a:stretch>
            <a:fillRect/>
          </a:stretch>
        </p:blipFill>
        <p:spPr>
          <a:xfrm>
            <a:off x="5989320" y="2011680"/>
            <a:ext cx="228600" cy="228600"/>
          </a:xfrm>
          <a:prstGeom prst="rect">
            <a:avLst/>
          </a:prstGeom>
        </p:spPr>
      </p:pic>
      <p:sp>
        <p:nvSpPr>
          <p:cNvPr id="31" name="Text 19"/>
          <p:cNvSpPr/>
          <p:nvPr/>
        </p:nvSpPr>
        <p:spPr>
          <a:xfrm>
            <a:off x="6263640" y="1965960"/>
            <a:ext cx="1828800" cy="320040"/>
          </a:xfrm>
          <a:prstGeom prst="rect">
            <a:avLst/>
          </a:prstGeom>
          <a:noFill/>
          <a:ln/>
        </p:spPr>
        <p:txBody>
          <a:bodyPr wrap="square" lIns="0" tIns="0" rIns="0" bIns="0" rtlCol="0" anchor="ctr"/>
          <a:lstStyle/>
          <a:p>
            <a:pPr marL="0" indent="0">
              <a:buNone/>
            </a:pPr>
            <a:r>
              <a:rPr lang="en-US" sz="1300" b="1" dirty="0">
                <a:solidFill>
                  <a:srgbClr val="FFFFFF"/>
                </a:solidFill>
                <a:latin typeface="Yu Gothic" pitchFamily="34" charset="0"/>
                <a:ea typeface="Yu Gothic" pitchFamily="34" charset="-122"/>
                <a:cs typeface="Yu Gothic" pitchFamily="34" charset="-120"/>
              </a:rPr>
              <a:t>上司連動</a:t>
            </a:r>
            <a:endParaRPr lang="en-US" sz="1300" dirty="0"/>
          </a:p>
        </p:txBody>
      </p:sp>
      <p:sp>
        <p:nvSpPr>
          <p:cNvPr id="32" name="Text 20"/>
          <p:cNvSpPr/>
          <p:nvPr/>
        </p:nvSpPr>
        <p:spPr>
          <a:xfrm>
            <a:off x="6035040" y="2423160"/>
            <a:ext cx="2514600" cy="1828800"/>
          </a:xfrm>
          <a:prstGeom prst="rect">
            <a:avLst/>
          </a:prstGeom>
          <a:noFill/>
          <a:ln/>
        </p:spPr>
        <p:txBody>
          <a:bodyPr wrap="square" lIns="0" tIns="0" rIns="0" bIns="0" rtlCol="0" anchor="t"/>
          <a:lstStyle/>
          <a:p>
            <a:pPr marL="0" indent="0">
              <a:spcAft>
                <a:spcPts val="600"/>
              </a:spcAft>
              <a:buNone/>
            </a:pPr>
            <a:r>
              <a:rPr lang="en-US" sz="1200" dirty="0">
                <a:solidFill>
                  <a:srgbClr val="5A1018"/>
                </a:solidFill>
                <a:latin typeface="Yu Gothic" pitchFamily="34" charset="0"/>
                <a:ea typeface="Yu Gothic" pitchFamily="34" charset="-122"/>
                <a:cs typeface="Yu Gothic" pitchFamily="34" charset="-120"/>
              </a:rPr>
              <a:t>受講生本人の了承のもと、上司にもMBTIの概要を共有。タイプの多様性を理解し、部下への関わり方のヒントとする。</a:t>
            </a:r>
            <a:endParaRPr lang="en-US" sz="1200" dirty="0"/>
          </a:p>
        </p:txBody>
      </p:sp>
      <p:sp>
        <p:nvSpPr>
          <p:cNvPr id="33" name="Shape 21"/>
          <p:cNvSpPr/>
          <p:nvPr/>
        </p:nvSpPr>
        <p:spPr>
          <a:xfrm>
            <a:off x="274320" y="4617720"/>
            <a:ext cx="8595360" cy="0"/>
          </a:xfrm>
          <a:prstGeom prst="line">
            <a:avLst/>
          </a:prstGeom>
          <a:noFill/>
          <a:ln w="12700">
            <a:solidFill>
              <a:srgbClr val="8C2029"/>
            </a:solidFill>
            <a:prstDash val="dash"/>
          </a:ln>
        </p:spPr>
        <p:txBody>
          <a:bodyPr/>
          <a:lstStyle/>
          <a:p>
            <a:endParaRPr lang="ja-JP" altLang="en-US"/>
          </a:p>
        </p:txBody>
      </p:sp>
      <p:sp>
        <p:nvSpPr>
          <p:cNvPr id="34" name="Text 22"/>
          <p:cNvSpPr/>
          <p:nvPr/>
        </p:nvSpPr>
        <p:spPr>
          <a:xfrm>
            <a:off x="5943600" y="4663440"/>
            <a:ext cx="2743200" cy="274320"/>
          </a:xfrm>
          <a:prstGeom prst="rect">
            <a:avLst/>
          </a:prstGeom>
          <a:noFill/>
          <a:ln/>
        </p:spPr>
        <p:txBody>
          <a:bodyPr wrap="square" lIns="0" tIns="0" rIns="0" bIns="0"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C2029"/>
          </a:solidFill>
          <a:ln/>
        </p:spPr>
        <p:txBody>
          <a:bodyPr/>
          <a:lstStyle/>
          <a:p>
            <a:endParaRPr lang="ja-JP" altLang="en-US"/>
          </a:p>
        </p:txBody>
      </p:sp>
      <p:pic>
        <p:nvPicPr>
          <p:cNvPr id="3" name="Image 0" descr="/sessions/cool-intelligent-bohr/logo_icon.jpeg"/>
          <p:cNvPicPr>
            <a:picLocks noChangeAspect="1"/>
          </p:cNvPicPr>
          <p:nvPr/>
        </p:nvPicPr>
        <p:blipFill>
          <a:blip r:embed="rId2"/>
          <a:stretch>
            <a:fillRect/>
          </a:stretch>
        </p:blipFill>
        <p:spPr>
          <a:xfrm>
            <a:off x="7498080" y="109728"/>
            <a:ext cx="182880" cy="182880"/>
          </a:xfrm>
          <a:prstGeom prst="rect">
            <a:avLst/>
          </a:prstGeom>
        </p:spPr>
      </p:pic>
      <p:pic>
        <p:nvPicPr>
          <p:cNvPr id="4" name="Image 1" descr="/sessions/cool-intelligent-bohr/logo_text.jpeg"/>
          <p:cNvPicPr>
            <a:picLocks noChangeAspect="1"/>
          </p:cNvPicPr>
          <p:nvPr/>
        </p:nvPicPr>
        <p:blipFill>
          <a:blip r:embed="rId3"/>
          <a:stretch>
            <a:fillRect/>
          </a:stretch>
        </p:blipFill>
        <p:spPr>
          <a:xfrm>
            <a:off x="7726680" y="128016"/>
            <a:ext cx="1097280" cy="146304"/>
          </a:xfrm>
          <a:prstGeom prst="rect">
            <a:avLst/>
          </a:prstGeom>
        </p:spPr>
      </p:pic>
      <p:sp>
        <p:nvSpPr>
          <p:cNvPr id="5" name="Text 1"/>
          <p:cNvSpPr/>
          <p:nvPr/>
        </p:nvSpPr>
        <p:spPr>
          <a:xfrm>
            <a:off x="457200" y="137160"/>
            <a:ext cx="6858000" cy="411480"/>
          </a:xfrm>
          <a:prstGeom prst="rect">
            <a:avLst/>
          </a:prstGeom>
          <a:noFill/>
          <a:ln/>
        </p:spPr>
        <p:txBody>
          <a:bodyPr wrap="square" lIns="0" tIns="0" rIns="0" bIns="0" rtlCol="0" anchor="ctr"/>
          <a:lstStyle/>
          <a:p>
            <a:pPr marL="0" indent="0">
              <a:buNone/>
            </a:pPr>
            <a:r>
              <a:rPr lang="en-US" sz="1300" b="1" dirty="0">
                <a:solidFill>
                  <a:srgbClr val="8C2029"/>
                </a:solidFill>
                <a:latin typeface="Arial" pitchFamily="34" charset="0"/>
                <a:ea typeface="Arial" pitchFamily="34" charset="-122"/>
                <a:cs typeface="Arial" pitchFamily="34" charset="-120"/>
              </a:rPr>
              <a:t>Session 3</a:t>
            </a:r>
            <a:r>
              <a:rPr lang="en-US" sz="2000" b="1" dirty="0">
                <a:solidFill>
                  <a:srgbClr val="333333"/>
                </a:solidFill>
                <a:latin typeface="Yu Gothic" pitchFamily="34" charset="0"/>
                <a:ea typeface="Yu Gothic" pitchFamily="34" charset="-122"/>
                <a:cs typeface="Yu Gothic" pitchFamily="34" charset="-120"/>
              </a:rPr>
              <a:t>：管理職のコンピテンシーと自己分析</a:t>
            </a:r>
            <a:endParaRPr lang="en-US" sz="1300" dirty="0"/>
          </a:p>
        </p:txBody>
      </p:sp>
      <p:sp>
        <p:nvSpPr>
          <p:cNvPr id="6" name="Shape 2"/>
          <p:cNvSpPr/>
          <p:nvPr/>
        </p:nvSpPr>
        <p:spPr>
          <a:xfrm>
            <a:off x="457200" y="566928"/>
            <a:ext cx="640080" cy="36576"/>
          </a:xfrm>
          <a:prstGeom prst="rect">
            <a:avLst/>
          </a:prstGeom>
          <a:solidFill>
            <a:srgbClr val="8C2029"/>
          </a:solidFill>
          <a:ln/>
        </p:spPr>
        <p:txBody>
          <a:bodyPr/>
          <a:lstStyle/>
          <a:p>
            <a:endParaRPr lang="ja-JP" altLang="en-US"/>
          </a:p>
        </p:txBody>
      </p:sp>
      <p:sp>
        <p:nvSpPr>
          <p:cNvPr id="7" name="Shape 3"/>
          <p:cNvSpPr/>
          <p:nvPr/>
        </p:nvSpPr>
        <p:spPr>
          <a:xfrm>
            <a:off x="457200" y="713232"/>
            <a:ext cx="8229600" cy="292608"/>
          </a:xfrm>
          <a:prstGeom prst="rect">
            <a:avLst/>
          </a:prstGeom>
          <a:solidFill>
            <a:srgbClr val="F2E0E0"/>
          </a:solidFill>
          <a:ln/>
        </p:spPr>
        <p:txBody>
          <a:bodyPr/>
          <a:lstStyle/>
          <a:p>
            <a:endParaRPr lang="ja-JP" altLang="en-US"/>
          </a:p>
        </p:txBody>
      </p:sp>
      <p:sp>
        <p:nvSpPr>
          <p:cNvPr id="8" name="Text 4"/>
          <p:cNvSpPr/>
          <p:nvPr/>
        </p:nvSpPr>
        <p:spPr>
          <a:xfrm>
            <a:off x="457200" y="713232"/>
            <a:ext cx="8229600" cy="292608"/>
          </a:xfrm>
          <a:prstGeom prst="rect">
            <a:avLst/>
          </a:prstGeom>
          <a:noFill/>
          <a:ln/>
        </p:spPr>
        <p:txBody>
          <a:bodyPr wrap="square" lIns="0" tIns="0" rIns="0" bIns="0" rtlCol="0" anchor="ctr"/>
          <a:lstStyle/>
          <a:p>
            <a:pPr marL="0" indent="0" algn="ctr">
              <a:buNone/>
            </a:pPr>
            <a:r>
              <a:rPr lang="en-US" sz="1200" dirty="0">
                <a:solidFill>
                  <a:srgbClr val="8C2029"/>
                </a:solidFill>
                <a:latin typeface="Yu Gothic" pitchFamily="34" charset="0"/>
                <a:ea typeface="Yu Gothic" pitchFamily="34" charset="-122"/>
                <a:cs typeface="Yu Gothic" pitchFamily="34" charset="-120"/>
              </a:rPr>
              <a:t>〜 理想のリーダー像を描く 〜</a:t>
            </a:r>
            <a:endParaRPr lang="en-US" sz="1200" dirty="0"/>
          </a:p>
        </p:txBody>
      </p:sp>
      <p:sp>
        <p:nvSpPr>
          <p:cNvPr id="9" name="Shape 5"/>
          <p:cNvSpPr/>
          <p:nvPr/>
        </p:nvSpPr>
        <p:spPr>
          <a:xfrm>
            <a:off x="457200" y="1143000"/>
            <a:ext cx="640080" cy="256032"/>
          </a:xfrm>
          <a:prstGeom prst="rect">
            <a:avLst/>
          </a:prstGeom>
          <a:solidFill>
            <a:srgbClr val="8C2029"/>
          </a:solidFill>
          <a:ln/>
        </p:spPr>
        <p:txBody>
          <a:bodyPr/>
          <a:lstStyle/>
          <a:p>
            <a:endParaRPr lang="ja-JP" altLang="en-US"/>
          </a:p>
        </p:txBody>
      </p:sp>
      <p:sp>
        <p:nvSpPr>
          <p:cNvPr id="10" name="Text 6"/>
          <p:cNvSpPr/>
          <p:nvPr/>
        </p:nvSpPr>
        <p:spPr>
          <a:xfrm>
            <a:off x="457200" y="1143000"/>
            <a:ext cx="6400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Yu Gothic" pitchFamily="34" charset="0"/>
                <a:ea typeface="Yu Gothic" pitchFamily="34" charset="-122"/>
                <a:cs typeface="Yu Gothic" pitchFamily="34" charset="-120"/>
              </a:rPr>
              <a:t>ねらい</a:t>
            </a:r>
            <a:endParaRPr lang="en-US" sz="1100" dirty="0"/>
          </a:p>
        </p:txBody>
      </p:sp>
      <p:sp>
        <p:nvSpPr>
          <p:cNvPr id="11" name="Text 7"/>
          <p:cNvSpPr/>
          <p:nvPr/>
        </p:nvSpPr>
        <p:spPr>
          <a:xfrm>
            <a:off x="1188720" y="1143000"/>
            <a:ext cx="4572000" cy="256032"/>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管理職に求められるコンピテンシーを明確にし、目指すリーダー像を具体化する。</a:t>
            </a:r>
            <a:endParaRPr lang="en-US" sz="1100" dirty="0"/>
          </a:p>
        </p:txBody>
      </p:sp>
      <p:sp>
        <p:nvSpPr>
          <p:cNvPr id="12" name="Shape 8"/>
          <p:cNvSpPr/>
          <p:nvPr/>
        </p:nvSpPr>
        <p:spPr>
          <a:xfrm>
            <a:off x="6537960" y="1097280"/>
            <a:ext cx="685800" cy="685800"/>
          </a:xfrm>
          <a:prstGeom prst="ellipse">
            <a:avLst/>
          </a:prstGeom>
          <a:solidFill>
            <a:srgbClr val="8C2029"/>
          </a:solidFill>
          <a:ln/>
          <a:effectLst>
            <a:outerShdw blurRad="50800" dist="25400" dir="8100000" algn="bl" rotWithShape="0">
              <a:srgbClr val="000000">
                <a:alpha val="8000"/>
              </a:srgbClr>
            </a:outerShdw>
          </a:effectLst>
        </p:spPr>
        <p:txBody>
          <a:bodyPr/>
          <a:lstStyle/>
          <a:p>
            <a:endParaRPr lang="ja-JP" altLang="en-US"/>
          </a:p>
        </p:txBody>
      </p:sp>
      <p:pic>
        <p:nvPicPr>
          <p:cNvPr id="13" name="Image 2" descr="preencoded.png"/>
          <p:cNvPicPr>
            <a:picLocks noChangeAspect="1"/>
          </p:cNvPicPr>
          <p:nvPr/>
        </p:nvPicPr>
        <p:blipFill>
          <a:blip r:embed="rId4"/>
          <a:stretch>
            <a:fillRect/>
          </a:stretch>
        </p:blipFill>
        <p:spPr>
          <a:xfrm>
            <a:off x="6656832" y="1216152"/>
            <a:ext cx="457200" cy="457200"/>
          </a:xfrm>
          <a:prstGeom prst="rect">
            <a:avLst/>
          </a:prstGeom>
        </p:spPr>
      </p:pic>
      <p:sp>
        <p:nvSpPr>
          <p:cNvPr id="14" name="Text 9"/>
          <p:cNvSpPr/>
          <p:nvPr/>
        </p:nvSpPr>
        <p:spPr>
          <a:xfrm>
            <a:off x="457200" y="1554480"/>
            <a:ext cx="1645920" cy="228600"/>
          </a:xfrm>
          <a:prstGeom prst="rect">
            <a:avLst/>
          </a:prstGeom>
          <a:noFill/>
          <a:ln/>
        </p:spPr>
        <p:txBody>
          <a:bodyPr wrap="square" lIns="0" tIns="0" rIns="0" bIns="0" rtlCol="0" anchor="ctr"/>
          <a:lstStyle/>
          <a:p>
            <a:pPr marL="0" indent="0">
              <a:buNone/>
            </a:pPr>
            <a:r>
              <a:rPr lang="en-US" sz="1100" b="1" dirty="0">
                <a:solidFill>
                  <a:srgbClr val="8C2029"/>
                </a:solidFill>
                <a:latin typeface="Yu Gothic" pitchFamily="34" charset="0"/>
                <a:ea typeface="Yu Gothic" pitchFamily="34" charset="-122"/>
                <a:cs typeface="Yu Gothic" pitchFamily="34" charset="-120"/>
              </a:rPr>
              <a:t>主な研修内容（案）</a:t>
            </a:r>
            <a:endParaRPr lang="en-US" sz="1100" dirty="0"/>
          </a:p>
        </p:txBody>
      </p:sp>
      <p:sp>
        <p:nvSpPr>
          <p:cNvPr id="15" name="Shape 10"/>
          <p:cNvSpPr/>
          <p:nvPr/>
        </p:nvSpPr>
        <p:spPr>
          <a:xfrm>
            <a:off x="740664" y="1975104"/>
            <a:ext cx="0" cy="1920240"/>
          </a:xfrm>
          <a:prstGeom prst="line">
            <a:avLst/>
          </a:prstGeom>
          <a:noFill/>
          <a:ln w="25400">
            <a:solidFill>
              <a:srgbClr val="D4A0A5"/>
            </a:solidFill>
            <a:prstDash val="solid"/>
          </a:ln>
        </p:spPr>
        <p:txBody>
          <a:bodyPr/>
          <a:lstStyle/>
          <a:p>
            <a:endParaRPr lang="ja-JP" altLang="en-US"/>
          </a:p>
        </p:txBody>
      </p:sp>
      <p:pic>
        <p:nvPicPr>
          <p:cNvPr id="16" name="Image 3" descr="preencoded.png"/>
          <p:cNvPicPr>
            <a:picLocks noChangeAspect="1"/>
          </p:cNvPicPr>
          <p:nvPr/>
        </p:nvPicPr>
        <p:blipFill>
          <a:blip r:embed="rId5"/>
          <a:stretch>
            <a:fillRect/>
          </a:stretch>
        </p:blipFill>
        <p:spPr>
          <a:xfrm>
            <a:off x="640080" y="1874520"/>
            <a:ext cx="201168" cy="201168"/>
          </a:xfrm>
          <a:prstGeom prst="rect">
            <a:avLst/>
          </a:prstGeom>
        </p:spPr>
      </p:pic>
      <p:sp>
        <p:nvSpPr>
          <p:cNvPr id="17" name="Text 11"/>
          <p:cNvSpPr/>
          <p:nvPr/>
        </p:nvSpPr>
        <p:spPr>
          <a:xfrm>
            <a:off x="960120" y="187452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振り返り・活動報告シェア</a:t>
            </a:r>
            <a:endParaRPr lang="en-US" sz="1100" dirty="0"/>
          </a:p>
        </p:txBody>
      </p:sp>
      <p:pic>
        <p:nvPicPr>
          <p:cNvPr id="18" name="Image 4" descr="preencoded.png"/>
          <p:cNvPicPr>
            <a:picLocks noChangeAspect="1"/>
          </p:cNvPicPr>
          <p:nvPr/>
        </p:nvPicPr>
        <p:blipFill>
          <a:blip r:embed="rId6"/>
          <a:stretch>
            <a:fillRect/>
          </a:stretch>
        </p:blipFill>
        <p:spPr>
          <a:xfrm>
            <a:off x="640080" y="2258568"/>
            <a:ext cx="201168" cy="201168"/>
          </a:xfrm>
          <a:prstGeom prst="rect">
            <a:avLst/>
          </a:prstGeom>
        </p:spPr>
      </p:pic>
      <p:sp>
        <p:nvSpPr>
          <p:cNvPr id="19" name="Text 12"/>
          <p:cNvSpPr/>
          <p:nvPr/>
        </p:nvSpPr>
        <p:spPr>
          <a:xfrm>
            <a:off x="960120" y="2258568"/>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課題とは何か？（目標と現状のギャップ）</a:t>
            </a:r>
            <a:endParaRPr lang="en-US" sz="1100" dirty="0"/>
          </a:p>
        </p:txBody>
      </p:sp>
      <p:pic>
        <p:nvPicPr>
          <p:cNvPr id="20" name="Image 5" descr="preencoded.png"/>
          <p:cNvPicPr>
            <a:picLocks noChangeAspect="1"/>
          </p:cNvPicPr>
          <p:nvPr/>
        </p:nvPicPr>
        <p:blipFill>
          <a:blip r:embed="rId7"/>
          <a:stretch>
            <a:fillRect/>
          </a:stretch>
        </p:blipFill>
        <p:spPr>
          <a:xfrm>
            <a:off x="640080" y="2642616"/>
            <a:ext cx="201168" cy="201168"/>
          </a:xfrm>
          <a:prstGeom prst="rect">
            <a:avLst/>
          </a:prstGeom>
        </p:spPr>
      </p:pic>
      <p:sp>
        <p:nvSpPr>
          <p:cNvPr id="21" name="Text 13"/>
          <p:cNvSpPr/>
          <p:nvPr/>
        </p:nvSpPr>
        <p:spPr>
          <a:xfrm>
            <a:off x="960120" y="2642616"/>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目指す姿の熟考（期待と想い）</a:t>
            </a:r>
            <a:endParaRPr lang="en-US" sz="1100" dirty="0"/>
          </a:p>
        </p:txBody>
      </p:sp>
      <p:pic>
        <p:nvPicPr>
          <p:cNvPr id="22" name="Image 6" descr="preencoded.png"/>
          <p:cNvPicPr>
            <a:picLocks noChangeAspect="1"/>
          </p:cNvPicPr>
          <p:nvPr/>
        </p:nvPicPr>
        <p:blipFill>
          <a:blip r:embed="rId8"/>
          <a:stretch>
            <a:fillRect/>
          </a:stretch>
        </p:blipFill>
        <p:spPr>
          <a:xfrm>
            <a:off x="640080" y="3026664"/>
            <a:ext cx="201168" cy="201168"/>
          </a:xfrm>
          <a:prstGeom prst="rect">
            <a:avLst/>
          </a:prstGeom>
        </p:spPr>
      </p:pic>
      <p:sp>
        <p:nvSpPr>
          <p:cNvPr id="23" name="Text 14"/>
          <p:cNvSpPr/>
          <p:nvPr/>
        </p:nvSpPr>
        <p:spPr>
          <a:xfrm>
            <a:off x="960120" y="3026664"/>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リーダーに必要な力とは</a:t>
            </a:r>
            <a:endParaRPr lang="en-US" sz="1100" dirty="0"/>
          </a:p>
        </p:txBody>
      </p:sp>
      <p:pic>
        <p:nvPicPr>
          <p:cNvPr id="24" name="Image 7" descr="preencoded.png"/>
          <p:cNvPicPr>
            <a:picLocks noChangeAspect="1"/>
          </p:cNvPicPr>
          <p:nvPr/>
        </p:nvPicPr>
        <p:blipFill>
          <a:blip r:embed="rId9"/>
          <a:stretch>
            <a:fillRect/>
          </a:stretch>
        </p:blipFill>
        <p:spPr>
          <a:xfrm>
            <a:off x="640080" y="3410712"/>
            <a:ext cx="201168" cy="201168"/>
          </a:xfrm>
          <a:prstGeom prst="rect">
            <a:avLst/>
          </a:prstGeom>
        </p:spPr>
      </p:pic>
      <p:sp>
        <p:nvSpPr>
          <p:cNvPr id="25" name="Text 15"/>
          <p:cNvSpPr/>
          <p:nvPr/>
        </p:nvSpPr>
        <p:spPr>
          <a:xfrm>
            <a:off x="960120" y="3410712"/>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コンピテンシーアセスメント（個人→GW→相互FB）</a:t>
            </a:r>
            <a:endParaRPr lang="en-US" sz="1100" dirty="0"/>
          </a:p>
        </p:txBody>
      </p:sp>
      <p:pic>
        <p:nvPicPr>
          <p:cNvPr id="26" name="Image 8" descr="preencoded.png"/>
          <p:cNvPicPr>
            <a:picLocks noChangeAspect="1"/>
          </p:cNvPicPr>
          <p:nvPr/>
        </p:nvPicPr>
        <p:blipFill>
          <a:blip r:embed="rId10"/>
          <a:stretch>
            <a:fillRect/>
          </a:stretch>
        </p:blipFill>
        <p:spPr>
          <a:xfrm>
            <a:off x="640080" y="3794760"/>
            <a:ext cx="201168" cy="201168"/>
          </a:xfrm>
          <a:prstGeom prst="rect">
            <a:avLst/>
          </a:prstGeom>
        </p:spPr>
      </p:pic>
      <p:sp>
        <p:nvSpPr>
          <p:cNvPr id="27" name="Text 16"/>
          <p:cNvSpPr/>
          <p:nvPr/>
        </p:nvSpPr>
        <p:spPr>
          <a:xfrm>
            <a:off x="960120" y="379476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リーダー宣言の作成＆シェア</a:t>
            </a:r>
            <a:endParaRPr lang="en-US" sz="1100" dirty="0"/>
          </a:p>
        </p:txBody>
      </p:sp>
      <p:sp>
        <p:nvSpPr>
          <p:cNvPr id="28" name="Shape 17"/>
          <p:cNvSpPr/>
          <p:nvPr/>
        </p:nvSpPr>
        <p:spPr>
          <a:xfrm>
            <a:off x="5852160" y="1965961"/>
            <a:ext cx="2880360" cy="1161288"/>
          </a:xfrm>
          <a:prstGeom prst="rect">
            <a:avLst/>
          </a:prstGeom>
          <a:solidFill>
            <a:srgbClr val="F9ECEE"/>
          </a:solidFill>
          <a:ln w="6350">
            <a:solidFill>
              <a:srgbClr val="D4A0A5"/>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29" name="Shape 18"/>
          <p:cNvSpPr/>
          <p:nvPr/>
        </p:nvSpPr>
        <p:spPr>
          <a:xfrm>
            <a:off x="5852160" y="1965960"/>
            <a:ext cx="2880360" cy="320040"/>
          </a:xfrm>
          <a:prstGeom prst="rect">
            <a:avLst/>
          </a:prstGeom>
          <a:solidFill>
            <a:srgbClr val="6B1520"/>
          </a:solidFill>
          <a:ln/>
        </p:spPr>
        <p:txBody>
          <a:bodyPr/>
          <a:lstStyle/>
          <a:p>
            <a:endParaRPr lang="ja-JP" altLang="en-US"/>
          </a:p>
        </p:txBody>
      </p:sp>
      <p:pic>
        <p:nvPicPr>
          <p:cNvPr id="30" name="Image 9" descr="preencoded.png"/>
          <p:cNvPicPr>
            <a:picLocks noChangeAspect="1"/>
          </p:cNvPicPr>
          <p:nvPr/>
        </p:nvPicPr>
        <p:blipFill>
          <a:blip r:embed="rId11"/>
          <a:stretch>
            <a:fillRect/>
          </a:stretch>
        </p:blipFill>
        <p:spPr>
          <a:xfrm>
            <a:off x="5989320" y="2011680"/>
            <a:ext cx="228600" cy="228600"/>
          </a:xfrm>
          <a:prstGeom prst="rect">
            <a:avLst/>
          </a:prstGeom>
        </p:spPr>
      </p:pic>
      <p:sp>
        <p:nvSpPr>
          <p:cNvPr id="31" name="Text 19"/>
          <p:cNvSpPr/>
          <p:nvPr/>
        </p:nvSpPr>
        <p:spPr>
          <a:xfrm>
            <a:off x="6263640" y="1965960"/>
            <a:ext cx="1828800" cy="320040"/>
          </a:xfrm>
          <a:prstGeom prst="rect">
            <a:avLst/>
          </a:prstGeom>
          <a:noFill/>
          <a:ln/>
        </p:spPr>
        <p:txBody>
          <a:bodyPr wrap="square" lIns="0" tIns="0" rIns="0" bIns="0" rtlCol="0" anchor="ctr"/>
          <a:lstStyle/>
          <a:p>
            <a:pPr marL="0" indent="0">
              <a:buNone/>
            </a:pPr>
            <a:r>
              <a:rPr lang="en-US" sz="1300" b="1" dirty="0">
                <a:solidFill>
                  <a:srgbClr val="FFFFFF"/>
                </a:solidFill>
                <a:latin typeface="Yu Gothic" pitchFamily="34" charset="0"/>
                <a:ea typeface="Yu Gothic" pitchFamily="34" charset="-122"/>
                <a:cs typeface="Yu Gothic" pitchFamily="34" charset="-120"/>
              </a:rPr>
              <a:t>上司連動</a:t>
            </a:r>
            <a:endParaRPr lang="en-US" sz="1300" dirty="0"/>
          </a:p>
        </p:txBody>
      </p:sp>
      <p:sp>
        <p:nvSpPr>
          <p:cNvPr id="32" name="Text 20"/>
          <p:cNvSpPr/>
          <p:nvPr/>
        </p:nvSpPr>
        <p:spPr>
          <a:xfrm>
            <a:off x="6035040" y="2423160"/>
            <a:ext cx="2514600" cy="1828800"/>
          </a:xfrm>
          <a:prstGeom prst="rect">
            <a:avLst/>
          </a:prstGeom>
          <a:noFill/>
          <a:ln/>
        </p:spPr>
        <p:txBody>
          <a:bodyPr wrap="square" lIns="0" tIns="0" rIns="0" bIns="0" rtlCol="0" anchor="t"/>
          <a:lstStyle/>
          <a:p>
            <a:pPr marL="0" indent="0">
              <a:spcAft>
                <a:spcPts val="600"/>
              </a:spcAft>
              <a:buNone/>
            </a:pPr>
            <a:r>
              <a:rPr lang="en-US" sz="1200" dirty="0">
                <a:solidFill>
                  <a:srgbClr val="5A1018"/>
                </a:solidFill>
                <a:latin typeface="Yu Gothic" pitchFamily="34" charset="0"/>
                <a:ea typeface="Yu Gothic" pitchFamily="34" charset="-122"/>
                <a:cs typeface="Yu Gothic" pitchFamily="34" charset="-120"/>
              </a:rPr>
              <a:t>「目指すリーダー像」と「目標行動設定シート」を上司と共有。上司面談（15分）を次回までに実施。</a:t>
            </a:r>
            <a:endParaRPr lang="en-US" sz="1200" dirty="0"/>
          </a:p>
        </p:txBody>
      </p:sp>
      <p:sp>
        <p:nvSpPr>
          <p:cNvPr id="33" name="Shape 21"/>
          <p:cNvSpPr/>
          <p:nvPr/>
        </p:nvSpPr>
        <p:spPr>
          <a:xfrm>
            <a:off x="274320" y="4617720"/>
            <a:ext cx="8595360" cy="0"/>
          </a:xfrm>
          <a:prstGeom prst="line">
            <a:avLst/>
          </a:prstGeom>
          <a:noFill/>
          <a:ln w="12700">
            <a:solidFill>
              <a:srgbClr val="8C2029"/>
            </a:solidFill>
            <a:prstDash val="dash"/>
          </a:ln>
        </p:spPr>
        <p:txBody>
          <a:bodyPr/>
          <a:lstStyle/>
          <a:p>
            <a:endParaRPr lang="ja-JP" altLang="en-US"/>
          </a:p>
        </p:txBody>
      </p:sp>
      <p:sp>
        <p:nvSpPr>
          <p:cNvPr id="34" name="Text 22"/>
          <p:cNvSpPr/>
          <p:nvPr/>
        </p:nvSpPr>
        <p:spPr>
          <a:xfrm>
            <a:off x="5943600" y="4663440"/>
            <a:ext cx="2743200" cy="274320"/>
          </a:xfrm>
          <a:prstGeom prst="rect">
            <a:avLst/>
          </a:prstGeom>
          <a:noFill/>
          <a:ln/>
        </p:spPr>
        <p:txBody>
          <a:bodyPr wrap="square" lIns="0" tIns="0" rIns="0" bIns="0"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C2029"/>
          </a:solidFill>
          <a:ln/>
        </p:spPr>
        <p:txBody>
          <a:bodyPr/>
          <a:lstStyle/>
          <a:p>
            <a:endParaRPr lang="ja-JP" altLang="en-US"/>
          </a:p>
        </p:txBody>
      </p:sp>
      <p:pic>
        <p:nvPicPr>
          <p:cNvPr id="3" name="Image 0" descr="/sessions/cool-intelligent-bohr/logo_icon.jpeg"/>
          <p:cNvPicPr>
            <a:picLocks noChangeAspect="1"/>
          </p:cNvPicPr>
          <p:nvPr/>
        </p:nvPicPr>
        <p:blipFill>
          <a:blip r:embed="rId2"/>
          <a:stretch>
            <a:fillRect/>
          </a:stretch>
        </p:blipFill>
        <p:spPr>
          <a:xfrm>
            <a:off x="7498080" y="109728"/>
            <a:ext cx="182880" cy="182880"/>
          </a:xfrm>
          <a:prstGeom prst="rect">
            <a:avLst/>
          </a:prstGeom>
        </p:spPr>
      </p:pic>
      <p:pic>
        <p:nvPicPr>
          <p:cNvPr id="4" name="Image 1" descr="/sessions/cool-intelligent-bohr/logo_text.jpeg"/>
          <p:cNvPicPr>
            <a:picLocks noChangeAspect="1"/>
          </p:cNvPicPr>
          <p:nvPr/>
        </p:nvPicPr>
        <p:blipFill>
          <a:blip r:embed="rId3"/>
          <a:stretch>
            <a:fillRect/>
          </a:stretch>
        </p:blipFill>
        <p:spPr>
          <a:xfrm>
            <a:off x="7726680" y="128016"/>
            <a:ext cx="1097280" cy="146304"/>
          </a:xfrm>
          <a:prstGeom prst="rect">
            <a:avLst/>
          </a:prstGeom>
        </p:spPr>
      </p:pic>
      <p:sp>
        <p:nvSpPr>
          <p:cNvPr id="5" name="Text 1"/>
          <p:cNvSpPr/>
          <p:nvPr/>
        </p:nvSpPr>
        <p:spPr>
          <a:xfrm>
            <a:off x="457200" y="137160"/>
            <a:ext cx="6858000" cy="411480"/>
          </a:xfrm>
          <a:prstGeom prst="rect">
            <a:avLst/>
          </a:prstGeom>
          <a:noFill/>
          <a:ln/>
        </p:spPr>
        <p:txBody>
          <a:bodyPr wrap="square" lIns="0" tIns="0" rIns="0" bIns="0" rtlCol="0" anchor="ctr"/>
          <a:lstStyle/>
          <a:p>
            <a:pPr marL="0" indent="0">
              <a:buNone/>
            </a:pPr>
            <a:r>
              <a:rPr lang="en-US" sz="1300" b="1" dirty="0">
                <a:solidFill>
                  <a:srgbClr val="8C2029"/>
                </a:solidFill>
                <a:latin typeface="Arial" pitchFamily="34" charset="0"/>
                <a:ea typeface="Arial" pitchFamily="34" charset="-122"/>
                <a:cs typeface="Arial" pitchFamily="34" charset="-120"/>
              </a:rPr>
              <a:t>Session 4</a:t>
            </a:r>
            <a:r>
              <a:rPr lang="en-US" sz="2000" b="1" dirty="0">
                <a:solidFill>
                  <a:srgbClr val="333333"/>
                </a:solidFill>
                <a:latin typeface="Yu Gothic" pitchFamily="34" charset="0"/>
                <a:ea typeface="Yu Gothic" pitchFamily="34" charset="-122"/>
                <a:cs typeface="Yu Gothic" pitchFamily="34" charset="-120"/>
              </a:rPr>
              <a:t>：リーダーシップの本質</a:t>
            </a:r>
            <a:endParaRPr lang="en-US" sz="1300" dirty="0"/>
          </a:p>
        </p:txBody>
      </p:sp>
      <p:sp>
        <p:nvSpPr>
          <p:cNvPr id="6" name="Shape 2"/>
          <p:cNvSpPr/>
          <p:nvPr/>
        </p:nvSpPr>
        <p:spPr>
          <a:xfrm>
            <a:off x="457200" y="566928"/>
            <a:ext cx="640080" cy="36576"/>
          </a:xfrm>
          <a:prstGeom prst="rect">
            <a:avLst/>
          </a:prstGeom>
          <a:solidFill>
            <a:srgbClr val="8C2029"/>
          </a:solidFill>
          <a:ln/>
        </p:spPr>
        <p:txBody>
          <a:bodyPr/>
          <a:lstStyle/>
          <a:p>
            <a:endParaRPr lang="ja-JP" altLang="en-US"/>
          </a:p>
        </p:txBody>
      </p:sp>
      <p:sp>
        <p:nvSpPr>
          <p:cNvPr id="7" name="Shape 3"/>
          <p:cNvSpPr/>
          <p:nvPr/>
        </p:nvSpPr>
        <p:spPr>
          <a:xfrm>
            <a:off x="457200" y="713232"/>
            <a:ext cx="8229600" cy="292608"/>
          </a:xfrm>
          <a:prstGeom prst="rect">
            <a:avLst/>
          </a:prstGeom>
          <a:solidFill>
            <a:srgbClr val="F2E0E0"/>
          </a:solidFill>
          <a:ln/>
        </p:spPr>
        <p:txBody>
          <a:bodyPr/>
          <a:lstStyle/>
          <a:p>
            <a:endParaRPr lang="ja-JP" altLang="en-US"/>
          </a:p>
        </p:txBody>
      </p:sp>
      <p:sp>
        <p:nvSpPr>
          <p:cNvPr id="8" name="Text 4"/>
          <p:cNvSpPr/>
          <p:nvPr/>
        </p:nvSpPr>
        <p:spPr>
          <a:xfrm>
            <a:off x="457200" y="713232"/>
            <a:ext cx="8229600" cy="292608"/>
          </a:xfrm>
          <a:prstGeom prst="rect">
            <a:avLst/>
          </a:prstGeom>
          <a:noFill/>
          <a:ln/>
        </p:spPr>
        <p:txBody>
          <a:bodyPr wrap="square" lIns="0" tIns="0" rIns="0" bIns="0" rtlCol="0" anchor="ctr"/>
          <a:lstStyle/>
          <a:p>
            <a:pPr marL="0" indent="0" algn="ctr">
              <a:buNone/>
            </a:pPr>
            <a:r>
              <a:rPr lang="en-US" sz="1200" dirty="0">
                <a:solidFill>
                  <a:srgbClr val="8C2029"/>
                </a:solidFill>
                <a:latin typeface="Yu Gothic" pitchFamily="34" charset="0"/>
                <a:ea typeface="Yu Gothic" pitchFamily="34" charset="-122"/>
                <a:cs typeface="Yu Gothic" pitchFamily="34" charset="-120"/>
              </a:rPr>
              <a:t>〜 自分のリーダーシップを宣言する 〜</a:t>
            </a:r>
            <a:endParaRPr lang="en-US" sz="1200" dirty="0"/>
          </a:p>
        </p:txBody>
      </p:sp>
      <p:sp>
        <p:nvSpPr>
          <p:cNvPr id="9" name="Shape 5"/>
          <p:cNvSpPr/>
          <p:nvPr/>
        </p:nvSpPr>
        <p:spPr>
          <a:xfrm>
            <a:off x="457200" y="1143000"/>
            <a:ext cx="640080" cy="256032"/>
          </a:xfrm>
          <a:prstGeom prst="rect">
            <a:avLst/>
          </a:prstGeom>
          <a:solidFill>
            <a:srgbClr val="8C2029"/>
          </a:solidFill>
          <a:ln/>
        </p:spPr>
        <p:txBody>
          <a:bodyPr/>
          <a:lstStyle/>
          <a:p>
            <a:endParaRPr lang="ja-JP" altLang="en-US"/>
          </a:p>
        </p:txBody>
      </p:sp>
      <p:sp>
        <p:nvSpPr>
          <p:cNvPr id="10" name="Text 6"/>
          <p:cNvSpPr/>
          <p:nvPr/>
        </p:nvSpPr>
        <p:spPr>
          <a:xfrm>
            <a:off x="457200" y="1143000"/>
            <a:ext cx="6400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Yu Gothic" pitchFamily="34" charset="0"/>
                <a:ea typeface="Yu Gothic" pitchFamily="34" charset="-122"/>
                <a:cs typeface="Yu Gothic" pitchFamily="34" charset="-120"/>
              </a:rPr>
              <a:t>ねらい</a:t>
            </a:r>
            <a:endParaRPr lang="en-US" sz="1100" dirty="0"/>
          </a:p>
        </p:txBody>
      </p:sp>
      <p:sp>
        <p:nvSpPr>
          <p:cNvPr id="11" name="Text 7"/>
          <p:cNvSpPr/>
          <p:nvPr/>
        </p:nvSpPr>
        <p:spPr>
          <a:xfrm>
            <a:off x="1188720" y="1143000"/>
            <a:ext cx="4572000" cy="256032"/>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リーダーシップの本質を理論と事例から学び、全員の前でリーダー像を宣言する。</a:t>
            </a:r>
            <a:endParaRPr lang="en-US" sz="1100" dirty="0"/>
          </a:p>
        </p:txBody>
      </p:sp>
      <p:sp>
        <p:nvSpPr>
          <p:cNvPr id="12" name="Shape 8"/>
          <p:cNvSpPr/>
          <p:nvPr/>
        </p:nvSpPr>
        <p:spPr>
          <a:xfrm>
            <a:off x="6537960" y="1097280"/>
            <a:ext cx="685800" cy="685800"/>
          </a:xfrm>
          <a:prstGeom prst="ellipse">
            <a:avLst/>
          </a:prstGeom>
          <a:solidFill>
            <a:srgbClr val="8C2029"/>
          </a:solidFill>
          <a:ln/>
          <a:effectLst>
            <a:outerShdw blurRad="50800" dist="25400" dir="8100000" algn="bl" rotWithShape="0">
              <a:srgbClr val="000000">
                <a:alpha val="8000"/>
              </a:srgbClr>
            </a:outerShdw>
          </a:effectLst>
        </p:spPr>
        <p:txBody>
          <a:bodyPr/>
          <a:lstStyle/>
          <a:p>
            <a:endParaRPr lang="ja-JP" altLang="en-US"/>
          </a:p>
        </p:txBody>
      </p:sp>
      <p:pic>
        <p:nvPicPr>
          <p:cNvPr id="13" name="Image 2" descr="preencoded.png"/>
          <p:cNvPicPr>
            <a:picLocks noChangeAspect="1"/>
          </p:cNvPicPr>
          <p:nvPr/>
        </p:nvPicPr>
        <p:blipFill>
          <a:blip r:embed="rId4"/>
          <a:stretch>
            <a:fillRect/>
          </a:stretch>
        </p:blipFill>
        <p:spPr>
          <a:xfrm>
            <a:off x="6656832" y="1216152"/>
            <a:ext cx="457200" cy="457200"/>
          </a:xfrm>
          <a:prstGeom prst="rect">
            <a:avLst/>
          </a:prstGeom>
        </p:spPr>
      </p:pic>
      <p:sp>
        <p:nvSpPr>
          <p:cNvPr id="14" name="Text 9"/>
          <p:cNvSpPr/>
          <p:nvPr/>
        </p:nvSpPr>
        <p:spPr>
          <a:xfrm>
            <a:off x="457200" y="1554480"/>
            <a:ext cx="1645920" cy="228600"/>
          </a:xfrm>
          <a:prstGeom prst="rect">
            <a:avLst/>
          </a:prstGeom>
          <a:noFill/>
          <a:ln/>
        </p:spPr>
        <p:txBody>
          <a:bodyPr wrap="square" lIns="0" tIns="0" rIns="0" bIns="0" rtlCol="0" anchor="ctr"/>
          <a:lstStyle/>
          <a:p>
            <a:pPr marL="0" indent="0">
              <a:buNone/>
            </a:pPr>
            <a:r>
              <a:rPr lang="en-US" sz="1100" b="1" dirty="0">
                <a:solidFill>
                  <a:srgbClr val="8C2029"/>
                </a:solidFill>
                <a:latin typeface="Yu Gothic" pitchFamily="34" charset="0"/>
                <a:ea typeface="Yu Gothic" pitchFamily="34" charset="-122"/>
                <a:cs typeface="Yu Gothic" pitchFamily="34" charset="-120"/>
              </a:rPr>
              <a:t>主な研修内容（案）</a:t>
            </a:r>
            <a:endParaRPr lang="en-US" sz="1100" dirty="0"/>
          </a:p>
        </p:txBody>
      </p:sp>
      <p:sp>
        <p:nvSpPr>
          <p:cNvPr id="15" name="Shape 10"/>
          <p:cNvSpPr/>
          <p:nvPr/>
        </p:nvSpPr>
        <p:spPr>
          <a:xfrm>
            <a:off x="740664" y="1975104"/>
            <a:ext cx="0" cy="1920240"/>
          </a:xfrm>
          <a:prstGeom prst="line">
            <a:avLst/>
          </a:prstGeom>
          <a:noFill/>
          <a:ln w="25400">
            <a:solidFill>
              <a:srgbClr val="D4A0A5"/>
            </a:solidFill>
            <a:prstDash val="solid"/>
          </a:ln>
        </p:spPr>
        <p:txBody>
          <a:bodyPr/>
          <a:lstStyle/>
          <a:p>
            <a:endParaRPr lang="ja-JP" altLang="en-US"/>
          </a:p>
        </p:txBody>
      </p:sp>
      <p:pic>
        <p:nvPicPr>
          <p:cNvPr id="16" name="Image 3" descr="preencoded.png"/>
          <p:cNvPicPr>
            <a:picLocks noChangeAspect="1"/>
          </p:cNvPicPr>
          <p:nvPr/>
        </p:nvPicPr>
        <p:blipFill>
          <a:blip r:embed="rId5"/>
          <a:stretch>
            <a:fillRect/>
          </a:stretch>
        </p:blipFill>
        <p:spPr>
          <a:xfrm>
            <a:off x="640080" y="1874520"/>
            <a:ext cx="201168" cy="201168"/>
          </a:xfrm>
          <a:prstGeom prst="rect">
            <a:avLst/>
          </a:prstGeom>
        </p:spPr>
      </p:pic>
      <p:sp>
        <p:nvSpPr>
          <p:cNvPr id="17" name="Text 11"/>
          <p:cNvSpPr/>
          <p:nvPr/>
        </p:nvSpPr>
        <p:spPr>
          <a:xfrm>
            <a:off x="960120" y="187452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振り返り・活動報告シェア</a:t>
            </a:r>
            <a:endParaRPr lang="en-US" sz="1100" dirty="0"/>
          </a:p>
        </p:txBody>
      </p:sp>
      <p:pic>
        <p:nvPicPr>
          <p:cNvPr id="18" name="Image 4" descr="preencoded.png"/>
          <p:cNvPicPr>
            <a:picLocks noChangeAspect="1"/>
          </p:cNvPicPr>
          <p:nvPr/>
        </p:nvPicPr>
        <p:blipFill>
          <a:blip r:embed="rId6"/>
          <a:stretch>
            <a:fillRect/>
          </a:stretch>
        </p:blipFill>
        <p:spPr>
          <a:xfrm>
            <a:off x="640080" y="2258568"/>
            <a:ext cx="201168" cy="201168"/>
          </a:xfrm>
          <a:prstGeom prst="rect">
            <a:avLst/>
          </a:prstGeom>
        </p:spPr>
      </p:pic>
      <p:sp>
        <p:nvSpPr>
          <p:cNvPr id="19" name="Text 12"/>
          <p:cNvSpPr/>
          <p:nvPr/>
        </p:nvSpPr>
        <p:spPr>
          <a:xfrm>
            <a:off x="960120" y="2258568"/>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リーダーシップとは何か？（ミニワーク→解説）</a:t>
            </a:r>
            <a:endParaRPr lang="en-US" sz="1100" dirty="0"/>
          </a:p>
        </p:txBody>
      </p:sp>
      <p:pic>
        <p:nvPicPr>
          <p:cNvPr id="20" name="Image 5" descr="preencoded.png"/>
          <p:cNvPicPr>
            <a:picLocks noChangeAspect="1"/>
          </p:cNvPicPr>
          <p:nvPr/>
        </p:nvPicPr>
        <p:blipFill>
          <a:blip r:embed="rId7"/>
          <a:stretch>
            <a:fillRect/>
          </a:stretch>
        </p:blipFill>
        <p:spPr>
          <a:xfrm>
            <a:off x="640080" y="2642616"/>
            <a:ext cx="201168" cy="201168"/>
          </a:xfrm>
          <a:prstGeom prst="rect">
            <a:avLst/>
          </a:prstGeom>
        </p:spPr>
      </p:pic>
      <p:sp>
        <p:nvSpPr>
          <p:cNvPr id="21" name="Text 13"/>
          <p:cNvSpPr/>
          <p:nvPr/>
        </p:nvSpPr>
        <p:spPr>
          <a:xfrm>
            <a:off x="960120" y="2642616"/>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事例研究（製造業ケーススタディ）</a:t>
            </a:r>
            <a:endParaRPr lang="en-US" sz="1100" dirty="0"/>
          </a:p>
        </p:txBody>
      </p:sp>
      <p:pic>
        <p:nvPicPr>
          <p:cNvPr id="22" name="Image 6" descr="preencoded.png"/>
          <p:cNvPicPr>
            <a:picLocks noChangeAspect="1"/>
          </p:cNvPicPr>
          <p:nvPr/>
        </p:nvPicPr>
        <p:blipFill>
          <a:blip r:embed="rId8"/>
          <a:stretch>
            <a:fillRect/>
          </a:stretch>
        </p:blipFill>
        <p:spPr>
          <a:xfrm>
            <a:off x="640080" y="3026664"/>
            <a:ext cx="201168" cy="201168"/>
          </a:xfrm>
          <a:prstGeom prst="rect">
            <a:avLst/>
          </a:prstGeom>
        </p:spPr>
      </p:pic>
      <p:sp>
        <p:nvSpPr>
          <p:cNvPr id="23" name="Text 14"/>
          <p:cNvSpPr/>
          <p:nvPr/>
        </p:nvSpPr>
        <p:spPr>
          <a:xfrm>
            <a:off x="960120" y="3026664"/>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目指すリーダー像の発表（一人5分＋コメント）</a:t>
            </a:r>
            <a:endParaRPr lang="en-US" sz="1100" dirty="0"/>
          </a:p>
        </p:txBody>
      </p:sp>
      <p:pic>
        <p:nvPicPr>
          <p:cNvPr id="24" name="Image 7" descr="preencoded.png"/>
          <p:cNvPicPr>
            <a:picLocks noChangeAspect="1"/>
          </p:cNvPicPr>
          <p:nvPr/>
        </p:nvPicPr>
        <p:blipFill>
          <a:blip r:embed="rId9"/>
          <a:stretch>
            <a:fillRect/>
          </a:stretch>
        </p:blipFill>
        <p:spPr>
          <a:xfrm>
            <a:off x="640080" y="3410712"/>
            <a:ext cx="201168" cy="201168"/>
          </a:xfrm>
          <a:prstGeom prst="rect">
            <a:avLst/>
          </a:prstGeom>
        </p:spPr>
      </p:pic>
      <p:sp>
        <p:nvSpPr>
          <p:cNvPr id="25" name="Text 15"/>
          <p:cNvSpPr/>
          <p:nvPr/>
        </p:nvSpPr>
        <p:spPr>
          <a:xfrm>
            <a:off x="960120" y="3410712"/>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SMART目標の解説＆自身の目標改善ワーク</a:t>
            </a:r>
            <a:endParaRPr lang="en-US" sz="1100" dirty="0"/>
          </a:p>
        </p:txBody>
      </p:sp>
      <p:pic>
        <p:nvPicPr>
          <p:cNvPr id="26" name="Image 8" descr="preencoded.png"/>
          <p:cNvPicPr>
            <a:picLocks noChangeAspect="1"/>
          </p:cNvPicPr>
          <p:nvPr/>
        </p:nvPicPr>
        <p:blipFill>
          <a:blip r:embed="rId10"/>
          <a:stretch>
            <a:fillRect/>
          </a:stretch>
        </p:blipFill>
        <p:spPr>
          <a:xfrm>
            <a:off x="640080" y="3794760"/>
            <a:ext cx="201168" cy="201168"/>
          </a:xfrm>
          <a:prstGeom prst="rect">
            <a:avLst/>
          </a:prstGeom>
        </p:spPr>
      </p:pic>
      <p:sp>
        <p:nvSpPr>
          <p:cNvPr id="27" name="Text 16"/>
          <p:cNvSpPr/>
          <p:nvPr/>
        </p:nvSpPr>
        <p:spPr>
          <a:xfrm>
            <a:off x="960120" y="379476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振り返り</a:t>
            </a:r>
            <a:endParaRPr lang="en-US" sz="1100" dirty="0"/>
          </a:p>
        </p:txBody>
      </p:sp>
      <p:sp>
        <p:nvSpPr>
          <p:cNvPr id="28" name="Shape 17"/>
          <p:cNvSpPr/>
          <p:nvPr/>
        </p:nvSpPr>
        <p:spPr>
          <a:xfrm>
            <a:off x="5852160" y="1965961"/>
            <a:ext cx="2880360" cy="1161288"/>
          </a:xfrm>
          <a:prstGeom prst="rect">
            <a:avLst/>
          </a:prstGeom>
          <a:solidFill>
            <a:srgbClr val="F9ECEE"/>
          </a:solidFill>
          <a:ln w="6350">
            <a:solidFill>
              <a:srgbClr val="D4A0A5"/>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29" name="Shape 18"/>
          <p:cNvSpPr/>
          <p:nvPr/>
        </p:nvSpPr>
        <p:spPr>
          <a:xfrm>
            <a:off x="5852160" y="1965960"/>
            <a:ext cx="2880360" cy="320040"/>
          </a:xfrm>
          <a:prstGeom prst="rect">
            <a:avLst/>
          </a:prstGeom>
          <a:solidFill>
            <a:srgbClr val="6B1520"/>
          </a:solidFill>
          <a:ln/>
        </p:spPr>
        <p:txBody>
          <a:bodyPr/>
          <a:lstStyle/>
          <a:p>
            <a:endParaRPr lang="ja-JP" altLang="en-US"/>
          </a:p>
        </p:txBody>
      </p:sp>
      <p:pic>
        <p:nvPicPr>
          <p:cNvPr id="30" name="Image 9" descr="preencoded.png"/>
          <p:cNvPicPr>
            <a:picLocks noChangeAspect="1"/>
          </p:cNvPicPr>
          <p:nvPr/>
        </p:nvPicPr>
        <p:blipFill>
          <a:blip r:embed="rId11"/>
          <a:stretch>
            <a:fillRect/>
          </a:stretch>
        </p:blipFill>
        <p:spPr>
          <a:xfrm>
            <a:off x="5989320" y="2011680"/>
            <a:ext cx="228600" cy="228600"/>
          </a:xfrm>
          <a:prstGeom prst="rect">
            <a:avLst/>
          </a:prstGeom>
        </p:spPr>
      </p:pic>
      <p:sp>
        <p:nvSpPr>
          <p:cNvPr id="31" name="Text 19"/>
          <p:cNvSpPr/>
          <p:nvPr/>
        </p:nvSpPr>
        <p:spPr>
          <a:xfrm>
            <a:off x="6263640" y="1965960"/>
            <a:ext cx="1828800" cy="320040"/>
          </a:xfrm>
          <a:prstGeom prst="rect">
            <a:avLst/>
          </a:prstGeom>
          <a:noFill/>
          <a:ln/>
        </p:spPr>
        <p:txBody>
          <a:bodyPr wrap="square" lIns="0" tIns="0" rIns="0" bIns="0" rtlCol="0" anchor="ctr"/>
          <a:lstStyle/>
          <a:p>
            <a:pPr marL="0" indent="0">
              <a:buNone/>
            </a:pPr>
            <a:r>
              <a:rPr lang="en-US" sz="1300" b="1" dirty="0">
                <a:solidFill>
                  <a:srgbClr val="FFFFFF"/>
                </a:solidFill>
                <a:latin typeface="Yu Gothic" pitchFamily="34" charset="0"/>
                <a:ea typeface="Yu Gothic" pitchFamily="34" charset="-122"/>
                <a:cs typeface="Yu Gothic" pitchFamily="34" charset="-120"/>
              </a:rPr>
              <a:t>上司連動</a:t>
            </a:r>
            <a:endParaRPr lang="en-US" sz="1300" dirty="0"/>
          </a:p>
        </p:txBody>
      </p:sp>
      <p:sp>
        <p:nvSpPr>
          <p:cNvPr id="32" name="Text 20"/>
          <p:cNvSpPr/>
          <p:nvPr/>
        </p:nvSpPr>
        <p:spPr>
          <a:xfrm>
            <a:off x="6035040" y="2423160"/>
            <a:ext cx="2514600" cy="1828800"/>
          </a:xfrm>
          <a:prstGeom prst="rect">
            <a:avLst/>
          </a:prstGeom>
          <a:noFill/>
          <a:ln/>
        </p:spPr>
        <p:txBody>
          <a:bodyPr wrap="square" lIns="0" tIns="0" rIns="0" bIns="0" rtlCol="0" anchor="t"/>
          <a:lstStyle/>
          <a:p>
            <a:pPr marL="0" indent="0">
              <a:spcAft>
                <a:spcPts val="600"/>
              </a:spcAft>
              <a:buNone/>
            </a:pPr>
            <a:r>
              <a:rPr lang="en-US" sz="1200" dirty="0">
                <a:solidFill>
                  <a:srgbClr val="5A1018"/>
                </a:solidFill>
                <a:latin typeface="Yu Gothic" pitchFamily="34" charset="0"/>
                <a:ea typeface="Yu Gothic" pitchFamily="34" charset="-122"/>
                <a:cs typeface="Yu Gothic" pitchFamily="34" charset="-120"/>
              </a:rPr>
              <a:t>リーダー宣言発表に社長・上司のご出席を依頼。上司コメントが受講生の覚悟を最も強める機会。</a:t>
            </a:r>
            <a:endParaRPr lang="en-US" sz="1200" dirty="0"/>
          </a:p>
        </p:txBody>
      </p:sp>
      <p:sp>
        <p:nvSpPr>
          <p:cNvPr id="33" name="Shape 21"/>
          <p:cNvSpPr/>
          <p:nvPr/>
        </p:nvSpPr>
        <p:spPr>
          <a:xfrm>
            <a:off x="274320" y="4617720"/>
            <a:ext cx="8595360" cy="0"/>
          </a:xfrm>
          <a:prstGeom prst="line">
            <a:avLst/>
          </a:prstGeom>
          <a:noFill/>
          <a:ln w="12700">
            <a:solidFill>
              <a:srgbClr val="8C2029"/>
            </a:solidFill>
            <a:prstDash val="dash"/>
          </a:ln>
        </p:spPr>
        <p:txBody>
          <a:bodyPr/>
          <a:lstStyle/>
          <a:p>
            <a:endParaRPr lang="ja-JP" altLang="en-US"/>
          </a:p>
        </p:txBody>
      </p:sp>
      <p:sp>
        <p:nvSpPr>
          <p:cNvPr id="34" name="Text 22"/>
          <p:cNvSpPr/>
          <p:nvPr/>
        </p:nvSpPr>
        <p:spPr>
          <a:xfrm>
            <a:off x="5943600" y="4663440"/>
            <a:ext cx="2743200" cy="274320"/>
          </a:xfrm>
          <a:prstGeom prst="rect">
            <a:avLst/>
          </a:prstGeom>
          <a:noFill/>
          <a:ln/>
        </p:spPr>
        <p:txBody>
          <a:bodyPr wrap="square" lIns="0" tIns="0" rIns="0" bIns="0"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C2029"/>
          </a:solidFill>
          <a:ln/>
        </p:spPr>
        <p:txBody>
          <a:bodyPr/>
          <a:lstStyle/>
          <a:p>
            <a:endParaRPr lang="ja-JP" altLang="en-US"/>
          </a:p>
        </p:txBody>
      </p:sp>
      <p:pic>
        <p:nvPicPr>
          <p:cNvPr id="3" name="Image 0" descr="/sessions/cool-intelligent-bohr/logo_icon.jpeg"/>
          <p:cNvPicPr>
            <a:picLocks noChangeAspect="1"/>
          </p:cNvPicPr>
          <p:nvPr/>
        </p:nvPicPr>
        <p:blipFill>
          <a:blip r:embed="rId2"/>
          <a:stretch>
            <a:fillRect/>
          </a:stretch>
        </p:blipFill>
        <p:spPr>
          <a:xfrm>
            <a:off x="7498080" y="109728"/>
            <a:ext cx="182880" cy="182880"/>
          </a:xfrm>
          <a:prstGeom prst="rect">
            <a:avLst/>
          </a:prstGeom>
        </p:spPr>
      </p:pic>
      <p:pic>
        <p:nvPicPr>
          <p:cNvPr id="4" name="Image 1" descr="/sessions/cool-intelligent-bohr/logo_text.jpeg"/>
          <p:cNvPicPr>
            <a:picLocks noChangeAspect="1"/>
          </p:cNvPicPr>
          <p:nvPr/>
        </p:nvPicPr>
        <p:blipFill>
          <a:blip r:embed="rId3"/>
          <a:stretch>
            <a:fillRect/>
          </a:stretch>
        </p:blipFill>
        <p:spPr>
          <a:xfrm>
            <a:off x="7726680" y="128016"/>
            <a:ext cx="1097280" cy="146304"/>
          </a:xfrm>
          <a:prstGeom prst="rect">
            <a:avLst/>
          </a:prstGeom>
        </p:spPr>
      </p:pic>
      <p:sp>
        <p:nvSpPr>
          <p:cNvPr id="5" name="Text 1"/>
          <p:cNvSpPr/>
          <p:nvPr/>
        </p:nvSpPr>
        <p:spPr>
          <a:xfrm>
            <a:off x="457200" y="137160"/>
            <a:ext cx="6858000" cy="411480"/>
          </a:xfrm>
          <a:prstGeom prst="rect">
            <a:avLst/>
          </a:prstGeom>
          <a:noFill/>
          <a:ln/>
        </p:spPr>
        <p:txBody>
          <a:bodyPr wrap="square" lIns="0" tIns="0" rIns="0" bIns="0" rtlCol="0" anchor="ctr"/>
          <a:lstStyle/>
          <a:p>
            <a:pPr marL="0" indent="0">
              <a:buNone/>
            </a:pPr>
            <a:r>
              <a:rPr lang="en-US" sz="1300" b="1" dirty="0">
                <a:solidFill>
                  <a:srgbClr val="8C2029"/>
                </a:solidFill>
                <a:latin typeface="Arial" pitchFamily="34" charset="0"/>
                <a:ea typeface="Arial" pitchFamily="34" charset="-122"/>
                <a:cs typeface="Arial" pitchFamily="34" charset="-120"/>
              </a:rPr>
              <a:t>Session 5</a:t>
            </a:r>
            <a:r>
              <a:rPr lang="en-US" sz="2000" b="1" dirty="0">
                <a:solidFill>
                  <a:srgbClr val="333333"/>
                </a:solidFill>
                <a:latin typeface="Yu Gothic" pitchFamily="34" charset="0"/>
                <a:ea typeface="Yu Gothic" pitchFamily="34" charset="-122"/>
                <a:cs typeface="Yu Gothic" pitchFamily="34" charset="-120"/>
              </a:rPr>
              <a:t>：問題解決の技術</a:t>
            </a:r>
            <a:endParaRPr lang="en-US" sz="1300" dirty="0"/>
          </a:p>
        </p:txBody>
      </p:sp>
      <p:sp>
        <p:nvSpPr>
          <p:cNvPr id="6" name="Shape 2"/>
          <p:cNvSpPr/>
          <p:nvPr/>
        </p:nvSpPr>
        <p:spPr>
          <a:xfrm>
            <a:off x="457200" y="566928"/>
            <a:ext cx="640080" cy="36576"/>
          </a:xfrm>
          <a:prstGeom prst="rect">
            <a:avLst/>
          </a:prstGeom>
          <a:solidFill>
            <a:srgbClr val="8C2029"/>
          </a:solidFill>
          <a:ln/>
        </p:spPr>
        <p:txBody>
          <a:bodyPr/>
          <a:lstStyle/>
          <a:p>
            <a:endParaRPr lang="ja-JP" altLang="en-US"/>
          </a:p>
        </p:txBody>
      </p:sp>
      <p:sp>
        <p:nvSpPr>
          <p:cNvPr id="7" name="Shape 3"/>
          <p:cNvSpPr/>
          <p:nvPr/>
        </p:nvSpPr>
        <p:spPr>
          <a:xfrm>
            <a:off x="457200" y="713232"/>
            <a:ext cx="8229600" cy="292608"/>
          </a:xfrm>
          <a:prstGeom prst="rect">
            <a:avLst/>
          </a:prstGeom>
          <a:solidFill>
            <a:srgbClr val="F2E0E0"/>
          </a:solidFill>
          <a:ln/>
        </p:spPr>
        <p:txBody>
          <a:bodyPr/>
          <a:lstStyle/>
          <a:p>
            <a:endParaRPr lang="ja-JP" altLang="en-US"/>
          </a:p>
        </p:txBody>
      </p:sp>
      <p:sp>
        <p:nvSpPr>
          <p:cNvPr id="8" name="Text 4"/>
          <p:cNvSpPr/>
          <p:nvPr/>
        </p:nvSpPr>
        <p:spPr>
          <a:xfrm>
            <a:off x="457200" y="713232"/>
            <a:ext cx="8229600" cy="292608"/>
          </a:xfrm>
          <a:prstGeom prst="rect">
            <a:avLst/>
          </a:prstGeom>
          <a:noFill/>
          <a:ln/>
        </p:spPr>
        <p:txBody>
          <a:bodyPr wrap="square" lIns="0" tIns="0" rIns="0" bIns="0" rtlCol="0" anchor="ctr"/>
          <a:lstStyle/>
          <a:p>
            <a:pPr marL="0" indent="0" algn="ctr">
              <a:buNone/>
            </a:pPr>
            <a:r>
              <a:rPr lang="en-US" sz="1200" dirty="0">
                <a:solidFill>
                  <a:srgbClr val="8C2029"/>
                </a:solidFill>
                <a:latin typeface="Yu Gothic" pitchFamily="34" charset="0"/>
                <a:ea typeface="Yu Gothic" pitchFamily="34" charset="-122"/>
                <a:cs typeface="Yu Gothic" pitchFamily="34" charset="-120"/>
              </a:rPr>
              <a:t>〜 構造的に考える力を身につける 〜</a:t>
            </a:r>
            <a:endParaRPr lang="en-US" sz="1200" dirty="0"/>
          </a:p>
        </p:txBody>
      </p:sp>
      <p:sp>
        <p:nvSpPr>
          <p:cNvPr id="9" name="Shape 5"/>
          <p:cNvSpPr/>
          <p:nvPr/>
        </p:nvSpPr>
        <p:spPr>
          <a:xfrm>
            <a:off x="457200" y="1143000"/>
            <a:ext cx="640080" cy="256032"/>
          </a:xfrm>
          <a:prstGeom prst="rect">
            <a:avLst/>
          </a:prstGeom>
          <a:solidFill>
            <a:srgbClr val="8C2029"/>
          </a:solidFill>
          <a:ln/>
        </p:spPr>
        <p:txBody>
          <a:bodyPr/>
          <a:lstStyle/>
          <a:p>
            <a:endParaRPr lang="ja-JP" altLang="en-US"/>
          </a:p>
        </p:txBody>
      </p:sp>
      <p:sp>
        <p:nvSpPr>
          <p:cNvPr id="10" name="Text 6"/>
          <p:cNvSpPr/>
          <p:nvPr/>
        </p:nvSpPr>
        <p:spPr>
          <a:xfrm>
            <a:off x="457200" y="1143000"/>
            <a:ext cx="6400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Yu Gothic" pitchFamily="34" charset="0"/>
                <a:ea typeface="Yu Gothic" pitchFamily="34" charset="-122"/>
                <a:cs typeface="Yu Gothic" pitchFamily="34" charset="-120"/>
              </a:rPr>
              <a:t>ねらい</a:t>
            </a:r>
            <a:endParaRPr lang="en-US" sz="1100" dirty="0"/>
          </a:p>
        </p:txBody>
      </p:sp>
      <p:sp>
        <p:nvSpPr>
          <p:cNvPr id="11" name="Text 7"/>
          <p:cNvSpPr/>
          <p:nvPr/>
        </p:nvSpPr>
        <p:spPr>
          <a:xfrm>
            <a:off x="1188720" y="1143000"/>
            <a:ext cx="4572000" cy="256032"/>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MECE・ロジックツリー等のフレームワークを習得し、構造的思考力を養う。</a:t>
            </a:r>
            <a:endParaRPr lang="en-US" sz="1100" dirty="0"/>
          </a:p>
        </p:txBody>
      </p:sp>
      <p:sp>
        <p:nvSpPr>
          <p:cNvPr id="12" name="Shape 8"/>
          <p:cNvSpPr/>
          <p:nvPr/>
        </p:nvSpPr>
        <p:spPr>
          <a:xfrm>
            <a:off x="6537960" y="1097280"/>
            <a:ext cx="685800" cy="685800"/>
          </a:xfrm>
          <a:prstGeom prst="ellipse">
            <a:avLst/>
          </a:prstGeom>
          <a:solidFill>
            <a:srgbClr val="8C2029"/>
          </a:solidFill>
          <a:ln/>
          <a:effectLst>
            <a:outerShdw blurRad="50800" dist="25400" dir="8100000" algn="bl" rotWithShape="0">
              <a:srgbClr val="000000">
                <a:alpha val="8000"/>
              </a:srgbClr>
            </a:outerShdw>
          </a:effectLst>
        </p:spPr>
        <p:txBody>
          <a:bodyPr/>
          <a:lstStyle/>
          <a:p>
            <a:endParaRPr lang="ja-JP" altLang="en-US"/>
          </a:p>
        </p:txBody>
      </p:sp>
      <p:pic>
        <p:nvPicPr>
          <p:cNvPr id="13" name="Image 2" descr="preencoded.png"/>
          <p:cNvPicPr>
            <a:picLocks noChangeAspect="1"/>
          </p:cNvPicPr>
          <p:nvPr/>
        </p:nvPicPr>
        <p:blipFill>
          <a:blip r:embed="rId4"/>
          <a:stretch>
            <a:fillRect/>
          </a:stretch>
        </p:blipFill>
        <p:spPr>
          <a:xfrm>
            <a:off x="6656832" y="1216152"/>
            <a:ext cx="457200" cy="457200"/>
          </a:xfrm>
          <a:prstGeom prst="rect">
            <a:avLst/>
          </a:prstGeom>
        </p:spPr>
      </p:pic>
      <p:sp>
        <p:nvSpPr>
          <p:cNvPr id="14" name="Text 9"/>
          <p:cNvSpPr/>
          <p:nvPr/>
        </p:nvSpPr>
        <p:spPr>
          <a:xfrm>
            <a:off x="457200" y="1554480"/>
            <a:ext cx="1645920" cy="228600"/>
          </a:xfrm>
          <a:prstGeom prst="rect">
            <a:avLst/>
          </a:prstGeom>
          <a:noFill/>
          <a:ln/>
        </p:spPr>
        <p:txBody>
          <a:bodyPr wrap="square" lIns="0" tIns="0" rIns="0" bIns="0" rtlCol="0" anchor="ctr"/>
          <a:lstStyle/>
          <a:p>
            <a:pPr marL="0" indent="0">
              <a:buNone/>
            </a:pPr>
            <a:r>
              <a:rPr lang="en-US" sz="1100" b="1" dirty="0">
                <a:solidFill>
                  <a:srgbClr val="8C2029"/>
                </a:solidFill>
                <a:latin typeface="Yu Gothic" pitchFamily="34" charset="0"/>
                <a:ea typeface="Yu Gothic" pitchFamily="34" charset="-122"/>
                <a:cs typeface="Yu Gothic" pitchFamily="34" charset="-120"/>
              </a:rPr>
              <a:t>主な研修内容（案）</a:t>
            </a:r>
            <a:endParaRPr lang="en-US" sz="1100" dirty="0"/>
          </a:p>
        </p:txBody>
      </p:sp>
      <p:sp>
        <p:nvSpPr>
          <p:cNvPr id="15" name="Shape 10"/>
          <p:cNvSpPr/>
          <p:nvPr/>
        </p:nvSpPr>
        <p:spPr>
          <a:xfrm>
            <a:off x="740664" y="1975104"/>
            <a:ext cx="0" cy="1920240"/>
          </a:xfrm>
          <a:prstGeom prst="line">
            <a:avLst/>
          </a:prstGeom>
          <a:noFill/>
          <a:ln w="25400">
            <a:solidFill>
              <a:srgbClr val="D4A0A5"/>
            </a:solidFill>
            <a:prstDash val="solid"/>
          </a:ln>
        </p:spPr>
        <p:txBody>
          <a:bodyPr/>
          <a:lstStyle/>
          <a:p>
            <a:endParaRPr lang="ja-JP" altLang="en-US"/>
          </a:p>
        </p:txBody>
      </p:sp>
      <p:pic>
        <p:nvPicPr>
          <p:cNvPr id="16" name="Image 3" descr="preencoded.png"/>
          <p:cNvPicPr>
            <a:picLocks noChangeAspect="1"/>
          </p:cNvPicPr>
          <p:nvPr/>
        </p:nvPicPr>
        <p:blipFill>
          <a:blip r:embed="rId5"/>
          <a:stretch>
            <a:fillRect/>
          </a:stretch>
        </p:blipFill>
        <p:spPr>
          <a:xfrm>
            <a:off x="640080" y="1874520"/>
            <a:ext cx="201168" cy="201168"/>
          </a:xfrm>
          <a:prstGeom prst="rect">
            <a:avLst/>
          </a:prstGeom>
        </p:spPr>
      </p:pic>
      <p:sp>
        <p:nvSpPr>
          <p:cNvPr id="17" name="Text 11"/>
          <p:cNvSpPr/>
          <p:nvPr/>
        </p:nvSpPr>
        <p:spPr>
          <a:xfrm>
            <a:off x="960120" y="187452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振り返り・活動報告シェア</a:t>
            </a:r>
            <a:endParaRPr lang="en-US" sz="1100" dirty="0"/>
          </a:p>
        </p:txBody>
      </p:sp>
      <p:pic>
        <p:nvPicPr>
          <p:cNvPr id="18" name="Image 4" descr="preencoded.png"/>
          <p:cNvPicPr>
            <a:picLocks noChangeAspect="1"/>
          </p:cNvPicPr>
          <p:nvPr/>
        </p:nvPicPr>
        <p:blipFill>
          <a:blip r:embed="rId6"/>
          <a:stretch>
            <a:fillRect/>
          </a:stretch>
        </p:blipFill>
        <p:spPr>
          <a:xfrm>
            <a:off x="640080" y="2258568"/>
            <a:ext cx="201168" cy="201168"/>
          </a:xfrm>
          <a:prstGeom prst="rect">
            <a:avLst/>
          </a:prstGeom>
        </p:spPr>
      </p:pic>
      <p:sp>
        <p:nvSpPr>
          <p:cNvPr id="19" name="Text 12"/>
          <p:cNvSpPr/>
          <p:nvPr/>
        </p:nvSpPr>
        <p:spPr>
          <a:xfrm>
            <a:off x="960120" y="2258568"/>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課題図書の振り返り ※図書は貴社と相談のうえ選定</a:t>
            </a:r>
            <a:endParaRPr lang="en-US" sz="1100" dirty="0"/>
          </a:p>
        </p:txBody>
      </p:sp>
      <p:pic>
        <p:nvPicPr>
          <p:cNvPr id="20" name="Image 5" descr="preencoded.png"/>
          <p:cNvPicPr>
            <a:picLocks noChangeAspect="1"/>
          </p:cNvPicPr>
          <p:nvPr/>
        </p:nvPicPr>
        <p:blipFill>
          <a:blip r:embed="rId7"/>
          <a:stretch>
            <a:fillRect/>
          </a:stretch>
        </p:blipFill>
        <p:spPr>
          <a:xfrm>
            <a:off x="640080" y="2642616"/>
            <a:ext cx="201168" cy="201168"/>
          </a:xfrm>
          <a:prstGeom prst="rect">
            <a:avLst/>
          </a:prstGeom>
        </p:spPr>
      </p:pic>
      <p:sp>
        <p:nvSpPr>
          <p:cNvPr id="21" name="Text 13"/>
          <p:cNvSpPr/>
          <p:nvPr/>
        </p:nvSpPr>
        <p:spPr>
          <a:xfrm>
            <a:off x="960120" y="2642616"/>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問題解決ステップの意義（講義＋ミニワーク）</a:t>
            </a:r>
            <a:endParaRPr lang="en-US" sz="1100" dirty="0"/>
          </a:p>
        </p:txBody>
      </p:sp>
      <p:pic>
        <p:nvPicPr>
          <p:cNvPr id="22" name="Image 6" descr="preencoded.png"/>
          <p:cNvPicPr>
            <a:picLocks noChangeAspect="1"/>
          </p:cNvPicPr>
          <p:nvPr/>
        </p:nvPicPr>
        <p:blipFill>
          <a:blip r:embed="rId8"/>
          <a:stretch>
            <a:fillRect/>
          </a:stretch>
        </p:blipFill>
        <p:spPr>
          <a:xfrm>
            <a:off x="640080" y="3026664"/>
            <a:ext cx="201168" cy="201168"/>
          </a:xfrm>
          <a:prstGeom prst="rect">
            <a:avLst/>
          </a:prstGeom>
        </p:spPr>
      </p:pic>
      <p:sp>
        <p:nvSpPr>
          <p:cNvPr id="23" name="Text 14"/>
          <p:cNvSpPr/>
          <p:nvPr/>
        </p:nvSpPr>
        <p:spPr>
          <a:xfrm>
            <a:off x="960120" y="3026664"/>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MECE（演習：業務課題の分解）</a:t>
            </a:r>
            <a:endParaRPr lang="en-US" sz="1100" dirty="0"/>
          </a:p>
        </p:txBody>
      </p:sp>
      <p:pic>
        <p:nvPicPr>
          <p:cNvPr id="24" name="Image 7" descr="preencoded.png"/>
          <p:cNvPicPr>
            <a:picLocks noChangeAspect="1"/>
          </p:cNvPicPr>
          <p:nvPr/>
        </p:nvPicPr>
        <p:blipFill>
          <a:blip r:embed="rId9"/>
          <a:stretch>
            <a:fillRect/>
          </a:stretch>
        </p:blipFill>
        <p:spPr>
          <a:xfrm>
            <a:off x="640080" y="3410712"/>
            <a:ext cx="201168" cy="201168"/>
          </a:xfrm>
          <a:prstGeom prst="rect">
            <a:avLst/>
          </a:prstGeom>
        </p:spPr>
      </p:pic>
      <p:sp>
        <p:nvSpPr>
          <p:cNvPr id="25" name="Text 15"/>
          <p:cNvSpPr/>
          <p:nvPr/>
        </p:nvSpPr>
        <p:spPr>
          <a:xfrm>
            <a:off x="960120" y="3410712"/>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ロジックツリー（演習：職場課題での実践）</a:t>
            </a:r>
            <a:endParaRPr lang="en-US" sz="1100" dirty="0"/>
          </a:p>
        </p:txBody>
      </p:sp>
      <p:pic>
        <p:nvPicPr>
          <p:cNvPr id="26" name="Image 8" descr="preencoded.png"/>
          <p:cNvPicPr>
            <a:picLocks noChangeAspect="1"/>
          </p:cNvPicPr>
          <p:nvPr/>
        </p:nvPicPr>
        <p:blipFill>
          <a:blip r:embed="rId10"/>
          <a:stretch>
            <a:fillRect/>
          </a:stretch>
        </p:blipFill>
        <p:spPr>
          <a:xfrm>
            <a:off x="640080" y="3794760"/>
            <a:ext cx="201168" cy="201168"/>
          </a:xfrm>
          <a:prstGeom prst="rect">
            <a:avLst/>
          </a:prstGeom>
        </p:spPr>
      </p:pic>
      <p:sp>
        <p:nvSpPr>
          <p:cNvPr id="27" name="Text 16"/>
          <p:cNvSpPr/>
          <p:nvPr/>
        </p:nvSpPr>
        <p:spPr>
          <a:xfrm>
            <a:off x="960120" y="379476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中間報告準備説明＆Q&amp;A</a:t>
            </a:r>
            <a:endParaRPr lang="en-US" sz="1100" dirty="0"/>
          </a:p>
        </p:txBody>
      </p:sp>
      <p:sp>
        <p:nvSpPr>
          <p:cNvPr id="28" name="Shape 17"/>
          <p:cNvSpPr/>
          <p:nvPr/>
        </p:nvSpPr>
        <p:spPr>
          <a:xfrm>
            <a:off x="5852160" y="1965961"/>
            <a:ext cx="2880360" cy="1161288"/>
          </a:xfrm>
          <a:prstGeom prst="rect">
            <a:avLst/>
          </a:prstGeom>
          <a:solidFill>
            <a:srgbClr val="F9ECEE"/>
          </a:solidFill>
          <a:ln w="6350">
            <a:solidFill>
              <a:srgbClr val="D4A0A5"/>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29" name="Shape 18"/>
          <p:cNvSpPr/>
          <p:nvPr/>
        </p:nvSpPr>
        <p:spPr>
          <a:xfrm>
            <a:off x="5852160" y="1965960"/>
            <a:ext cx="2880360" cy="320040"/>
          </a:xfrm>
          <a:prstGeom prst="rect">
            <a:avLst/>
          </a:prstGeom>
          <a:solidFill>
            <a:srgbClr val="6B1520"/>
          </a:solidFill>
          <a:ln/>
        </p:spPr>
        <p:txBody>
          <a:bodyPr/>
          <a:lstStyle/>
          <a:p>
            <a:endParaRPr lang="ja-JP" altLang="en-US"/>
          </a:p>
        </p:txBody>
      </p:sp>
      <p:pic>
        <p:nvPicPr>
          <p:cNvPr id="30" name="Image 9" descr="preencoded.png"/>
          <p:cNvPicPr>
            <a:picLocks noChangeAspect="1"/>
          </p:cNvPicPr>
          <p:nvPr/>
        </p:nvPicPr>
        <p:blipFill>
          <a:blip r:embed="rId11"/>
          <a:stretch>
            <a:fillRect/>
          </a:stretch>
        </p:blipFill>
        <p:spPr>
          <a:xfrm>
            <a:off x="5989320" y="2011680"/>
            <a:ext cx="228600" cy="228600"/>
          </a:xfrm>
          <a:prstGeom prst="rect">
            <a:avLst/>
          </a:prstGeom>
        </p:spPr>
      </p:pic>
      <p:sp>
        <p:nvSpPr>
          <p:cNvPr id="31" name="Text 19"/>
          <p:cNvSpPr/>
          <p:nvPr/>
        </p:nvSpPr>
        <p:spPr>
          <a:xfrm>
            <a:off x="6263640" y="1965960"/>
            <a:ext cx="1828800" cy="320040"/>
          </a:xfrm>
          <a:prstGeom prst="rect">
            <a:avLst/>
          </a:prstGeom>
          <a:noFill/>
          <a:ln/>
        </p:spPr>
        <p:txBody>
          <a:bodyPr wrap="square" lIns="0" tIns="0" rIns="0" bIns="0" rtlCol="0" anchor="ctr"/>
          <a:lstStyle/>
          <a:p>
            <a:pPr marL="0" indent="0">
              <a:buNone/>
            </a:pPr>
            <a:r>
              <a:rPr lang="en-US" sz="1300" b="1" dirty="0">
                <a:solidFill>
                  <a:srgbClr val="FFFFFF"/>
                </a:solidFill>
                <a:latin typeface="Yu Gothic" pitchFamily="34" charset="0"/>
                <a:ea typeface="Yu Gothic" pitchFamily="34" charset="-122"/>
                <a:cs typeface="Yu Gothic" pitchFamily="34" charset="-120"/>
              </a:rPr>
              <a:t>上司連動</a:t>
            </a:r>
            <a:endParaRPr lang="en-US" sz="1300" dirty="0"/>
          </a:p>
        </p:txBody>
      </p:sp>
      <p:sp>
        <p:nvSpPr>
          <p:cNvPr id="32" name="Text 20"/>
          <p:cNvSpPr/>
          <p:nvPr/>
        </p:nvSpPr>
        <p:spPr>
          <a:xfrm>
            <a:off x="6035040" y="2423160"/>
            <a:ext cx="2514600" cy="1828800"/>
          </a:xfrm>
          <a:prstGeom prst="rect">
            <a:avLst/>
          </a:prstGeom>
          <a:noFill/>
          <a:ln/>
        </p:spPr>
        <p:txBody>
          <a:bodyPr wrap="square" lIns="0" tIns="0" rIns="0" bIns="0" rtlCol="0" anchor="t"/>
          <a:lstStyle/>
          <a:p>
            <a:pPr marL="0" indent="0">
              <a:spcAft>
                <a:spcPts val="600"/>
              </a:spcAft>
              <a:buNone/>
            </a:pPr>
            <a:r>
              <a:rPr lang="en-US" sz="1200" dirty="0">
                <a:solidFill>
                  <a:srgbClr val="5A1018"/>
                </a:solidFill>
                <a:latin typeface="Yu Gothic" pitchFamily="34" charset="0"/>
                <a:ea typeface="Yu Gothic" pitchFamily="34" charset="-122"/>
                <a:cs typeface="Yu Gothic" pitchFamily="34" charset="-120"/>
              </a:rPr>
              <a:t>中間報告のテーマについて上司面談を推奨。現場データの提供等、上司の協力が成果の質を左右する。</a:t>
            </a:r>
            <a:endParaRPr lang="en-US" sz="1200" dirty="0"/>
          </a:p>
        </p:txBody>
      </p:sp>
      <p:sp>
        <p:nvSpPr>
          <p:cNvPr id="33" name="Shape 21"/>
          <p:cNvSpPr/>
          <p:nvPr/>
        </p:nvSpPr>
        <p:spPr>
          <a:xfrm>
            <a:off x="274320" y="4617720"/>
            <a:ext cx="8595360" cy="0"/>
          </a:xfrm>
          <a:prstGeom prst="line">
            <a:avLst/>
          </a:prstGeom>
          <a:noFill/>
          <a:ln w="12700">
            <a:solidFill>
              <a:srgbClr val="8C2029"/>
            </a:solidFill>
            <a:prstDash val="dash"/>
          </a:ln>
        </p:spPr>
        <p:txBody>
          <a:bodyPr/>
          <a:lstStyle/>
          <a:p>
            <a:endParaRPr lang="ja-JP" altLang="en-US"/>
          </a:p>
        </p:txBody>
      </p:sp>
      <p:sp>
        <p:nvSpPr>
          <p:cNvPr id="34" name="Text 22"/>
          <p:cNvSpPr/>
          <p:nvPr/>
        </p:nvSpPr>
        <p:spPr>
          <a:xfrm>
            <a:off x="5943600" y="4663440"/>
            <a:ext cx="2743200" cy="274320"/>
          </a:xfrm>
          <a:prstGeom prst="rect">
            <a:avLst/>
          </a:prstGeom>
          <a:noFill/>
          <a:ln/>
        </p:spPr>
        <p:txBody>
          <a:bodyPr wrap="square" lIns="0" tIns="0" rIns="0" bIns="0"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C2029"/>
          </a:solidFill>
          <a:ln/>
        </p:spPr>
        <p:txBody>
          <a:bodyPr/>
          <a:lstStyle/>
          <a:p>
            <a:endParaRPr lang="ja-JP" altLang="en-US"/>
          </a:p>
        </p:txBody>
      </p:sp>
      <p:pic>
        <p:nvPicPr>
          <p:cNvPr id="3" name="Image 0" descr="/sessions/cool-intelligent-bohr/logo_icon.jpeg"/>
          <p:cNvPicPr>
            <a:picLocks noChangeAspect="1"/>
          </p:cNvPicPr>
          <p:nvPr/>
        </p:nvPicPr>
        <p:blipFill>
          <a:blip r:embed="rId2"/>
          <a:stretch>
            <a:fillRect/>
          </a:stretch>
        </p:blipFill>
        <p:spPr>
          <a:xfrm>
            <a:off x="7498080" y="109728"/>
            <a:ext cx="182880" cy="182880"/>
          </a:xfrm>
          <a:prstGeom prst="rect">
            <a:avLst/>
          </a:prstGeom>
        </p:spPr>
      </p:pic>
      <p:pic>
        <p:nvPicPr>
          <p:cNvPr id="4" name="Image 1" descr="/sessions/cool-intelligent-bohr/logo_text.jpeg"/>
          <p:cNvPicPr>
            <a:picLocks noChangeAspect="1"/>
          </p:cNvPicPr>
          <p:nvPr/>
        </p:nvPicPr>
        <p:blipFill>
          <a:blip r:embed="rId3"/>
          <a:stretch>
            <a:fillRect/>
          </a:stretch>
        </p:blipFill>
        <p:spPr>
          <a:xfrm>
            <a:off x="7726680" y="128016"/>
            <a:ext cx="1097280" cy="146304"/>
          </a:xfrm>
          <a:prstGeom prst="rect">
            <a:avLst/>
          </a:prstGeom>
        </p:spPr>
      </p:pic>
      <p:sp>
        <p:nvSpPr>
          <p:cNvPr id="5" name="Text 1"/>
          <p:cNvSpPr/>
          <p:nvPr/>
        </p:nvSpPr>
        <p:spPr>
          <a:xfrm>
            <a:off x="457200" y="137160"/>
            <a:ext cx="6858000" cy="411480"/>
          </a:xfrm>
          <a:prstGeom prst="rect">
            <a:avLst/>
          </a:prstGeom>
          <a:noFill/>
          <a:ln/>
        </p:spPr>
        <p:txBody>
          <a:bodyPr wrap="square" lIns="0" tIns="0" rIns="0" bIns="0" rtlCol="0" anchor="ctr"/>
          <a:lstStyle/>
          <a:p>
            <a:pPr marL="0" indent="0">
              <a:buNone/>
            </a:pPr>
            <a:r>
              <a:rPr lang="en-US" sz="1300" b="1" dirty="0">
                <a:solidFill>
                  <a:srgbClr val="8C2029"/>
                </a:solidFill>
                <a:latin typeface="Arial" pitchFamily="34" charset="0"/>
                <a:ea typeface="Arial" pitchFamily="34" charset="-122"/>
                <a:cs typeface="Arial" pitchFamily="34" charset="-120"/>
              </a:rPr>
              <a:t>Session 6</a:t>
            </a:r>
            <a:r>
              <a:rPr lang="en-US" sz="2000" b="1" dirty="0">
                <a:solidFill>
                  <a:srgbClr val="333333"/>
                </a:solidFill>
                <a:latin typeface="Yu Gothic" pitchFamily="34" charset="0"/>
                <a:ea typeface="Yu Gothic" pitchFamily="34" charset="-122"/>
                <a:cs typeface="Yu Gothic" pitchFamily="34" charset="-120"/>
              </a:rPr>
              <a:t>：プレゼンテーション技術</a:t>
            </a:r>
            <a:endParaRPr lang="en-US" sz="1300" dirty="0"/>
          </a:p>
        </p:txBody>
      </p:sp>
      <p:sp>
        <p:nvSpPr>
          <p:cNvPr id="6" name="Shape 2"/>
          <p:cNvSpPr/>
          <p:nvPr/>
        </p:nvSpPr>
        <p:spPr>
          <a:xfrm>
            <a:off x="457200" y="566928"/>
            <a:ext cx="640080" cy="36576"/>
          </a:xfrm>
          <a:prstGeom prst="rect">
            <a:avLst/>
          </a:prstGeom>
          <a:solidFill>
            <a:srgbClr val="8C2029"/>
          </a:solidFill>
          <a:ln/>
        </p:spPr>
        <p:txBody>
          <a:bodyPr/>
          <a:lstStyle/>
          <a:p>
            <a:endParaRPr lang="ja-JP" altLang="en-US"/>
          </a:p>
        </p:txBody>
      </p:sp>
      <p:sp>
        <p:nvSpPr>
          <p:cNvPr id="7" name="Shape 3"/>
          <p:cNvSpPr/>
          <p:nvPr/>
        </p:nvSpPr>
        <p:spPr>
          <a:xfrm>
            <a:off x="457200" y="713232"/>
            <a:ext cx="8229600" cy="292608"/>
          </a:xfrm>
          <a:prstGeom prst="rect">
            <a:avLst/>
          </a:prstGeom>
          <a:solidFill>
            <a:srgbClr val="F2E0E0"/>
          </a:solidFill>
          <a:ln/>
        </p:spPr>
        <p:txBody>
          <a:bodyPr/>
          <a:lstStyle/>
          <a:p>
            <a:endParaRPr lang="ja-JP" altLang="en-US"/>
          </a:p>
        </p:txBody>
      </p:sp>
      <p:sp>
        <p:nvSpPr>
          <p:cNvPr id="8" name="Text 4"/>
          <p:cNvSpPr/>
          <p:nvPr/>
        </p:nvSpPr>
        <p:spPr>
          <a:xfrm>
            <a:off x="457200" y="713232"/>
            <a:ext cx="8229600" cy="292608"/>
          </a:xfrm>
          <a:prstGeom prst="rect">
            <a:avLst/>
          </a:prstGeom>
          <a:noFill/>
          <a:ln/>
        </p:spPr>
        <p:txBody>
          <a:bodyPr wrap="square" lIns="0" tIns="0" rIns="0" bIns="0" rtlCol="0" anchor="ctr"/>
          <a:lstStyle/>
          <a:p>
            <a:pPr marL="0" indent="0" algn="ctr">
              <a:buNone/>
            </a:pPr>
            <a:r>
              <a:rPr lang="en-US" sz="1200" dirty="0">
                <a:solidFill>
                  <a:srgbClr val="8C2029"/>
                </a:solidFill>
                <a:latin typeface="Yu Gothic" pitchFamily="34" charset="0"/>
                <a:ea typeface="Yu Gothic" pitchFamily="34" charset="-122"/>
                <a:cs typeface="Yu Gothic" pitchFamily="34" charset="-120"/>
              </a:rPr>
              <a:t>〜 人を動かす伝え方を学ぶ 〜</a:t>
            </a:r>
            <a:endParaRPr lang="en-US" sz="1200" dirty="0"/>
          </a:p>
        </p:txBody>
      </p:sp>
      <p:sp>
        <p:nvSpPr>
          <p:cNvPr id="9" name="Shape 5"/>
          <p:cNvSpPr/>
          <p:nvPr/>
        </p:nvSpPr>
        <p:spPr>
          <a:xfrm>
            <a:off x="457200" y="1143000"/>
            <a:ext cx="640080" cy="256032"/>
          </a:xfrm>
          <a:prstGeom prst="rect">
            <a:avLst/>
          </a:prstGeom>
          <a:solidFill>
            <a:srgbClr val="8C2029"/>
          </a:solidFill>
          <a:ln/>
        </p:spPr>
        <p:txBody>
          <a:bodyPr/>
          <a:lstStyle/>
          <a:p>
            <a:endParaRPr lang="ja-JP" altLang="en-US"/>
          </a:p>
        </p:txBody>
      </p:sp>
      <p:sp>
        <p:nvSpPr>
          <p:cNvPr id="10" name="Text 6"/>
          <p:cNvSpPr/>
          <p:nvPr/>
        </p:nvSpPr>
        <p:spPr>
          <a:xfrm>
            <a:off x="457200" y="1143000"/>
            <a:ext cx="6400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Yu Gothic" pitchFamily="34" charset="0"/>
                <a:ea typeface="Yu Gothic" pitchFamily="34" charset="-122"/>
                <a:cs typeface="Yu Gothic" pitchFamily="34" charset="-120"/>
              </a:rPr>
              <a:t>ねらい</a:t>
            </a:r>
            <a:endParaRPr lang="en-US" sz="1100" dirty="0"/>
          </a:p>
        </p:txBody>
      </p:sp>
      <p:sp>
        <p:nvSpPr>
          <p:cNvPr id="11" name="Text 7"/>
          <p:cNvSpPr/>
          <p:nvPr/>
        </p:nvSpPr>
        <p:spPr>
          <a:xfrm>
            <a:off x="1188720" y="1143000"/>
            <a:ext cx="4572000" cy="256032"/>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プレゼンの準備・資料作成・実演の技術を体系的に学び、中間報告への実践力を高める。</a:t>
            </a:r>
            <a:endParaRPr lang="en-US" sz="1100" dirty="0"/>
          </a:p>
        </p:txBody>
      </p:sp>
      <p:sp>
        <p:nvSpPr>
          <p:cNvPr id="12" name="Shape 8"/>
          <p:cNvSpPr/>
          <p:nvPr/>
        </p:nvSpPr>
        <p:spPr>
          <a:xfrm>
            <a:off x="6537960" y="1097280"/>
            <a:ext cx="685800" cy="685800"/>
          </a:xfrm>
          <a:prstGeom prst="ellipse">
            <a:avLst/>
          </a:prstGeom>
          <a:solidFill>
            <a:srgbClr val="8C2029"/>
          </a:solidFill>
          <a:ln/>
          <a:effectLst>
            <a:outerShdw blurRad="50800" dist="25400" dir="8100000" algn="bl" rotWithShape="0">
              <a:srgbClr val="000000">
                <a:alpha val="8000"/>
              </a:srgbClr>
            </a:outerShdw>
          </a:effectLst>
        </p:spPr>
        <p:txBody>
          <a:bodyPr/>
          <a:lstStyle/>
          <a:p>
            <a:endParaRPr lang="ja-JP" altLang="en-US"/>
          </a:p>
        </p:txBody>
      </p:sp>
      <p:pic>
        <p:nvPicPr>
          <p:cNvPr id="13" name="Image 2" descr="preencoded.png"/>
          <p:cNvPicPr>
            <a:picLocks noChangeAspect="1"/>
          </p:cNvPicPr>
          <p:nvPr/>
        </p:nvPicPr>
        <p:blipFill>
          <a:blip r:embed="rId4"/>
          <a:stretch>
            <a:fillRect/>
          </a:stretch>
        </p:blipFill>
        <p:spPr>
          <a:xfrm>
            <a:off x="6656832" y="1216152"/>
            <a:ext cx="457200" cy="457200"/>
          </a:xfrm>
          <a:prstGeom prst="rect">
            <a:avLst/>
          </a:prstGeom>
        </p:spPr>
      </p:pic>
      <p:sp>
        <p:nvSpPr>
          <p:cNvPr id="14" name="Text 9"/>
          <p:cNvSpPr/>
          <p:nvPr/>
        </p:nvSpPr>
        <p:spPr>
          <a:xfrm>
            <a:off x="457200" y="1554480"/>
            <a:ext cx="1645920" cy="228600"/>
          </a:xfrm>
          <a:prstGeom prst="rect">
            <a:avLst/>
          </a:prstGeom>
          <a:noFill/>
          <a:ln/>
        </p:spPr>
        <p:txBody>
          <a:bodyPr wrap="square" lIns="0" tIns="0" rIns="0" bIns="0" rtlCol="0" anchor="ctr"/>
          <a:lstStyle/>
          <a:p>
            <a:pPr marL="0" indent="0">
              <a:buNone/>
            </a:pPr>
            <a:r>
              <a:rPr lang="en-US" sz="1100" b="1" dirty="0">
                <a:solidFill>
                  <a:srgbClr val="8C2029"/>
                </a:solidFill>
                <a:latin typeface="Yu Gothic" pitchFamily="34" charset="0"/>
                <a:ea typeface="Yu Gothic" pitchFamily="34" charset="-122"/>
                <a:cs typeface="Yu Gothic" pitchFamily="34" charset="-120"/>
              </a:rPr>
              <a:t>主な研修内容（案）</a:t>
            </a:r>
            <a:endParaRPr lang="en-US" sz="1100" dirty="0"/>
          </a:p>
        </p:txBody>
      </p:sp>
      <p:sp>
        <p:nvSpPr>
          <p:cNvPr id="15" name="Shape 10"/>
          <p:cNvSpPr/>
          <p:nvPr/>
        </p:nvSpPr>
        <p:spPr>
          <a:xfrm>
            <a:off x="740664" y="1975104"/>
            <a:ext cx="0" cy="1920240"/>
          </a:xfrm>
          <a:prstGeom prst="line">
            <a:avLst/>
          </a:prstGeom>
          <a:noFill/>
          <a:ln w="25400">
            <a:solidFill>
              <a:srgbClr val="D4A0A5"/>
            </a:solidFill>
            <a:prstDash val="solid"/>
          </a:ln>
        </p:spPr>
        <p:txBody>
          <a:bodyPr/>
          <a:lstStyle/>
          <a:p>
            <a:endParaRPr lang="ja-JP" altLang="en-US"/>
          </a:p>
        </p:txBody>
      </p:sp>
      <p:pic>
        <p:nvPicPr>
          <p:cNvPr id="16" name="Image 3" descr="preencoded.png"/>
          <p:cNvPicPr>
            <a:picLocks noChangeAspect="1"/>
          </p:cNvPicPr>
          <p:nvPr/>
        </p:nvPicPr>
        <p:blipFill>
          <a:blip r:embed="rId5"/>
          <a:stretch>
            <a:fillRect/>
          </a:stretch>
        </p:blipFill>
        <p:spPr>
          <a:xfrm>
            <a:off x="640080" y="1874520"/>
            <a:ext cx="201168" cy="201168"/>
          </a:xfrm>
          <a:prstGeom prst="rect">
            <a:avLst/>
          </a:prstGeom>
        </p:spPr>
      </p:pic>
      <p:sp>
        <p:nvSpPr>
          <p:cNvPr id="17" name="Text 11"/>
          <p:cNvSpPr/>
          <p:nvPr/>
        </p:nvSpPr>
        <p:spPr>
          <a:xfrm>
            <a:off x="960120" y="187452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振り返り・活動報告シェア</a:t>
            </a:r>
            <a:endParaRPr lang="en-US" sz="1100" dirty="0"/>
          </a:p>
        </p:txBody>
      </p:sp>
      <p:pic>
        <p:nvPicPr>
          <p:cNvPr id="18" name="Image 4" descr="preencoded.png"/>
          <p:cNvPicPr>
            <a:picLocks noChangeAspect="1"/>
          </p:cNvPicPr>
          <p:nvPr/>
        </p:nvPicPr>
        <p:blipFill>
          <a:blip r:embed="rId6"/>
          <a:stretch>
            <a:fillRect/>
          </a:stretch>
        </p:blipFill>
        <p:spPr>
          <a:xfrm>
            <a:off x="640080" y="2258568"/>
            <a:ext cx="201168" cy="201168"/>
          </a:xfrm>
          <a:prstGeom prst="rect">
            <a:avLst/>
          </a:prstGeom>
        </p:spPr>
      </p:pic>
      <p:sp>
        <p:nvSpPr>
          <p:cNvPr id="19" name="Text 12"/>
          <p:cNvSpPr/>
          <p:nvPr/>
        </p:nvSpPr>
        <p:spPr>
          <a:xfrm>
            <a:off x="960120" y="2258568"/>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中間報告資料の確認（粗発表）</a:t>
            </a:r>
            <a:endParaRPr lang="en-US" sz="1100" dirty="0"/>
          </a:p>
        </p:txBody>
      </p:sp>
      <p:pic>
        <p:nvPicPr>
          <p:cNvPr id="20" name="Image 5" descr="preencoded.png"/>
          <p:cNvPicPr>
            <a:picLocks noChangeAspect="1"/>
          </p:cNvPicPr>
          <p:nvPr/>
        </p:nvPicPr>
        <p:blipFill>
          <a:blip r:embed="rId7"/>
          <a:stretch>
            <a:fillRect/>
          </a:stretch>
        </p:blipFill>
        <p:spPr>
          <a:xfrm>
            <a:off x="640080" y="2642616"/>
            <a:ext cx="201168" cy="201168"/>
          </a:xfrm>
          <a:prstGeom prst="rect">
            <a:avLst/>
          </a:prstGeom>
        </p:spPr>
      </p:pic>
      <p:sp>
        <p:nvSpPr>
          <p:cNvPr id="21" name="Text 13"/>
          <p:cNvSpPr/>
          <p:nvPr/>
        </p:nvSpPr>
        <p:spPr>
          <a:xfrm>
            <a:off x="960120" y="2642616"/>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プレゼン準備の基本</a:t>
            </a:r>
            <a:endParaRPr lang="en-US" sz="1100" dirty="0"/>
          </a:p>
        </p:txBody>
      </p:sp>
      <p:pic>
        <p:nvPicPr>
          <p:cNvPr id="22" name="Image 6" descr="preencoded.png"/>
          <p:cNvPicPr>
            <a:picLocks noChangeAspect="1"/>
          </p:cNvPicPr>
          <p:nvPr/>
        </p:nvPicPr>
        <p:blipFill>
          <a:blip r:embed="rId8"/>
          <a:stretch>
            <a:fillRect/>
          </a:stretch>
        </p:blipFill>
        <p:spPr>
          <a:xfrm>
            <a:off x="640080" y="3026664"/>
            <a:ext cx="201168" cy="201168"/>
          </a:xfrm>
          <a:prstGeom prst="rect">
            <a:avLst/>
          </a:prstGeom>
        </p:spPr>
      </p:pic>
      <p:sp>
        <p:nvSpPr>
          <p:cNvPr id="23" name="Text 14"/>
          <p:cNvSpPr/>
          <p:nvPr/>
        </p:nvSpPr>
        <p:spPr>
          <a:xfrm>
            <a:off x="960120" y="3026664"/>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資料作成のポイント（構成・デザイン）</a:t>
            </a:r>
            <a:endParaRPr lang="en-US" sz="1100" dirty="0"/>
          </a:p>
        </p:txBody>
      </p:sp>
      <p:pic>
        <p:nvPicPr>
          <p:cNvPr id="24" name="Image 7" descr="preencoded.png"/>
          <p:cNvPicPr>
            <a:picLocks noChangeAspect="1"/>
          </p:cNvPicPr>
          <p:nvPr/>
        </p:nvPicPr>
        <p:blipFill>
          <a:blip r:embed="rId9"/>
          <a:stretch>
            <a:fillRect/>
          </a:stretch>
        </p:blipFill>
        <p:spPr>
          <a:xfrm>
            <a:off x="640080" y="3410712"/>
            <a:ext cx="201168" cy="201168"/>
          </a:xfrm>
          <a:prstGeom prst="rect">
            <a:avLst/>
          </a:prstGeom>
        </p:spPr>
      </p:pic>
      <p:sp>
        <p:nvSpPr>
          <p:cNvPr id="25" name="Text 15"/>
          <p:cNvSpPr/>
          <p:nvPr/>
        </p:nvSpPr>
        <p:spPr>
          <a:xfrm>
            <a:off x="960120" y="3410712"/>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立ち居振る舞いと話し方</a:t>
            </a:r>
            <a:endParaRPr lang="en-US" sz="1100" dirty="0"/>
          </a:p>
        </p:txBody>
      </p:sp>
      <p:pic>
        <p:nvPicPr>
          <p:cNvPr id="26" name="Image 8" descr="preencoded.png"/>
          <p:cNvPicPr>
            <a:picLocks noChangeAspect="1"/>
          </p:cNvPicPr>
          <p:nvPr/>
        </p:nvPicPr>
        <p:blipFill>
          <a:blip r:embed="rId10"/>
          <a:stretch>
            <a:fillRect/>
          </a:stretch>
        </p:blipFill>
        <p:spPr>
          <a:xfrm>
            <a:off x="640080" y="3794760"/>
            <a:ext cx="201168" cy="201168"/>
          </a:xfrm>
          <a:prstGeom prst="rect">
            <a:avLst/>
          </a:prstGeom>
        </p:spPr>
      </p:pic>
      <p:sp>
        <p:nvSpPr>
          <p:cNvPr id="27" name="Text 16"/>
          <p:cNvSpPr/>
          <p:nvPr/>
        </p:nvSpPr>
        <p:spPr>
          <a:xfrm>
            <a:off x="960120" y="379476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プレゼン総合演習（動画撮影→振り返り）</a:t>
            </a:r>
            <a:endParaRPr lang="en-US" sz="1100" dirty="0"/>
          </a:p>
        </p:txBody>
      </p:sp>
      <p:sp>
        <p:nvSpPr>
          <p:cNvPr id="28" name="Shape 17"/>
          <p:cNvSpPr/>
          <p:nvPr/>
        </p:nvSpPr>
        <p:spPr>
          <a:xfrm>
            <a:off x="5852160" y="1965960"/>
            <a:ext cx="2880360" cy="1161287"/>
          </a:xfrm>
          <a:prstGeom prst="rect">
            <a:avLst/>
          </a:prstGeom>
          <a:solidFill>
            <a:srgbClr val="F9ECEE"/>
          </a:solidFill>
          <a:ln w="6350">
            <a:solidFill>
              <a:srgbClr val="D4A0A5"/>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29" name="Shape 18"/>
          <p:cNvSpPr/>
          <p:nvPr/>
        </p:nvSpPr>
        <p:spPr>
          <a:xfrm>
            <a:off x="5852160" y="1965960"/>
            <a:ext cx="2880360" cy="320040"/>
          </a:xfrm>
          <a:prstGeom prst="rect">
            <a:avLst/>
          </a:prstGeom>
          <a:solidFill>
            <a:srgbClr val="6B1520"/>
          </a:solidFill>
          <a:ln/>
        </p:spPr>
        <p:txBody>
          <a:bodyPr/>
          <a:lstStyle/>
          <a:p>
            <a:endParaRPr lang="ja-JP" altLang="en-US"/>
          </a:p>
        </p:txBody>
      </p:sp>
      <p:pic>
        <p:nvPicPr>
          <p:cNvPr id="30" name="Image 9" descr="preencoded.png"/>
          <p:cNvPicPr>
            <a:picLocks noChangeAspect="1"/>
          </p:cNvPicPr>
          <p:nvPr/>
        </p:nvPicPr>
        <p:blipFill>
          <a:blip r:embed="rId11"/>
          <a:stretch>
            <a:fillRect/>
          </a:stretch>
        </p:blipFill>
        <p:spPr>
          <a:xfrm>
            <a:off x="5989320" y="2011680"/>
            <a:ext cx="228600" cy="228600"/>
          </a:xfrm>
          <a:prstGeom prst="rect">
            <a:avLst/>
          </a:prstGeom>
        </p:spPr>
      </p:pic>
      <p:sp>
        <p:nvSpPr>
          <p:cNvPr id="31" name="Text 19"/>
          <p:cNvSpPr/>
          <p:nvPr/>
        </p:nvSpPr>
        <p:spPr>
          <a:xfrm>
            <a:off x="6263640" y="1965960"/>
            <a:ext cx="1828800" cy="320040"/>
          </a:xfrm>
          <a:prstGeom prst="rect">
            <a:avLst/>
          </a:prstGeom>
          <a:noFill/>
          <a:ln/>
        </p:spPr>
        <p:txBody>
          <a:bodyPr wrap="square" lIns="0" tIns="0" rIns="0" bIns="0" rtlCol="0" anchor="ctr"/>
          <a:lstStyle/>
          <a:p>
            <a:pPr marL="0" indent="0">
              <a:buNone/>
            </a:pPr>
            <a:r>
              <a:rPr lang="en-US" sz="1300" b="1" dirty="0">
                <a:solidFill>
                  <a:srgbClr val="FFFFFF"/>
                </a:solidFill>
                <a:latin typeface="Yu Gothic" pitchFamily="34" charset="0"/>
                <a:ea typeface="Yu Gothic" pitchFamily="34" charset="-122"/>
                <a:cs typeface="Yu Gothic" pitchFamily="34" charset="-120"/>
              </a:rPr>
              <a:t>上司連動</a:t>
            </a:r>
            <a:endParaRPr lang="en-US" sz="1300" dirty="0"/>
          </a:p>
        </p:txBody>
      </p:sp>
      <p:sp>
        <p:nvSpPr>
          <p:cNvPr id="32" name="Text 20"/>
          <p:cNvSpPr/>
          <p:nvPr/>
        </p:nvSpPr>
        <p:spPr>
          <a:xfrm>
            <a:off x="6035040" y="2423160"/>
            <a:ext cx="2514600" cy="1828800"/>
          </a:xfrm>
          <a:prstGeom prst="rect">
            <a:avLst/>
          </a:prstGeom>
          <a:noFill/>
          <a:ln/>
        </p:spPr>
        <p:txBody>
          <a:bodyPr wrap="square" lIns="0" tIns="0" rIns="0" bIns="0" rtlCol="0" anchor="t"/>
          <a:lstStyle/>
          <a:p>
            <a:pPr marL="0" indent="0">
              <a:spcAft>
                <a:spcPts val="600"/>
              </a:spcAft>
              <a:buNone/>
            </a:pPr>
            <a:r>
              <a:rPr lang="en-US" sz="1200" dirty="0">
                <a:solidFill>
                  <a:srgbClr val="5A1018"/>
                </a:solidFill>
                <a:latin typeface="Yu Gothic" pitchFamily="34" charset="0"/>
                <a:ea typeface="Yu Gothic" pitchFamily="34" charset="-122"/>
                <a:cs typeface="Yu Gothic" pitchFamily="34" charset="-120"/>
              </a:rPr>
              <a:t>中間報告会への上司出席を正式にご案内。受講生の取り組み状況を事前に確認いただくよう依頼。</a:t>
            </a:r>
            <a:endParaRPr lang="en-US" sz="1200" dirty="0"/>
          </a:p>
        </p:txBody>
      </p:sp>
      <p:sp>
        <p:nvSpPr>
          <p:cNvPr id="33" name="Shape 21"/>
          <p:cNvSpPr/>
          <p:nvPr/>
        </p:nvSpPr>
        <p:spPr>
          <a:xfrm>
            <a:off x="274320" y="4617720"/>
            <a:ext cx="8595360" cy="0"/>
          </a:xfrm>
          <a:prstGeom prst="line">
            <a:avLst/>
          </a:prstGeom>
          <a:noFill/>
          <a:ln w="12700">
            <a:solidFill>
              <a:srgbClr val="8C2029"/>
            </a:solidFill>
            <a:prstDash val="dash"/>
          </a:ln>
        </p:spPr>
        <p:txBody>
          <a:bodyPr/>
          <a:lstStyle/>
          <a:p>
            <a:endParaRPr lang="ja-JP" altLang="en-US"/>
          </a:p>
        </p:txBody>
      </p:sp>
      <p:sp>
        <p:nvSpPr>
          <p:cNvPr id="34" name="Text 22"/>
          <p:cNvSpPr/>
          <p:nvPr/>
        </p:nvSpPr>
        <p:spPr>
          <a:xfrm>
            <a:off x="5943600" y="4663440"/>
            <a:ext cx="2743200" cy="274320"/>
          </a:xfrm>
          <a:prstGeom prst="rect">
            <a:avLst/>
          </a:prstGeom>
          <a:noFill/>
          <a:ln/>
        </p:spPr>
        <p:txBody>
          <a:bodyPr wrap="square" lIns="0" tIns="0" rIns="0" bIns="0"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C2029"/>
          </a:solidFill>
          <a:ln/>
        </p:spPr>
        <p:txBody>
          <a:bodyPr/>
          <a:lstStyle/>
          <a:p>
            <a:endParaRPr lang="ja-JP" altLang="en-US"/>
          </a:p>
        </p:txBody>
      </p:sp>
      <p:pic>
        <p:nvPicPr>
          <p:cNvPr id="3" name="Image 0" descr="/sessions/cool-intelligent-bohr/logo_icon.jpeg"/>
          <p:cNvPicPr>
            <a:picLocks noChangeAspect="1"/>
          </p:cNvPicPr>
          <p:nvPr/>
        </p:nvPicPr>
        <p:blipFill>
          <a:blip r:embed="rId2"/>
          <a:stretch>
            <a:fillRect/>
          </a:stretch>
        </p:blipFill>
        <p:spPr>
          <a:xfrm>
            <a:off x="7498080" y="109728"/>
            <a:ext cx="182880" cy="182880"/>
          </a:xfrm>
          <a:prstGeom prst="rect">
            <a:avLst/>
          </a:prstGeom>
        </p:spPr>
      </p:pic>
      <p:pic>
        <p:nvPicPr>
          <p:cNvPr id="4" name="Image 1" descr="/sessions/cool-intelligent-bohr/logo_text.jpeg"/>
          <p:cNvPicPr>
            <a:picLocks noChangeAspect="1"/>
          </p:cNvPicPr>
          <p:nvPr/>
        </p:nvPicPr>
        <p:blipFill>
          <a:blip r:embed="rId3"/>
          <a:stretch>
            <a:fillRect/>
          </a:stretch>
        </p:blipFill>
        <p:spPr>
          <a:xfrm>
            <a:off x="7726680" y="128016"/>
            <a:ext cx="1097280" cy="146304"/>
          </a:xfrm>
          <a:prstGeom prst="rect">
            <a:avLst/>
          </a:prstGeom>
        </p:spPr>
      </p:pic>
      <p:sp>
        <p:nvSpPr>
          <p:cNvPr id="5" name="Text 1"/>
          <p:cNvSpPr/>
          <p:nvPr/>
        </p:nvSpPr>
        <p:spPr>
          <a:xfrm>
            <a:off x="457200" y="137160"/>
            <a:ext cx="6858000" cy="411480"/>
          </a:xfrm>
          <a:prstGeom prst="rect">
            <a:avLst/>
          </a:prstGeom>
          <a:noFill/>
          <a:ln/>
        </p:spPr>
        <p:txBody>
          <a:bodyPr wrap="square" lIns="0" tIns="0" rIns="0" bIns="0" rtlCol="0" anchor="ctr"/>
          <a:lstStyle/>
          <a:p>
            <a:pPr marL="0" indent="0">
              <a:buNone/>
            </a:pPr>
            <a:r>
              <a:rPr lang="en-US" sz="1300" b="1" dirty="0">
                <a:solidFill>
                  <a:srgbClr val="8C2029"/>
                </a:solidFill>
                <a:latin typeface="Arial" pitchFamily="34" charset="0"/>
                <a:ea typeface="Arial" pitchFamily="34" charset="-122"/>
                <a:cs typeface="Arial" pitchFamily="34" charset="-120"/>
              </a:rPr>
              <a:t>Session 7</a:t>
            </a:r>
            <a:r>
              <a:rPr lang="en-US" sz="2000" b="1" dirty="0">
                <a:solidFill>
                  <a:srgbClr val="333333"/>
                </a:solidFill>
                <a:latin typeface="Yu Gothic" pitchFamily="34" charset="0"/>
                <a:ea typeface="Yu Gothic" pitchFamily="34" charset="-122"/>
                <a:cs typeface="Yu Gothic" pitchFamily="34" charset="-120"/>
              </a:rPr>
              <a:t>：中間報告会</a:t>
            </a:r>
            <a:endParaRPr lang="en-US" sz="1300" dirty="0"/>
          </a:p>
        </p:txBody>
      </p:sp>
      <p:sp>
        <p:nvSpPr>
          <p:cNvPr id="6" name="Shape 2"/>
          <p:cNvSpPr/>
          <p:nvPr/>
        </p:nvSpPr>
        <p:spPr>
          <a:xfrm>
            <a:off x="457200" y="566928"/>
            <a:ext cx="640080" cy="36576"/>
          </a:xfrm>
          <a:prstGeom prst="rect">
            <a:avLst/>
          </a:prstGeom>
          <a:solidFill>
            <a:srgbClr val="8C2029"/>
          </a:solidFill>
          <a:ln/>
        </p:spPr>
        <p:txBody>
          <a:bodyPr/>
          <a:lstStyle/>
          <a:p>
            <a:endParaRPr lang="ja-JP" altLang="en-US"/>
          </a:p>
        </p:txBody>
      </p:sp>
      <p:sp>
        <p:nvSpPr>
          <p:cNvPr id="7" name="Shape 3"/>
          <p:cNvSpPr/>
          <p:nvPr/>
        </p:nvSpPr>
        <p:spPr>
          <a:xfrm>
            <a:off x="457200" y="713232"/>
            <a:ext cx="8229600" cy="292608"/>
          </a:xfrm>
          <a:prstGeom prst="rect">
            <a:avLst/>
          </a:prstGeom>
          <a:solidFill>
            <a:srgbClr val="F2E0E0"/>
          </a:solidFill>
          <a:ln/>
        </p:spPr>
        <p:txBody>
          <a:bodyPr/>
          <a:lstStyle/>
          <a:p>
            <a:endParaRPr lang="ja-JP" altLang="en-US"/>
          </a:p>
        </p:txBody>
      </p:sp>
      <p:sp>
        <p:nvSpPr>
          <p:cNvPr id="8" name="Text 4"/>
          <p:cNvSpPr/>
          <p:nvPr/>
        </p:nvSpPr>
        <p:spPr>
          <a:xfrm>
            <a:off x="457200" y="713232"/>
            <a:ext cx="8229600" cy="292608"/>
          </a:xfrm>
          <a:prstGeom prst="rect">
            <a:avLst/>
          </a:prstGeom>
          <a:noFill/>
          <a:ln/>
        </p:spPr>
        <p:txBody>
          <a:bodyPr wrap="square" lIns="0" tIns="0" rIns="0" bIns="0" rtlCol="0" anchor="ctr"/>
          <a:lstStyle/>
          <a:p>
            <a:pPr marL="0" indent="0" algn="ctr">
              <a:buNone/>
            </a:pPr>
            <a:r>
              <a:rPr lang="en-US" sz="1200" dirty="0">
                <a:solidFill>
                  <a:srgbClr val="8C2029"/>
                </a:solidFill>
                <a:latin typeface="Yu Gothic" pitchFamily="34" charset="0"/>
                <a:ea typeface="Yu Gothic" pitchFamily="34" charset="-122"/>
                <a:cs typeface="Yu Gothic" pitchFamily="34" charset="-120"/>
              </a:rPr>
              <a:t>〜 半年間の成長を示す 〜</a:t>
            </a:r>
            <a:endParaRPr lang="en-US" sz="1200" dirty="0"/>
          </a:p>
        </p:txBody>
      </p:sp>
      <p:sp>
        <p:nvSpPr>
          <p:cNvPr id="9" name="Shape 5"/>
          <p:cNvSpPr/>
          <p:nvPr/>
        </p:nvSpPr>
        <p:spPr>
          <a:xfrm>
            <a:off x="457200" y="1143000"/>
            <a:ext cx="640080" cy="256032"/>
          </a:xfrm>
          <a:prstGeom prst="rect">
            <a:avLst/>
          </a:prstGeom>
          <a:solidFill>
            <a:srgbClr val="8C2029"/>
          </a:solidFill>
          <a:ln/>
        </p:spPr>
        <p:txBody>
          <a:bodyPr/>
          <a:lstStyle/>
          <a:p>
            <a:endParaRPr lang="ja-JP" altLang="en-US"/>
          </a:p>
        </p:txBody>
      </p:sp>
      <p:sp>
        <p:nvSpPr>
          <p:cNvPr id="10" name="Text 6"/>
          <p:cNvSpPr/>
          <p:nvPr/>
        </p:nvSpPr>
        <p:spPr>
          <a:xfrm>
            <a:off x="457200" y="1143000"/>
            <a:ext cx="6400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Yu Gothic" pitchFamily="34" charset="0"/>
                <a:ea typeface="Yu Gothic" pitchFamily="34" charset="-122"/>
                <a:cs typeface="Yu Gothic" pitchFamily="34" charset="-120"/>
              </a:rPr>
              <a:t>ねらい</a:t>
            </a:r>
            <a:endParaRPr lang="en-US" sz="1100" dirty="0"/>
          </a:p>
        </p:txBody>
      </p:sp>
      <p:sp>
        <p:nvSpPr>
          <p:cNvPr id="11" name="Text 7"/>
          <p:cNvSpPr/>
          <p:nvPr/>
        </p:nvSpPr>
        <p:spPr>
          <a:xfrm>
            <a:off x="1188720" y="1143000"/>
            <a:ext cx="4572000" cy="256032"/>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研修前半の学びと実践成果を経営層・上司の前で発表。FBを後半に活かす。</a:t>
            </a:r>
            <a:endParaRPr lang="en-US" sz="1100" dirty="0"/>
          </a:p>
        </p:txBody>
      </p:sp>
      <p:sp>
        <p:nvSpPr>
          <p:cNvPr id="12" name="Shape 8"/>
          <p:cNvSpPr/>
          <p:nvPr/>
        </p:nvSpPr>
        <p:spPr>
          <a:xfrm>
            <a:off x="6537960" y="1097280"/>
            <a:ext cx="685800" cy="685800"/>
          </a:xfrm>
          <a:prstGeom prst="ellipse">
            <a:avLst/>
          </a:prstGeom>
          <a:solidFill>
            <a:srgbClr val="8C2029"/>
          </a:solidFill>
          <a:ln/>
          <a:effectLst>
            <a:outerShdw blurRad="50800" dist="25400" dir="8100000" algn="bl" rotWithShape="0">
              <a:srgbClr val="000000">
                <a:alpha val="8000"/>
              </a:srgbClr>
            </a:outerShdw>
          </a:effectLst>
        </p:spPr>
        <p:txBody>
          <a:bodyPr/>
          <a:lstStyle/>
          <a:p>
            <a:endParaRPr lang="ja-JP" altLang="en-US"/>
          </a:p>
        </p:txBody>
      </p:sp>
      <p:pic>
        <p:nvPicPr>
          <p:cNvPr id="13" name="Image 2" descr="preencoded.png"/>
          <p:cNvPicPr>
            <a:picLocks noChangeAspect="1"/>
          </p:cNvPicPr>
          <p:nvPr/>
        </p:nvPicPr>
        <p:blipFill>
          <a:blip r:embed="rId4"/>
          <a:stretch>
            <a:fillRect/>
          </a:stretch>
        </p:blipFill>
        <p:spPr>
          <a:xfrm>
            <a:off x="6656832" y="1216152"/>
            <a:ext cx="457200" cy="457200"/>
          </a:xfrm>
          <a:prstGeom prst="rect">
            <a:avLst/>
          </a:prstGeom>
        </p:spPr>
      </p:pic>
      <p:sp>
        <p:nvSpPr>
          <p:cNvPr id="14" name="Text 9"/>
          <p:cNvSpPr/>
          <p:nvPr/>
        </p:nvSpPr>
        <p:spPr>
          <a:xfrm>
            <a:off x="457200" y="1554480"/>
            <a:ext cx="1645920" cy="228600"/>
          </a:xfrm>
          <a:prstGeom prst="rect">
            <a:avLst/>
          </a:prstGeom>
          <a:noFill/>
          <a:ln/>
        </p:spPr>
        <p:txBody>
          <a:bodyPr wrap="square" lIns="0" tIns="0" rIns="0" bIns="0" rtlCol="0" anchor="ctr"/>
          <a:lstStyle/>
          <a:p>
            <a:pPr marL="0" indent="0">
              <a:buNone/>
            </a:pPr>
            <a:r>
              <a:rPr lang="en-US" sz="1100" b="1" dirty="0">
                <a:solidFill>
                  <a:srgbClr val="8C2029"/>
                </a:solidFill>
                <a:latin typeface="Yu Gothic" pitchFamily="34" charset="0"/>
                <a:ea typeface="Yu Gothic" pitchFamily="34" charset="-122"/>
                <a:cs typeface="Yu Gothic" pitchFamily="34" charset="-120"/>
              </a:rPr>
              <a:t>主な研修内容（案）</a:t>
            </a:r>
            <a:endParaRPr lang="en-US" sz="1100" dirty="0"/>
          </a:p>
        </p:txBody>
      </p:sp>
      <p:sp>
        <p:nvSpPr>
          <p:cNvPr id="15" name="Shape 10"/>
          <p:cNvSpPr/>
          <p:nvPr/>
        </p:nvSpPr>
        <p:spPr>
          <a:xfrm>
            <a:off x="740664" y="1975104"/>
            <a:ext cx="0" cy="1920240"/>
          </a:xfrm>
          <a:prstGeom prst="line">
            <a:avLst/>
          </a:prstGeom>
          <a:noFill/>
          <a:ln w="25400">
            <a:solidFill>
              <a:srgbClr val="D4A0A5"/>
            </a:solidFill>
            <a:prstDash val="solid"/>
          </a:ln>
        </p:spPr>
        <p:txBody>
          <a:bodyPr/>
          <a:lstStyle/>
          <a:p>
            <a:endParaRPr lang="ja-JP" altLang="en-US"/>
          </a:p>
        </p:txBody>
      </p:sp>
      <p:pic>
        <p:nvPicPr>
          <p:cNvPr id="16" name="Image 3" descr="preencoded.png"/>
          <p:cNvPicPr>
            <a:picLocks noChangeAspect="1"/>
          </p:cNvPicPr>
          <p:nvPr/>
        </p:nvPicPr>
        <p:blipFill>
          <a:blip r:embed="rId5"/>
          <a:stretch>
            <a:fillRect/>
          </a:stretch>
        </p:blipFill>
        <p:spPr>
          <a:xfrm>
            <a:off x="640080" y="1874520"/>
            <a:ext cx="201168" cy="201168"/>
          </a:xfrm>
          <a:prstGeom prst="rect">
            <a:avLst/>
          </a:prstGeom>
        </p:spPr>
      </p:pic>
      <p:sp>
        <p:nvSpPr>
          <p:cNvPr id="17" name="Text 11"/>
          <p:cNvSpPr/>
          <p:nvPr/>
        </p:nvSpPr>
        <p:spPr>
          <a:xfrm>
            <a:off x="960120" y="187452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社長挨拶・講師挨拶</a:t>
            </a:r>
            <a:endParaRPr lang="en-US" sz="1100" dirty="0"/>
          </a:p>
        </p:txBody>
      </p:sp>
      <p:pic>
        <p:nvPicPr>
          <p:cNvPr id="18" name="Image 4" descr="preencoded.png"/>
          <p:cNvPicPr>
            <a:picLocks noChangeAspect="1"/>
          </p:cNvPicPr>
          <p:nvPr/>
        </p:nvPicPr>
        <p:blipFill>
          <a:blip r:embed="rId6"/>
          <a:stretch>
            <a:fillRect/>
          </a:stretch>
        </p:blipFill>
        <p:spPr>
          <a:xfrm>
            <a:off x="640080" y="2258568"/>
            <a:ext cx="201168" cy="201168"/>
          </a:xfrm>
          <a:prstGeom prst="rect">
            <a:avLst/>
          </a:prstGeom>
        </p:spPr>
      </p:pic>
      <p:sp>
        <p:nvSpPr>
          <p:cNvPr id="19" name="Text 12"/>
          <p:cNvSpPr/>
          <p:nvPr/>
        </p:nvSpPr>
        <p:spPr>
          <a:xfrm>
            <a:off x="960120" y="2258568"/>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チーム報告（チーム活動の成果発表）</a:t>
            </a:r>
            <a:endParaRPr lang="en-US" sz="1100" dirty="0"/>
          </a:p>
        </p:txBody>
      </p:sp>
      <p:pic>
        <p:nvPicPr>
          <p:cNvPr id="20" name="Image 5" descr="preencoded.png"/>
          <p:cNvPicPr>
            <a:picLocks noChangeAspect="1"/>
          </p:cNvPicPr>
          <p:nvPr/>
        </p:nvPicPr>
        <p:blipFill>
          <a:blip r:embed="rId7"/>
          <a:stretch>
            <a:fillRect/>
          </a:stretch>
        </p:blipFill>
        <p:spPr>
          <a:xfrm>
            <a:off x="640080" y="2642616"/>
            <a:ext cx="201168" cy="201168"/>
          </a:xfrm>
          <a:prstGeom prst="rect">
            <a:avLst/>
          </a:prstGeom>
        </p:spPr>
      </p:pic>
      <p:sp>
        <p:nvSpPr>
          <p:cNvPr id="21" name="Text 13"/>
          <p:cNvSpPr/>
          <p:nvPr/>
        </p:nvSpPr>
        <p:spPr>
          <a:xfrm>
            <a:off x="960120" y="2642616"/>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個人報告（一人15分＋質疑5分）×10名</a:t>
            </a:r>
            <a:endParaRPr lang="en-US" sz="1100" dirty="0"/>
          </a:p>
        </p:txBody>
      </p:sp>
      <p:pic>
        <p:nvPicPr>
          <p:cNvPr id="22" name="Image 6" descr="preencoded.png"/>
          <p:cNvPicPr>
            <a:picLocks noChangeAspect="1"/>
          </p:cNvPicPr>
          <p:nvPr/>
        </p:nvPicPr>
        <p:blipFill>
          <a:blip r:embed="rId8"/>
          <a:stretch>
            <a:fillRect/>
          </a:stretch>
        </p:blipFill>
        <p:spPr>
          <a:xfrm>
            <a:off x="640080" y="3026664"/>
            <a:ext cx="201168" cy="201168"/>
          </a:xfrm>
          <a:prstGeom prst="rect">
            <a:avLst/>
          </a:prstGeom>
        </p:spPr>
      </p:pic>
      <p:sp>
        <p:nvSpPr>
          <p:cNvPr id="23" name="Text 14"/>
          <p:cNvSpPr/>
          <p:nvPr/>
        </p:nvSpPr>
        <p:spPr>
          <a:xfrm>
            <a:off x="960120" y="3026664"/>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上司コメント（各報告後・2分程度）</a:t>
            </a:r>
            <a:endParaRPr lang="en-US" sz="1100" dirty="0"/>
          </a:p>
        </p:txBody>
      </p:sp>
      <p:pic>
        <p:nvPicPr>
          <p:cNvPr id="24" name="Image 7" descr="preencoded.png"/>
          <p:cNvPicPr>
            <a:picLocks noChangeAspect="1"/>
          </p:cNvPicPr>
          <p:nvPr/>
        </p:nvPicPr>
        <p:blipFill>
          <a:blip r:embed="rId9"/>
          <a:stretch>
            <a:fillRect/>
          </a:stretch>
        </p:blipFill>
        <p:spPr>
          <a:xfrm>
            <a:off x="640080" y="3410712"/>
            <a:ext cx="201168" cy="201168"/>
          </a:xfrm>
          <a:prstGeom prst="rect">
            <a:avLst/>
          </a:prstGeom>
        </p:spPr>
      </p:pic>
      <p:sp>
        <p:nvSpPr>
          <p:cNvPr id="25" name="Text 15"/>
          <p:cNvSpPr/>
          <p:nvPr/>
        </p:nvSpPr>
        <p:spPr>
          <a:xfrm>
            <a:off x="960120" y="3410712"/>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講師総評・社長総評</a:t>
            </a:r>
            <a:endParaRPr lang="en-US" sz="1100" dirty="0"/>
          </a:p>
        </p:txBody>
      </p:sp>
      <p:pic>
        <p:nvPicPr>
          <p:cNvPr id="26" name="Image 8" descr="preencoded.png"/>
          <p:cNvPicPr>
            <a:picLocks noChangeAspect="1"/>
          </p:cNvPicPr>
          <p:nvPr/>
        </p:nvPicPr>
        <p:blipFill>
          <a:blip r:embed="rId10"/>
          <a:stretch>
            <a:fillRect/>
          </a:stretch>
        </p:blipFill>
        <p:spPr>
          <a:xfrm>
            <a:off x="640080" y="3794760"/>
            <a:ext cx="201168" cy="201168"/>
          </a:xfrm>
          <a:prstGeom prst="rect">
            <a:avLst/>
          </a:prstGeom>
        </p:spPr>
      </p:pic>
      <p:sp>
        <p:nvSpPr>
          <p:cNvPr id="27" name="Text 16"/>
          <p:cNvSpPr/>
          <p:nvPr/>
        </p:nvSpPr>
        <p:spPr>
          <a:xfrm>
            <a:off x="960120" y="379476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振り返りシート記入＆今後の目標設定</a:t>
            </a:r>
            <a:endParaRPr lang="en-US" sz="1100" dirty="0"/>
          </a:p>
        </p:txBody>
      </p:sp>
      <p:sp>
        <p:nvSpPr>
          <p:cNvPr id="28" name="Shape 17"/>
          <p:cNvSpPr/>
          <p:nvPr/>
        </p:nvSpPr>
        <p:spPr>
          <a:xfrm>
            <a:off x="5852160" y="1965960"/>
            <a:ext cx="2880360" cy="1161285"/>
          </a:xfrm>
          <a:prstGeom prst="rect">
            <a:avLst/>
          </a:prstGeom>
          <a:solidFill>
            <a:srgbClr val="F9ECEE"/>
          </a:solidFill>
          <a:ln w="6350">
            <a:solidFill>
              <a:srgbClr val="D4A0A5"/>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29" name="Shape 18"/>
          <p:cNvSpPr/>
          <p:nvPr/>
        </p:nvSpPr>
        <p:spPr>
          <a:xfrm>
            <a:off x="5852160" y="1965960"/>
            <a:ext cx="2880360" cy="320040"/>
          </a:xfrm>
          <a:prstGeom prst="rect">
            <a:avLst/>
          </a:prstGeom>
          <a:solidFill>
            <a:srgbClr val="6B1520"/>
          </a:solidFill>
          <a:ln/>
        </p:spPr>
        <p:txBody>
          <a:bodyPr/>
          <a:lstStyle/>
          <a:p>
            <a:endParaRPr lang="ja-JP" altLang="en-US"/>
          </a:p>
        </p:txBody>
      </p:sp>
      <p:pic>
        <p:nvPicPr>
          <p:cNvPr id="30" name="Image 9" descr="preencoded.png"/>
          <p:cNvPicPr>
            <a:picLocks noChangeAspect="1"/>
          </p:cNvPicPr>
          <p:nvPr/>
        </p:nvPicPr>
        <p:blipFill>
          <a:blip r:embed="rId11"/>
          <a:stretch>
            <a:fillRect/>
          </a:stretch>
        </p:blipFill>
        <p:spPr>
          <a:xfrm>
            <a:off x="5989320" y="2011680"/>
            <a:ext cx="228600" cy="228600"/>
          </a:xfrm>
          <a:prstGeom prst="rect">
            <a:avLst/>
          </a:prstGeom>
        </p:spPr>
      </p:pic>
      <p:sp>
        <p:nvSpPr>
          <p:cNvPr id="31" name="Text 19"/>
          <p:cNvSpPr/>
          <p:nvPr/>
        </p:nvSpPr>
        <p:spPr>
          <a:xfrm>
            <a:off x="6263640" y="1965960"/>
            <a:ext cx="1828800" cy="320040"/>
          </a:xfrm>
          <a:prstGeom prst="rect">
            <a:avLst/>
          </a:prstGeom>
          <a:noFill/>
          <a:ln/>
        </p:spPr>
        <p:txBody>
          <a:bodyPr wrap="square" lIns="0" tIns="0" rIns="0" bIns="0" rtlCol="0" anchor="ctr"/>
          <a:lstStyle/>
          <a:p>
            <a:pPr marL="0" indent="0">
              <a:buNone/>
            </a:pPr>
            <a:r>
              <a:rPr lang="en-US" sz="1300" b="1" dirty="0">
                <a:solidFill>
                  <a:srgbClr val="FFFFFF"/>
                </a:solidFill>
                <a:latin typeface="Yu Gothic" pitchFamily="34" charset="0"/>
                <a:ea typeface="Yu Gothic" pitchFamily="34" charset="-122"/>
                <a:cs typeface="Yu Gothic" pitchFamily="34" charset="-120"/>
              </a:rPr>
              <a:t>上司連動</a:t>
            </a:r>
            <a:endParaRPr lang="en-US" sz="1300" dirty="0"/>
          </a:p>
        </p:txBody>
      </p:sp>
      <p:sp>
        <p:nvSpPr>
          <p:cNvPr id="32" name="Text 20"/>
          <p:cNvSpPr/>
          <p:nvPr/>
        </p:nvSpPr>
        <p:spPr>
          <a:xfrm>
            <a:off x="6035040" y="2423160"/>
            <a:ext cx="2514600" cy="1828800"/>
          </a:xfrm>
          <a:prstGeom prst="rect">
            <a:avLst/>
          </a:prstGeom>
          <a:noFill/>
          <a:ln/>
        </p:spPr>
        <p:txBody>
          <a:bodyPr wrap="square" lIns="0" tIns="0" rIns="0" bIns="0" rtlCol="0" anchor="t"/>
          <a:lstStyle/>
          <a:p>
            <a:pPr marL="0" indent="0">
              <a:spcAft>
                <a:spcPts val="600"/>
              </a:spcAft>
              <a:buNone/>
            </a:pPr>
            <a:r>
              <a:rPr lang="en-US" sz="1200" dirty="0">
                <a:solidFill>
                  <a:srgbClr val="5A1018"/>
                </a:solidFill>
                <a:latin typeface="Yu Gothic" pitchFamily="34" charset="0"/>
                <a:ea typeface="Yu Gothic" pitchFamily="34" charset="-122"/>
                <a:cs typeface="Yu Gothic" pitchFamily="34" charset="-120"/>
              </a:rPr>
              <a:t>上司のご出席を強く推奨。各報告後に「今後の期待」「報告の評価」をコメント。最大のFB機会。</a:t>
            </a:r>
            <a:endParaRPr lang="en-US" sz="1200" dirty="0"/>
          </a:p>
        </p:txBody>
      </p:sp>
      <p:sp>
        <p:nvSpPr>
          <p:cNvPr id="33" name="Shape 21"/>
          <p:cNvSpPr/>
          <p:nvPr/>
        </p:nvSpPr>
        <p:spPr>
          <a:xfrm>
            <a:off x="274320" y="4617720"/>
            <a:ext cx="8595360" cy="0"/>
          </a:xfrm>
          <a:prstGeom prst="line">
            <a:avLst/>
          </a:prstGeom>
          <a:noFill/>
          <a:ln w="12700">
            <a:solidFill>
              <a:srgbClr val="8C2029"/>
            </a:solidFill>
            <a:prstDash val="dash"/>
          </a:ln>
        </p:spPr>
        <p:txBody>
          <a:bodyPr/>
          <a:lstStyle/>
          <a:p>
            <a:endParaRPr lang="ja-JP" altLang="en-US"/>
          </a:p>
        </p:txBody>
      </p:sp>
      <p:sp>
        <p:nvSpPr>
          <p:cNvPr id="34" name="Text 22"/>
          <p:cNvSpPr/>
          <p:nvPr/>
        </p:nvSpPr>
        <p:spPr>
          <a:xfrm>
            <a:off x="5943600" y="4663440"/>
            <a:ext cx="2743200" cy="274320"/>
          </a:xfrm>
          <a:prstGeom prst="rect">
            <a:avLst/>
          </a:prstGeom>
          <a:noFill/>
          <a:ln/>
        </p:spPr>
        <p:txBody>
          <a:bodyPr wrap="square" lIns="0" tIns="0" rIns="0" bIns="0"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C2029"/>
          </a:solidFill>
          <a:ln/>
        </p:spPr>
        <p:txBody>
          <a:bodyPr/>
          <a:lstStyle/>
          <a:p>
            <a:endParaRPr lang="ja-JP" altLang="en-US"/>
          </a:p>
        </p:txBody>
      </p:sp>
      <p:pic>
        <p:nvPicPr>
          <p:cNvPr id="3" name="Image 0" descr="/sessions/cool-intelligent-bohr/logo_icon.jpeg"/>
          <p:cNvPicPr>
            <a:picLocks noChangeAspect="1"/>
          </p:cNvPicPr>
          <p:nvPr/>
        </p:nvPicPr>
        <p:blipFill>
          <a:blip r:embed="rId2"/>
          <a:stretch>
            <a:fillRect/>
          </a:stretch>
        </p:blipFill>
        <p:spPr>
          <a:xfrm>
            <a:off x="7498080" y="109728"/>
            <a:ext cx="182880" cy="182880"/>
          </a:xfrm>
          <a:prstGeom prst="rect">
            <a:avLst/>
          </a:prstGeom>
        </p:spPr>
      </p:pic>
      <p:pic>
        <p:nvPicPr>
          <p:cNvPr id="4" name="Image 1" descr="/sessions/cool-intelligent-bohr/logo_text.jpeg"/>
          <p:cNvPicPr>
            <a:picLocks noChangeAspect="1"/>
          </p:cNvPicPr>
          <p:nvPr/>
        </p:nvPicPr>
        <p:blipFill>
          <a:blip r:embed="rId3"/>
          <a:stretch>
            <a:fillRect/>
          </a:stretch>
        </p:blipFill>
        <p:spPr>
          <a:xfrm>
            <a:off x="7726680" y="128016"/>
            <a:ext cx="1097280" cy="146304"/>
          </a:xfrm>
          <a:prstGeom prst="rect">
            <a:avLst/>
          </a:prstGeom>
        </p:spPr>
      </p:pic>
      <p:sp>
        <p:nvSpPr>
          <p:cNvPr id="5" name="Text 1"/>
          <p:cNvSpPr/>
          <p:nvPr/>
        </p:nvSpPr>
        <p:spPr>
          <a:xfrm>
            <a:off x="457200" y="137160"/>
            <a:ext cx="6858000" cy="411480"/>
          </a:xfrm>
          <a:prstGeom prst="rect">
            <a:avLst/>
          </a:prstGeom>
          <a:noFill/>
          <a:ln/>
        </p:spPr>
        <p:txBody>
          <a:bodyPr wrap="square" lIns="0" tIns="0" rIns="0" bIns="0" rtlCol="0" anchor="ctr"/>
          <a:lstStyle/>
          <a:p>
            <a:pPr marL="0" indent="0">
              <a:buNone/>
            </a:pPr>
            <a:r>
              <a:rPr lang="en-US" sz="1300" b="1" dirty="0">
                <a:solidFill>
                  <a:srgbClr val="8C2029"/>
                </a:solidFill>
                <a:latin typeface="Arial" pitchFamily="34" charset="0"/>
                <a:ea typeface="Arial" pitchFamily="34" charset="-122"/>
                <a:cs typeface="Arial" pitchFamily="34" charset="-120"/>
              </a:rPr>
              <a:t>Session 8</a:t>
            </a:r>
            <a:r>
              <a:rPr lang="en-US" sz="2000" b="1" dirty="0">
                <a:solidFill>
                  <a:srgbClr val="333333"/>
                </a:solidFill>
                <a:latin typeface="Yu Gothic" pitchFamily="34" charset="0"/>
                <a:ea typeface="Yu Gothic" pitchFamily="34" charset="-122"/>
                <a:cs typeface="Yu Gothic" pitchFamily="34" charset="-120"/>
              </a:rPr>
              <a:t>：対話の技術① カウンセリングスキル</a:t>
            </a:r>
            <a:endParaRPr lang="en-US" sz="1300" dirty="0"/>
          </a:p>
        </p:txBody>
      </p:sp>
      <p:sp>
        <p:nvSpPr>
          <p:cNvPr id="6" name="Shape 2"/>
          <p:cNvSpPr/>
          <p:nvPr/>
        </p:nvSpPr>
        <p:spPr>
          <a:xfrm>
            <a:off x="457200" y="566928"/>
            <a:ext cx="640080" cy="36576"/>
          </a:xfrm>
          <a:prstGeom prst="rect">
            <a:avLst/>
          </a:prstGeom>
          <a:solidFill>
            <a:srgbClr val="8C2029"/>
          </a:solidFill>
          <a:ln/>
        </p:spPr>
        <p:txBody>
          <a:bodyPr/>
          <a:lstStyle/>
          <a:p>
            <a:endParaRPr lang="ja-JP" altLang="en-US"/>
          </a:p>
        </p:txBody>
      </p:sp>
      <p:sp>
        <p:nvSpPr>
          <p:cNvPr id="7" name="Shape 3"/>
          <p:cNvSpPr/>
          <p:nvPr/>
        </p:nvSpPr>
        <p:spPr>
          <a:xfrm>
            <a:off x="457200" y="713232"/>
            <a:ext cx="8229600" cy="292608"/>
          </a:xfrm>
          <a:prstGeom prst="rect">
            <a:avLst/>
          </a:prstGeom>
          <a:solidFill>
            <a:srgbClr val="F2E0E0"/>
          </a:solidFill>
          <a:ln/>
        </p:spPr>
        <p:txBody>
          <a:bodyPr/>
          <a:lstStyle/>
          <a:p>
            <a:endParaRPr lang="ja-JP" altLang="en-US"/>
          </a:p>
        </p:txBody>
      </p:sp>
      <p:sp>
        <p:nvSpPr>
          <p:cNvPr id="8" name="Text 4"/>
          <p:cNvSpPr/>
          <p:nvPr/>
        </p:nvSpPr>
        <p:spPr>
          <a:xfrm>
            <a:off x="457200" y="713232"/>
            <a:ext cx="8229600" cy="292608"/>
          </a:xfrm>
          <a:prstGeom prst="rect">
            <a:avLst/>
          </a:prstGeom>
          <a:noFill/>
          <a:ln/>
        </p:spPr>
        <p:txBody>
          <a:bodyPr wrap="square" lIns="0" tIns="0" rIns="0" bIns="0" rtlCol="0" anchor="ctr"/>
          <a:lstStyle/>
          <a:p>
            <a:pPr marL="0" indent="0" algn="ctr">
              <a:buNone/>
            </a:pPr>
            <a:r>
              <a:rPr lang="en-US" sz="1200" dirty="0">
                <a:solidFill>
                  <a:srgbClr val="8C2029"/>
                </a:solidFill>
                <a:latin typeface="Yu Gothic" pitchFamily="34" charset="0"/>
                <a:ea typeface="Yu Gothic" pitchFamily="34" charset="-122"/>
                <a:cs typeface="Yu Gothic" pitchFamily="34" charset="-120"/>
              </a:rPr>
              <a:t>〜 部下の話を本気で聴く 〜</a:t>
            </a:r>
            <a:endParaRPr lang="en-US" sz="1200" dirty="0"/>
          </a:p>
        </p:txBody>
      </p:sp>
      <p:sp>
        <p:nvSpPr>
          <p:cNvPr id="9" name="Shape 5"/>
          <p:cNvSpPr/>
          <p:nvPr/>
        </p:nvSpPr>
        <p:spPr>
          <a:xfrm>
            <a:off x="457200" y="1143000"/>
            <a:ext cx="640080" cy="256032"/>
          </a:xfrm>
          <a:prstGeom prst="rect">
            <a:avLst/>
          </a:prstGeom>
          <a:solidFill>
            <a:srgbClr val="8C2029"/>
          </a:solidFill>
          <a:ln/>
        </p:spPr>
        <p:txBody>
          <a:bodyPr/>
          <a:lstStyle/>
          <a:p>
            <a:endParaRPr lang="ja-JP" altLang="en-US"/>
          </a:p>
        </p:txBody>
      </p:sp>
      <p:sp>
        <p:nvSpPr>
          <p:cNvPr id="10" name="Text 6"/>
          <p:cNvSpPr/>
          <p:nvPr/>
        </p:nvSpPr>
        <p:spPr>
          <a:xfrm>
            <a:off x="457200" y="1143000"/>
            <a:ext cx="6400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Yu Gothic" pitchFamily="34" charset="0"/>
                <a:ea typeface="Yu Gothic" pitchFamily="34" charset="-122"/>
                <a:cs typeface="Yu Gothic" pitchFamily="34" charset="-120"/>
              </a:rPr>
              <a:t>ねらい</a:t>
            </a:r>
            <a:endParaRPr lang="en-US" sz="1100" dirty="0"/>
          </a:p>
        </p:txBody>
      </p:sp>
      <p:sp>
        <p:nvSpPr>
          <p:cNvPr id="11" name="Text 7"/>
          <p:cNvSpPr/>
          <p:nvPr/>
        </p:nvSpPr>
        <p:spPr>
          <a:xfrm>
            <a:off x="1188720" y="1143000"/>
            <a:ext cx="4572000" cy="256032"/>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カウンセリングマインドと傾聴技法を習得し、信頼関係構築の土台を築く。</a:t>
            </a:r>
            <a:endParaRPr lang="en-US" sz="1100" dirty="0"/>
          </a:p>
        </p:txBody>
      </p:sp>
      <p:sp>
        <p:nvSpPr>
          <p:cNvPr id="12" name="Shape 8"/>
          <p:cNvSpPr/>
          <p:nvPr/>
        </p:nvSpPr>
        <p:spPr>
          <a:xfrm>
            <a:off x="6537960" y="1097280"/>
            <a:ext cx="685800" cy="685800"/>
          </a:xfrm>
          <a:prstGeom prst="ellipse">
            <a:avLst/>
          </a:prstGeom>
          <a:solidFill>
            <a:srgbClr val="8C2029"/>
          </a:solidFill>
          <a:ln/>
          <a:effectLst>
            <a:outerShdw blurRad="50800" dist="25400" dir="8100000" algn="bl" rotWithShape="0">
              <a:srgbClr val="000000">
                <a:alpha val="8000"/>
              </a:srgbClr>
            </a:outerShdw>
          </a:effectLst>
        </p:spPr>
        <p:txBody>
          <a:bodyPr/>
          <a:lstStyle/>
          <a:p>
            <a:endParaRPr lang="ja-JP" altLang="en-US"/>
          </a:p>
        </p:txBody>
      </p:sp>
      <p:pic>
        <p:nvPicPr>
          <p:cNvPr id="13" name="Image 2" descr="preencoded.png"/>
          <p:cNvPicPr>
            <a:picLocks noChangeAspect="1"/>
          </p:cNvPicPr>
          <p:nvPr/>
        </p:nvPicPr>
        <p:blipFill>
          <a:blip r:embed="rId4"/>
          <a:stretch>
            <a:fillRect/>
          </a:stretch>
        </p:blipFill>
        <p:spPr>
          <a:xfrm>
            <a:off x="6656832" y="1216152"/>
            <a:ext cx="457200" cy="457200"/>
          </a:xfrm>
          <a:prstGeom prst="rect">
            <a:avLst/>
          </a:prstGeom>
        </p:spPr>
      </p:pic>
      <p:sp>
        <p:nvSpPr>
          <p:cNvPr id="14" name="Text 9"/>
          <p:cNvSpPr/>
          <p:nvPr/>
        </p:nvSpPr>
        <p:spPr>
          <a:xfrm>
            <a:off x="457200" y="1554480"/>
            <a:ext cx="1645920" cy="228600"/>
          </a:xfrm>
          <a:prstGeom prst="rect">
            <a:avLst/>
          </a:prstGeom>
          <a:noFill/>
          <a:ln/>
        </p:spPr>
        <p:txBody>
          <a:bodyPr wrap="square" lIns="0" tIns="0" rIns="0" bIns="0" rtlCol="0" anchor="ctr"/>
          <a:lstStyle/>
          <a:p>
            <a:pPr marL="0" indent="0">
              <a:buNone/>
            </a:pPr>
            <a:r>
              <a:rPr lang="en-US" sz="1100" b="1" dirty="0">
                <a:solidFill>
                  <a:srgbClr val="8C2029"/>
                </a:solidFill>
                <a:latin typeface="Yu Gothic" pitchFamily="34" charset="0"/>
                <a:ea typeface="Yu Gothic" pitchFamily="34" charset="-122"/>
                <a:cs typeface="Yu Gothic" pitchFamily="34" charset="-120"/>
              </a:rPr>
              <a:t>主な研修内容（案）</a:t>
            </a:r>
            <a:endParaRPr lang="en-US" sz="1100" dirty="0"/>
          </a:p>
        </p:txBody>
      </p:sp>
      <p:sp>
        <p:nvSpPr>
          <p:cNvPr id="15" name="Shape 10"/>
          <p:cNvSpPr/>
          <p:nvPr/>
        </p:nvSpPr>
        <p:spPr>
          <a:xfrm>
            <a:off x="740664" y="1975104"/>
            <a:ext cx="0" cy="1920240"/>
          </a:xfrm>
          <a:prstGeom prst="line">
            <a:avLst/>
          </a:prstGeom>
          <a:noFill/>
          <a:ln w="25400">
            <a:solidFill>
              <a:srgbClr val="D4A0A5"/>
            </a:solidFill>
            <a:prstDash val="solid"/>
          </a:ln>
        </p:spPr>
        <p:txBody>
          <a:bodyPr/>
          <a:lstStyle/>
          <a:p>
            <a:endParaRPr lang="ja-JP" altLang="en-US"/>
          </a:p>
        </p:txBody>
      </p:sp>
      <p:pic>
        <p:nvPicPr>
          <p:cNvPr id="16" name="Image 3" descr="preencoded.png"/>
          <p:cNvPicPr>
            <a:picLocks noChangeAspect="1"/>
          </p:cNvPicPr>
          <p:nvPr/>
        </p:nvPicPr>
        <p:blipFill>
          <a:blip r:embed="rId5"/>
          <a:stretch>
            <a:fillRect/>
          </a:stretch>
        </p:blipFill>
        <p:spPr>
          <a:xfrm>
            <a:off x="640080" y="1874520"/>
            <a:ext cx="201168" cy="201168"/>
          </a:xfrm>
          <a:prstGeom prst="rect">
            <a:avLst/>
          </a:prstGeom>
        </p:spPr>
      </p:pic>
      <p:sp>
        <p:nvSpPr>
          <p:cNvPr id="17" name="Text 11"/>
          <p:cNvSpPr/>
          <p:nvPr/>
        </p:nvSpPr>
        <p:spPr>
          <a:xfrm>
            <a:off x="960120" y="187452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振り返り（中間報告の振り返り含む）</a:t>
            </a:r>
            <a:endParaRPr lang="en-US" sz="1100" dirty="0"/>
          </a:p>
        </p:txBody>
      </p:sp>
      <p:pic>
        <p:nvPicPr>
          <p:cNvPr id="18" name="Image 4" descr="preencoded.png"/>
          <p:cNvPicPr>
            <a:picLocks noChangeAspect="1"/>
          </p:cNvPicPr>
          <p:nvPr/>
        </p:nvPicPr>
        <p:blipFill>
          <a:blip r:embed="rId6"/>
          <a:stretch>
            <a:fillRect/>
          </a:stretch>
        </p:blipFill>
        <p:spPr>
          <a:xfrm>
            <a:off x="640080" y="2258568"/>
            <a:ext cx="201168" cy="201168"/>
          </a:xfrm>
          <a:prstGeom prst="rect">
            <a:avLst/>
          </a:prstGeom>
        </p:spPr>
      </p:pic>
      <p:sp>
        <p:nvSpPr>
          <p:cNvPr id="19" name="Text 12"/>
          <p:cNvSpPr/>
          <p:nvPr/>
        </p:nvSpPr>
        <p:spPr>
          <a:xfrm>
            <a:off x="960120" y="2258568"/>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オープニングワーク（なぜ「聴く」力が必要か？）</a:t>
            </a:r>
            <a:endParaRPr lang="en-US" sz="1100" dirty="0"/>
          </a:p>
        </p:txBody>
      </p:sp>
      <p:pic>
        <p:nvPicPr>
          <p:cNvPr id="20" name="Image 5" descr="preencoded.png"/>
          <p:cNvPicPr>
            <a:picLocks noChangeAspect="1"/>
          </p:cNvPicPr>
          <p:nvPr/>
        </p:nvPicPr>
        <p:blipFill>
          <a:blip r:embed="rId7"/>
          <a:stretch>
            <a:fillRect/>
          </a:stretch>
        </p:blipFill>
        <p:spPr>
          <a:xfrm>
            <a:off x="640080" y="2642616"/>
            <a:ext cx="201168" cy="201168"/>
          </a:xfrm>
          <a:prstGeom prst="rect">
            <a:avLst/>
          </a:prstGeom>
        </p:spPr>
      </p:pic>
      <p:sp>
        <p:nvSpPr>
          <p:cNvPr id="21" name="Text 13"/>
          <p:cNvSpPr/>
          <p:nvPr/>
        </p:nvSpPr>
        <p:spPr>
          <a:xfrm>
            <a:off x="960120" y="2642616"/>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カウンセリングマインド（受容・共感・一致）</a:t>
            </a:r>
            <a:endParaRPr lang="en-US" sz="1100" dirty="0"/>
          </a:p>
        </p:txBody>
      </p:sp>
      <p:pic>
        <p:nvPicPr>
          <p:cNvPr id="22" name="Image 6" descr="preencoded.png"/>
          <p:cNvPicPr>
            <a:picLocks noChangeAspect="1"/>
          </p:cNvPicPr>
          <p:nvPr/>
        </p:nvPicPr>
        <p:blipFill>
          <a:blip r:embed="rId8"/>
          <a:stretch>
            <a:fillRect/>
          </a:stretch>
        </p:blipFill>
        <p:spPr>
          <a:xfrm>
            <a:off x="640080" y="3026664"/>
            <a:ext cx="201168" cy="201168"/>
          </a:xfrm>
          <a:prstGeom prst="rect">
            <a:avLst/>
          </a:prstGeom>
        </p:spPr>
      </p:pic>
      <p:sp>
        <p:nvSpPr>
          <p:cNvPr id="23" name="Text 14"/>
          <p:cNvSpPr/>
          <p:nvPr/>
        </p:nvSpPr>
        <p:spPr>
          <a:xfrm>
            <a:off x="960120" y="3026664"/>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傾聴技法の実践（身体・視線・表情・声）</a:t>
            </a:r>
            <a:endParaRPr lang="en-US" sz="1100" dirty="0"/>
          </a:p>
        </p:txBody>
      </p:sp>
      <p:pic>
        <p:nvPicPr>
          <p:cNvPr id="24" name="Image 7" descr="preencoded.png"/>
          <p:cNvPicPr>
            <a:picLocks noChangeAspect="1"/>
          </p:cNvPicPr>
          <p:nvPr/>
        </p:nvPicPr>
        <p:blipFill>
          <a:blip r:embed="rId9"/>
          <a:stretch>
            <a:fillRect/>
          </a:stretch>
        </p:blipFill>
        <p:spPr>
          <a:xfrm>
            <a:off x="640080" y="3410712"/>
            <a:ext cx="201168" cy="201168"/>
          </a:xfrm>
          <a:prstGeom prst="rect">
            <a:avLst/>
          </a:prstGeom>
        </p:spPr>
      </p:pic>
      <p:sp>
        <p:nvSpPr>
          <p:cNvPr id="25" name="Text 15"/>
          <p:cNvSpPr/>
          <p:nvPr/>
        </p:nvSpPr>
        <p:spPr>
          <a:xfrm>
            <a:off x="960120" y="3410712"/>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感情の反映（リフレクティブスキル）</a:t>
            </a:r>
            <a:endParaRPr lang="en-US" sz="1100" dirty="0"/>
          </a:p>
        </p:txBody>
      </p:sp>
      <p:pic>
        <p:nvPicPr>
          <p:cNvPr id="26" name="Image 8" descr="preencoded.png"/>
          <p:cNvPicPr>
            <a:picLocks noChangeAspect="1"/>
          </p:cNvPicPr>
          <p:nvPr/>
        </p:nvPicPr>
        <p:blipFill>
          <a:blip r:embed="rId10"/>
          <a:stretch>
            <a:fillRect/>
          </a:stretch>
        </p:blipFill>
        <p:spPr>
          <a:xfrm>
            <a:off x="640080" y="3794760"/>
            <a:ext cx="201168" cy="201168"/>
          </a:xfrm>
          <a:prstGeom prst="rect">
            <a:avLst/>
          </a:prstGeom>
        </p:spPr>
      </p:pic>
      <p:sp>
        <p:nvSpPr>
          <p:cNvPr id="27" name="Text 16"/>
          <p:cNvSpPr/>
          <p:nvPr/>
        </p:nvSpPr>
        <p:spPr>
          <a:xfrm>
            <a:off x="960120" y="379476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ロールプレイ（3人1組×3セット）</a:t>
            </a:r>
            <a:endParaRPr lang="en-US" sz="1100" dirty="0"/>
          </a:p>
        </p:txBody>
      </p:sp>
      <p:sp>
        <p:nvSpPr>
          <p:cNvPr id="28" name="Shape 17"/>
          <p:cNvSpPr/>
          <p:nvPr/>
        </p:nvSpPr>
        <p:spPr>
          <a:xfrm>
            <a:off x="5852160" y="1965960"/>
            <a:ext cx="2880360" cy="1161286"/>
          </a:xfrm>
          <a:prstGeom prst="rect">
            <a:avLst/>
          </a:prstGeom>
          <a:solidFill>
            <a:srgbClr val="F9ECEE"/>
          </a:solidFill>
          <a:ln w="6350">
            <a:solidFill>
              <a:srgbClr val="D4A0A5"/>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29" name="Shape 18"/>
          <p:cNvSpPr/>
          <p:nvPr/>
        </p:nvSpPr>
        <p:spPr>
          <a:xfrm>
            <a:off x="5852160" y="1965960"/>
            <a:ext cx="2880360" cy="320040"/>
          </a:xfrm>
          <a:prstGeom prst="rect">
            <a:avLst/>
          </a:prstGeom>
          <a:solidFill>
            <a:srgbClr val="6B1520"/>
          </a:solidFill>
          <a:ln/>
        </p:spPr>
        <p:txBody>
          <a:bodyPr/>
          <a:lstStyle/>
          <a:p>
            <a:endParaRPr lang="ja-JP" altLang="en-US"/>
          </a:p>
        </p:txBody>
      </p:sp>
      <p:pic>
        <p:nvPicPr>
          <p:cNvPr id="30" name="Image 9" descr="preencoded.png"/>
          <p:cNvPicPr>
            <a:picLocks noChangeAspect="1"/>
          </p:cNvPicPr>
          <p:nvPr/>
        </p:nvPicPr>
        <p:blipFill>
          <a:blip r:embed="rId11"/>
          <a:stretch>
            <a:fillRect/>
          </a:stretch>
        </p:blipFill>
        <p:spPr>
          <a:xfrm>
            <a:off x="5989320" y="2011680"/>
            <a:ext cx="228600" cy="228600"/>
          </a:xfrm>
          <a:prstGeom prst="rect">
            <a:avLst/>
          </a:prstGeom>
        </p:spPr>
      </p:pic>
      <p:sp>
        <p:nvSpPr>
          <p:cNvPr id="31" name="Text 19"/>
          <p:cNvSpPr/>
          <p:nvPr/>
        </p:nvSpPr>
        <p:spPr>
          <a:xfrm>
            <a:off x="6263640" y="1965960"/>
            <a:ext cx="1828800" cy="320040"/>
          </a:xfrm>
          <a:prstGeom prst="rect">
            <a:avLst/>
          </a:prstGeom>
          <a:noFill/>
          <a:ln/>
        </p:spPr>
        <p:txBody>
          <a:bodyPr wrap="square" lIns="0" tIns="0" rIns="0" bIns="0" rtlCol="0" anchor="ctr"/>
          <a:lstStyle/>
          <a:p>
            <a:pPr marL="0" indent="0">
              <a:buNone/>
            </a:pPr>
            <a:r>
              <a:rPr lang="en-US" sz="1300" b="1" dirty="0">
                <a:solidFill>
                  <a:srgbClr val="FFFFFF"/>
                </a:solidFill>
                <a:latin typeface="Yu Gothic" pitchFamily="34" charset="0"/>
                <a:ea typeface="Yu Gothic" pitchFamily="34" charset="-122"/>
                <a:cs typeface="Yu Gothic" pitchFamily="34" charset="-120"/>
              </a:rPr>
              <a:t>上司連動</a:t>
            </a:r>
            <a:endParaRPr lang="en-US" sz="1300" dirty="0"/>
          </a:p>
        </p:txBody>
      </p:sp>
      <p:sp>
        <p:nvSpPr>
          <p:cNvPr id="32" name="Text 20"/>
          <p:cNvSpPr/>
          <p:nvPr/>
        </p:nvSpPr>
        <p:spPr>
          <a:xfrm>
            <a:off x="6035040" y="2423160"/>
            <a:ext cx="2514600" cy="1828800"/>
          </a:xfrm>
          <a:prstGeom prst="rect">
            <a:avLst/>
          </a:prstGeom>
          <a:noFill/>
          <a:ln/>
        </p:spPr>
        <p:txBody>
          <a:bodyPr wrap="square" lIns="0" tIns="0" rIns="0" bIns="0" rtlCol="0" anchor="t"/>
          <a:lstStyle/>
          <a:p>
            <a:pPr marL="0" indent="0">
              <a:spcAft>
                <a:spcPts val="600"/>
              </a:spcAft>
              <a:buNone/>
            </a:pPr>
            <a:r>
              <a:rPr lang="en-US" sz="1200" dirty="0">
                <a:solidFill>
                  <a:srgbClr val="5A1018"/>
                </a:solidFill>
                <a:latin typeface="Yu Gothic" pitchFamily="34" charset="0"/>
                <a:ea typeface="Yu Gothic" pitchFamily="34" charset="-122"/>
                <a:cs typeface="Yu Gothic" pitchFamily="34" charset="-120"/>
              </a:rPr>
              <a:t>傾聴の実践を上司にも共有。1on1実践を上司が見守りFBする仕組みを推奨。</a:t>
            </a:r>
            <a:endParaRPr lang="en-US" sz="1200" dirty="0"/>
          </a:p>
        </p:txBody>
      </p:sp>
      <p:sp>
        <p:nvSpPr>
          <p:cNvPr id="33" name="Shape 21"/>
          <p:cNvSpPr/>
          <p:nvPr/>
        </p:nvSpPr>
        <p:spPr>
          <a:xfrm>
            <a:off x="274320" y="4617720"/>
            <a:ext cx="8595360" cy="0"/>
          </a:xfrm>
          <a:prstGeom prst="line">
            <a:avLst/>
          </a:prstGeom>
          <a:noFill/>
          <a:ln w="12700">
            <a:solidFill>
              <a:srgbClr val="8C2029"/>
            </a:solidFill>
            <a:prstDash val="dash"/>
          </a:ln>
        </p:spPr>
        <p:txBody>
          <a:bodyPr/>
          <a:lstStyle/>
          <a:p>
            <a:endParaRPr lang="ja-JP" altLang="en-US"/>
          </a:p>
        </p:txBody>
      </p:sp>
      <p:sp>
        <p:nvSpPr>
          <p:cNvPr id="34" name="Text 22"/>
          <p:cNvSpPr/>
          <p:nvPr/>
        </p:nvSpPr>
        <p:spPr>
          <a:xfrm>
            <a:off x="5943600" y="4663440"/>
            <a:ext cx="2743200" cy="274320"/>
          </a:xfrm>
          <a:prstGeom prst="rect">
            <a:avLst/>
          </a:prstGeom>
          <a:noFill/>
          <a:ln/>
        </p:spPr>
        <p:txBody>
          <a:bodyPr wrap="square" lIns="0" tIns="0" rIns="0" bIns="0"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C2029"/>
          </a:solidFill>
          <a:ln/>
        </p:spPr>
        <p:txBody>
          <a:bodyPr/>
          <a:lstStyle/>
          <a:p>
            <a:endParaRPr lang="ja-JP" altLang="en-US"/>
          </a:p>
        </p:txBody>
      </p:sp>
      <p:pic>
        <p:nvPicPr>
          <p:cNvPr id="3" name="Image 0" descr="/sessions/cool-intelligent-bohr/logo_icon.jpeg"/>
          <p:cNvPicPr>
            <a:picLocks noChangeAspect="1"/>
          </p:cNvPicPr>
          <p:nvPr/>
        </p:nvPicPr>
        <p:blipFill>
          <a:blip r:embed="rId2"/>
          <a:stretch>
            <a:fillRect/>
          </a:stretch>
        </p:blipFill>
        <p:spPr>
          <a:xfrm>
            <a:off x="7498080" y="109728"/>
            <a:ext cx="182880" cy="182880"/>
          </a:xfrm>
          <a:prstGeom prst="rect">
            <a:avLst/>
          </a:prstGeom>
        </p:spPr>
      </p:pic>
      <p:pic>
        <p:nvPicPr>
          <p:cNvPr id="4" name="Image 1" descr="/sessions/cool-intelligent-bohr/logo_text.jpeg"/>
          <p:cNvPicPr>
            <a:picLocks noChangeAspect="1"/>
          </p:cNvPicPr>
          <p:nvPr/>
        </p:nvPicPr>
        <p:blipFill>
          <a:blip r:embed="rId3"/>
          <a:stretch>
            <a:fillRect/>
          </a:stretch>
        </p:blipFill>
        <p:spPr>
          <a:xfrm>
            <a:off x="7726680" y="128016"/>
            <a:ext cx="1097280" cy="146304"/>
          </a:xfrm>
          <a:prstGeom prst="rect">
            <a:avLst/>
          </a:prstGeom>
        </p:spPr>
      </p:pic>
      <p:sp>
        <p:nvSpPr>
          <p:cNvPr id="5" name="Text 1"/>
          <p:cNvSpPr/>
          <p:nvPr/>
        </p:nvSpPr>
        <p:spPr>
          <a:xfrm>
            <a:off x="457200" y="137160"/>
            <a:ext cx="6858000" cy="411480"/>
          </a:xfrm>
          <a:prstGeom prst="rect">
            <a:avLst/>
          </a:prstGeom>
          <a:noFill/>
          <a:ln/>
        </p:spPr>
        <p:txBody>
          <a:bodyPr wrap="square" lIns="0" tIns="0" rIns="0" bIns="0" rtlCol="0" anchor="ctr"/>
          <a:lstStyle/>
          <a:p>
            <a:pPr marL="0" indent="0">
              <a:buNone/>
            </a:pPr>
            <a:r>
              <a:rPr lang="en-US" sz="1300" b="1" dirty="0">
                <a:solidFill>
                  <a:srgbClr val="8C2029"/>
                </a:solidFill>
                <a:latin typeface="Arial" pitchFamily="34" charset="0"/>
                <a:ea typeface="Arial" pitchFamily="34" charset="-122"/>
                <a:cs typeface="Arial" pitchFamily="34" charset="-120"/>
              </a:rPr>
              <a:t>Session 9</a:t>
            </a:r>
            <a:r>
              <a:rPr lang="en-US" sz="2000" b="1" dirty="0">
                <a:solidFill>
                  <a:srgbClr val="333333"/>
                </a:solidFill>
                <a:latin typeface="Yu Gothic" pitchFamily="34" charset="0"/>
                <a:ea typeface="Yu Gothic" pitchFamily="34" charset="-122"/>
                <a:cs typeface="Yu Gothic" pitchFamily="34" charset="-120"/>
              </a:rPr>
              <a:t>：対話の技術② ビジネスコーチング</a:t>
            </a:r>
            <a:endParaRPr lang="en-US" sz="1300" dirty="0"/>
          </a:p>
        </p:txBody>
      </p:sp>
      <p:sp>
        <p:nvSpPr>
          <p:cNvPr id="6" name="Shape 2"/>
          <p:cNvSpPr/>
          <p:nvPr/>
        </p:nvSpPr>
        <p:spPr>
          <a:xfrm>
            <a:off x="457200" y="566928"/>
            <a:ext cx="640080" cy="36576"/>
          </a:xfrm>
          <a:prstGeom prst="rect">
            <a:avLst/>
          </a:prstGeom>
          <a:solidFill>
            <a:srgbClr val="8C2029"/>
          </a:solidFill>
          <a:ln/>
        </p:spPr>
        <p:txBody>
          <a:bodyPr/>
          <a:lstStyle/>
          <a:p>
            <a:endParaRPr lang="ja-JP" altLang="en-US"/>
          </a:p>
        </p:txBody>
      </p:sp>
      <p:sp>
        <p:nvSpPr>
          <p:cNvPr id="7" name="Shape 3"/>
          <p:cNvSpPr/>
          <p:nvPr/>
        </p:nvSpPr>
        <p:spPr>
          <a:xfrm>
            <a:off x="457200" y="713232"/>
            <a:ext cx="8229600" cy="292608"/>
          </a:xfrm>
          <a:prstGeom prst="rect">
            <a:avLst/>
          </a:prstGeom>
          <a:solidFill>
            <a:srgbClr val="F2E0E0"/>
          </a:solidFill>
          <a:ln/>
        </p:spPr>
        <p:txBody>
          <a:bodyPr/>
          <a:lstStyle/>
          <a:p>
            <a:endParaRPr lang="ja-JP" altLang="en-US"/>
          </a:p>
        </p:txBody>
      </p:sp>
      <p:sp>
        <p:nvSpPr>
          <p:cNvPr id="8" name="Text 4"/>
          <p:cNvSpPr/>
          <p:nvPr/>
        </p:nvSpPr>
        <p:spPr>
          <a:xfrm>
            <a:off x="457200" y="713232"/>
            <a:ext cx="8229600" cy="292608"/>
          </a:xfrm>
          <a:prstGeom prst="rect">
            <a:avLst/>
          </a:prstGeom>
          <a:noFill/>
          <a:ln/>
        </p:spPr>
        <p:txBody>
          <a:bodyPr wrap="square" lIns="0" tIns="0" rIns="0" bIns="0" rtlCol="0" anchor="ctr"/>
          <a:lstStyle/>
          <a:p>
            <a:pPr marL="0" indent="0" algn="ctr">
              <a:buNone/>
            </a:pPr>
            <a:r>
              <a:rPr lang="en-US" sz="1200" dirty="0">
                <a:solidFill>
                  <a:srgbClr val="8C2029"/>
                </a:solidFill>
                <a:latin typeface="Yu Gothic" pitchFamily="34" charset="0"/>
                <a:ea typeface="Yu Gothic" pitchFamily="34" charset="-122"/>
                <a:cs typeface="Yu Gothic" pitchFamily="34" charset="-120"/>
              </a:rPr>
              <a:t>〜 部下の力を引き出す 〜</a:t>
            </a:r>
            <a:endParaRPr lang="en-US" sz="1200" dirty="0"/>
          </a:p>
        </p:txBody>
      </p:sp>
      <p:sp>
        <p:nvSpPr>
          <p:cNvPr id="9" name="Shape 5"/>
          <p:cNvSpPr/>
          <p:nvPr/>
        </p:nvSpPr>
        <p:spPr>
          <a:xfrm>
            <a:off x="457200" y="1143000"/>
            <a:ext cx="640080" cy="256032"/>
          </a:xfrm>
          <a:prstGeom prst="rect">
            <a:avLst/>
          </a:prstGeom>
          <a:solidFill>
            <a:srgbClr val="8C2029"/>
          </a:solidFill>
          <a:ln/>
        </p:spPr>
        <p:txBody>
          <a:bodyPr/>
          <a:lstStyle/>
          <a:p>
            <a:endParaRPr lang="ja-JP" altLang="en-US"/>
          </a:p>
        </p:txBody>
      </p:sp>
      <p:sp>
        <p:nvSpPr>
          <p:cNvPr id="10" name="Text 6"/>
          <p:cNvSpPr/>
          <p:nvPr/>
        </p:nvSpPr>
        <p:spPr>
          <a:xfrm>
            <a:off x="457200" y="1143000"/>
            <a:ext cx="6400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Yu Gothic" pitchFamily="34" charset="0"/>
                <a:ea typeface="Yu Gothic" pitchFamily="34" charset="-122"/>
                <a:cs typeface="Yu Gothic" pitchFamily="34" charset="-120"/>
              </a:rPr>
              <a:t>ねらい</a:t>
            </a:r>
            <a:endParaRPr lang="en-US" sz="1100" dirty="0"/>
          </a:p>
        </p:txBody>
      </p:sp>
      <p:sp>
        <p:nvSpPr>
          <p:cNvPr id="11" name="Text 7"/>
          <p:cNvSpPr/>
          <p:nvPr/>
        </p:nvSpPr>
        <p:spPr>
          <a:xfrm>
            <a:off x="1188720" y="1143000"/>
            <a:ext cx="4572000" cy="256032"/>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GROWモデルとフィードバック技術を習得し、「引き出す」マネジメントへ転換する。</a:t>
            </a:r>
            <a:endParaRPr lang="en-US" sz="1100" dirty="0"/>
          </a:p>
        </p:txBody>
      </p:sp>
      <p:sp>
        <p:nvSpPr>
          <p:cNvPr id="12" name="Shape 8"/>
          <p:cNvSpPr/>
          <p:nvPr/>
        </p:nvSpPr>
        <p:spPr>
          <a:xfrm>
            <a:off x="6537960" y="1097280"/>
            <a:ext cx="685800" cy="685800"/>
          </a:xfrm>
          <a:prstGeom prst="ellipse">
            <a:avLst/>
          </a:prstGeom>
          <a:solidFill>
            <a:srgbClr val="8C2029"/>
          </a:solidFill>
          <a:ln/>
          <a:effectLst>
            <a:outerShdw blurRad="50800" dist="25400" dir="8100000" algn="bl" rotWithShape="0">
              <a:srgbClr val="000000">
                <a:alpha val="8000"/>
              </a:srgbClr>
            </a:outerShdw>
          </a:effectLst>
        </p:spPr>
        <p:txBody>
          <a:bodyPr/>
          <a:lstStyle/>
          <a:p>
            <a:endParaRPr lang="ja-JP" altLang="en-US"/>
          </a:p>
        </p:txBody>
      </p:sp>
      <p:pic>
        <p:nvPicPr>
          <p:cNvPr id="13" name="Image 2" descr="preencoded.png"/>
          <p:cNvPicPr>
            <a:picLocks noChangeAspect="1"/>
          </p:cNvPicPr>
          <p:nvPr/>
        </p:nvPicPr>
        <p:blipFill>
          <a:blip r:embed="rId4"/>
          <a:stretch>
            <a:fillRect/>
          </a:stretch>
        </p:blipFill>
        <p:spPr>
          <a:xfrm>
            <a:off x="6656832" y="1216152"/>
            <a:ext cx="457200" cy="457200"/>
          </a:xfrm>
          <a:prstGeom prst="rect">
            <a:avLst/>
          </a:prstGeom>
        </p:spPr>
      </p:pic>
      <p:sp>
        <p:nvSpPr>
          <p:cNvPr id="14" name="Text 9"/>
          <p:cNvSpPr/>
          <p:nvPr/>
        </p:nvSpPr>
        <p:spPr>
          <a:xfrm>
            <a:off x="457200" y="1554480"/>
            <a:ext cx="1645920" cy="228600"/>
          </a:xfrm>
          <a:prstGeom prst="rect">
            <a:avLst/>
          </a:prstGeom>
          <a:noFill/>
          <a:ln/>
        </p:spPr>
        <p:txBody>
          <a:bodyPr wrap="square" lIns="0" tIns="0" rIns="0" bIns="0" rtlCol="0" anchor="ctr"/>
          <a:lstStyle/>
          <a:p>
            <a:pPr marL="0" indent="0">
              <a:buNone/>
            </a:pPr>
            <a:r>
              <a:rPr lang="en-US" sz="1100" b="1" dirty="0">
                <a:solidFill>
                  <a:srgbClr val="8C2029"/>
                </a:solidFill>
                <a:latin typeface="Yu Gothic" pitchFamily="34" charset="0"/>
                <a:ea typeface="Yu Gothic" pitchFamily="34" charset="-122"/>
                <a:cs typeface="Yu Gothic" pitchFamily="34" charset="-120"/>
              </a:rPr>
              <a:t>主な研修内容（案）</a:t>
            </a:r>
            <a:endParaRPr lang="en-US" sz="1100" dirty="0"/>
          </a:p>
        </p:txBody>
      </p:sp>
      <p:sp>
        <p:nvSpPr>
          <p:cNvPr id="15" name="Shape 10"/>
          <p:cNvSpPr/>
          <p:nvPr/>
        </p:nvSpPr>
        <p:spPr>
          <a:xfrm>
            <a:off x="740664" y="1975104"/>
            <a:ext cx="0" cy="1920240"/>
          </a:xfrm>
          <a:prstGeom prst="line">
            <a:avLst/>
          </a:prstGeom>
          <a:noFill/>
          <a:ln w="25400">
            <a:solidFill>
              <a:srgbClr val="D4A0A5"/>
            </a:solidFill>
            <a:prstDash val="solid"/>
          </a:ln>
        </p:spPr>
        <p:txBody>
          <a:bodyPr/>
          <a:lstStyle/>
          <a:p>
            <a:endParaRPr lang="ja-JP" altLang="en-US"/>
          </a:p>
        </p:txBody>
      </p:sp>
      <p:pic>
        <p:nvPicPr>
          <p:cNvPr id="16" name="Image 3" descr="preencoded.png"/>
          <p:cNvPicPr>
            <a:picLocks noChangeAspect="1"/>
          </p:cNvPicPr>
          <p:nvPr/>
        </p:nvPicPr>
        <p:blipFill>
          <a:blip r:embed="rId5"/>
          <a:stretch>
            <a:fillRect/>
          </a:stretch>
        </p:blipFill>
        <p:spPr>
          <a:xfrm>
            <a:off x="640080" y="1874520"/>
            <a:ext cx="201168" cy="201168"/>
          </a:xfrm>
          <a:prstGeom prst="rect">
            <a:avLst/>
          </a:prstGeom>
        </p:spPr>
      </p:pic>
      <p:sp>
        <p:nvSpPr>
          <p:cNvPr id="17" name="Text 11"/>
          <p:cNvSpPr/>
          <p:nvPr/>
        </p:nvSpPr>
        <p:spPr>
          <a:xfrm>
            <a:off x="960120" y="187452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振り返り・カウンセリング実践報告</a:t>
            </a:r>
            <a:endParaRPr lang="en-US" sz="1100" dirty="0"/>
          </a:p>
        </p:txBody>
      </p:sp>
      <p:pic>
        <p:nvPicPr>
          <p:cNvPr id="18" name="Image 4" descr="preencoded.png"/>
          <p:cNvPicPr>
            <a:picLocks noChangeAspect="1"/>
          </p:cNvPicPr>
          <p:nvPr/>
        </p:nvPicPr>
        <p:blipFill>
          <a:blip r:embed="rId6"/>
          <a:stretch>
            <a:fillRect/>
          </a:stretch>
        </p:blipFill>
        <p:spPr>
          <a:xfrm>
            <a:off x="640080" y="2258568"/>
            <a:ext cx="201168" cy="201168"/>
          </a:xfrm>
          <a:prstGeom prst="rect">
            <a:avLst/>
          </a:prstGeom>
        </p:spPr>
      </p:pic>
      <p:sp>
        <p:nvSpPr>
          <p:cNvPr id="19" name="Text 12"/>
          <p:cNvSpPr/>
          <p:nvPr/>
        </p:nvSpPr>
        <p:spPr>
          <a:xfrm>
            <a:off x="960120" y="2258568"/>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コーチングとは（カウンセリングとの違い）</a:t>
            </a:r>
            <a:endParaRPr lang="en-US" sz="1100" dirty="0"/>
          </a:p>
        </p:txBody>
      </p:sp>
      <p:pic>
        <p:nvPicPr>
          <p:cNvPr id="20" name="Image 5" descr="preencoded.png"/>
          <p:cNvPicPr>
            <a:picLocks noChangeAspect="1"/>
          </p:cNvPicPr>
          <p:nvPr/>
        </p:nvPicPr>
        <p:blipFill>
          <a:blip r:embed="rId7"/>
          <a:stretch>
            <a:fillRect/>
          </a:stretch>
        </p:blipFill>
        <p:spPr>
          <a:xfrm>
            <a:off x="640080" y="2642616"/>
            <a:ext cx="201168" cy="201168"/>
          </a:xfrm>
          <a:prstGeom prst="rect">
            <a:avLst/>
          </a:prstGeom>
        </p:spPr>
      </p:pic>
      <p:sp>
        <p:nvSpPr>
          <p:cNvPr id="21" name="Text 13"/>
          <p:cNvSpPr/>
          <p:nvPr/>
        </p:nvSpPr>
        <p:spPr>
          <a:xfrm>
            <a:off x="960120" y="2642616"/>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基本スキル（質問・フィードバック・BE/DO/HAVE）</a:t>
            </a:r>
            <a:endParaRPr lang="en-US" sz="1100" dirty="0"/>
          </a:p>
        </p:txBody>
      </p:sp>
      <p:pic>
        <p:nvPicPr>
          <p:cNvPr id="22" name="Image 6" descr="preencoded.png"/>
          <p:cNvPicPr>
            <a:picLocks noChangeAspect="1"/>
          </p:cNvPicPr>
          <p:nvPr/>
        </p:nvPicPr>
        <p:blipFill>
          <a:blip r:embed="rId8"/>
          <a:stretch>
            <a:fillRect/>
          </a:stretch>
        </p:blipFill>
        <p:spPr>
          <a:xfrm>
            <a:off x="640080" y="3026664"/>
            <a:ext cx="201168" cy="201168"/>
          </a:xfrm>
          <a:prstGeom prst="rect">
            <a:avLst/>
          </a:prstGeom>
        </p:spPr>
      </p:pic>
      <p:sp>
        <p:nvSpPr>
          <p:cNvPr id="23" name="Text 14"/>
          <p:cNvSpPr/>
          <p:nvPr/>
        </p:nvSpPr>
        <p:spPr>
          <a:xfrm>
            <a:off x="960120" y="3026664"/>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GROWモデル前半（Goal・Reality）</a:t>
            </a:r>
            <a:endParaRPr lang="en-US" sz="1100" dirty="0"/>
          </a:p>
        </p:txBody>
      </p:sp>
      <p:pic>
        <p:nvPicPr>
          <p:cNvPr id="24" name="Image 7" descr="preencoded.png"/>
          <p:cNvPicPr>
            <a:picLocks noChangeAspect="1"/>
          </p:cNvPicPr>
          <p:nvPr/>
        </p:nvPicPr>
        <p:blipFill>
          <a:blip r:embed="rId9"/>
          <a:stretch>
            <a:fillRect/>
          </a:stretch>
        </p:blipFill>
        <p:spPr>
          <a:xfrm>
            <a:off x="640080" y="3410712"/>
            <a:ext cx="201168" cy="201168"/>
          </a:xfrm>
          <a:prstGeom prst="rect">
            <a:avLst/>
          </a:prstGeom>
        </p:spPr>
      </p:pic>
      <p:sp>
        <p:nvSpPr>
          <p:cNvPr id="25" name="Text 15"/>
          <p:cNvSpPr/>
          <p:nvPr/>
        </p:nvSpPr>
        <p:spPr>
          <a:xfrm>
            <a:off x="960120" y="3410712"/>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GROWモデル後半（Options・Will）</a:t>
            </a:r>
            <a:endParaRPr lang="en-US" sz="1100" dirty="0"/>
          </a:p>
        </p:txBody>
      </p:sp>
      <p:pic>
        <p:nvPicPr>
          <p:cNvPr id="26" name="Image 8" descr="preencoded.png"/>
          <p:cNvPicPr>
            <a:picLocks noChangeAspect="1"/>
          </p:cNvPicPr>
          <p:nvPr/>
        </p:nvPicPr>
        <p:blipFill>
          <a:blip r:embed="rId10"/>
          <a:stretch>
            <a:fillRect/>
          </a:stretch>
        </p:blipFill>
        <p:spPr>
          <a:xfrm>
            <a:off x="640080" y="3794760"/>
            <a:ext cx="201168" cy="201168"/>
          </a:xfrm>
          <a:prstGeom prst="rect">
            <a:avLst/>
          </a:prstGeom>
        </p:spPr>
      </p:pic>
      <p:sp>
        <p:nvSpPr>
          <p:cNvPr id="27" name="Text 16"/>
          <p:cNvSpPr/>
          <p:nvPr/>
        </p:nvSpPr>
        <p:spPr>
          <a:xfrm>
            <a:off x="960120" y="379476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総合演習（40分×3セット）</a:t>
            </a:r>
            <a:endParaRPr lang="en-US" sz="1100" dirty="0"/>
          </a:p>
        </p:txBody>
      </p:sp>
      <p:sp>
        <p:nvSpPr>
          <p:cNvPr id="28" name="Shape 17"/>
          <p:cNvSpPr/>
          <p:nvPr/>
        </p:nvSpPr>
        <p:spPr>
          <a:xfrm>
            <a:off x="5852160" y="1965959"/>
            <a:ext cx="2880360" cy="1280155"/>
          </a:xfrm>
          <a:prstGeom prst="rect">
            <a:avLst/>
          </a:prstGeom>
          <a:solidFill>
            <a:srgbClr val="F9ECEE"/>
          </a:solidFill>
          <a:ln w="6350">
            <a:solidFill>
              <a:srgbClr val="D4A0A5"/>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29" name="Shape 18"/>
          <p:cNvSpPr/>
          <p:nvPr/>
        </p:nvSpPr>
        <p:spPr>
          <a:xfrm>
            <a:off x="5852160" y="1965960"/>
            <a:ext cx="2880360" cy="320040"/>
          </a:xfrm>
          <a:prstGeom prst="rect">
            <a:avLst/>
          </a:prstGeom>
          <a:solidFill>
            <a:srgbClr val="6B1520"/>
          </a:solidFill>
          <a:ln/>
        </p:spPr>
        <p:txBody>
          <a:bodyPr/>
          <a:lstStyle/>
          <a:p>
            <a:endParaRPr lang="ja-JP" altLang="en-US"/>
          </a:p>
        </p:txBody>
      </p:sp>
      <p:pic>
        <p:nvPicPr>
          <p:cNvPr id="30" name="Image 9" descr="preencoded.png"/>
          <p:cNvPicPr>
            <a:picLocks noChangeAspect="1"/>
          </p:cNvPicPr>
          <p:nvPr/>
        </p:nvPicPr>
        <p:blipFill>
          <a:blip r:embed="rId11"/>
          <a:stretch>
            <a:fillRect/>
          </a:stretch>
        </p:blipFill>
        <p:spPr>
          <a:xfrm>
            <a:off x="5989320" y="2011680"/>
            <a:ext cx="228600" cy="228600"/>
          </a:xfrm>
          <a:prstGeom prst="rect">
            <a:avLst/>
          </a:prstGeom>
        </p:spPr>
      </p:pic>
      <p:sp>
        <p:nvSpPr>
          <p:cNvPr id="31" name="Text 19"/>
          <p:cNvSpPr/>
          <p:nvPr/>
        </p:nvSpPr>
        <p:spPr>
          <a:xfrm>
            <a:off x="6263640" y="1965960"/>
            <a:ext cx="1828800" cy="320040"/>
          </a:xfrm>
          <a:prstGeom prst="rect">
            <a:avLst/>
          </a:prstGeom>
          <a:noFill/>
          <a:ln/>
        </p:spPr>
        <p:txBody>
          <a:bodyPr wrap="square" lIns="0" tIns="0" rIns="0" bIns="0" rtlCol="0" anchor="ctr"/>
          <a:lstStyle/>
          <a:p>
            <a:pPr marL="0" indent="0">
              <a:buNone/>
            </a:pPr>
            <a:r>
              <a:rPr lang="en-US" sz="1300" b="1" dirty="0">
                <a:solidFill>
                  <a:srgbClr val="FFFFFF"/>
                </a:solidFill>
                <a:latin typeface="Yu Gothic" pitchFamily="34" charset="0"/>
                <a:ea typeface="Yu Gothic" pitchFamily="34" charset="-122"/>
                <a:cs typeface="Yu Gothic" pitchFamily="34" charset="-120"/>
              </a:rPr>
              <a:t>上司連動</a:t>
            </a:r>
            <a:endParaRPr lang="en-US" sz="1300" dirty="0"/>
          </a:p>
        </p:txBody>
      </p:sp>
      <p:sp>
        <p:nvSpPr>
          <p:cNvPr id="32" name="Text 20"/>
          <p:cNvSpPr/>
          <p:nvPr/>
        </p:nvSpPr>
        <p:spPr>
          <a:xfrm>
            <a:off x="6035040" y="2423160"/>
            <a:ext cx="2514600" cy="1828800"/>
          </a:xfrm>
          <a:prstGeom prst="rect">
            <a:avLst/>
          </a:prstGeom>
          <a:noFill/>
          <a:ln/>
        </p:spPr>
        <p:txBody>
          <a:bodyPr wrap="square" lIns="0" tIns="0" rIns="0" bIns="0" rtlCol="0" anchor="t"/>
          <a:lstStyle/>
          <a:p>
            <a:pPr marL="0" indent="0">
              <a:spcAft>
                <a:spcPts val="600"/>
              </a:spcAft>
              <a:buNone/>
            </a:pPr>
            <a:r>
              <a:rPr lang="en-US" sz="1200" dirty="0">
                <a:solidFill>
                  <a:srgbClr val="5A1018"/>
                </a:solidFill>
                <a:latin typeface="Yu Gothic" pitchFamily="34" charset="0"/>
                <a:ea typeface="Yu Gothic" pitchFamily="34" charset="-122"/>
                <a:cs typeface="Yu Gothic" pitchFamily="34" charset="-120"/>
              </a:rPr>
              <a:t>GROWモデル概要シートを上司にも提供。受講生のコーチング実践を上司がオブザーブしFBする仕組みを推奨。</a:t>
            </a:r>
            <a:endParaRPr lang="en-US" sz="1200" dirty="0"/>
          </a:p>
        </p:txBody>
      </p:sp>
      <p:sp>
        <p:nvSpPr>
          <p:cNvPr id="33" name="Shape 21"/>
          <p:cNvSpPr/>
          <p:nvPr/>
        </p:nvSpPr>
        <p:spPr>
          <a:xfrm>
            <a:off x="274320" y="4617720"/>
            <a:ext cx="8595360" cy="0"/>
          </a:xfrm>
          <a:prstGeom prst="line">
            <a:avLst/>
          </a:prstGeom>
          <a:noFill/>
          <a:ln w="12700">
            <a:solidFill>
              <a:srgbClr val="8C2029"/>
            </a:solidFill>
            <a:prstDash val="dash"/>
          </a:ln>
        </p:spPr>
        <p:txBody>
          <a:bodyPr/>
          <a:lstStyle/>
          <a:p>
            <a:endParaRPr lang="ja-JP" altLang="en-US"/>
          </a:p>
        </p:txBody>
      </p:sp>
      <p:sp>
        <p:nvSpPr>
          <p:cNvPr id="34" name="Text 22"/>
          <p:cNvSpPr/>
          <p:nvPr/>
        </p:nvSpPr>
        <p:spPr>
          <a:xfrm>
            <a:off x="5943600" y="4663440"/>
            <a:ext cx="2743200" cy="274320"/>
          </a:xfrm>
          <a:prstGeom prst="rect">
            <a:avLst/>
          </a:prstGeom>
          <a:noFill/>
          <a:ln/>
        </p:spPr>
        <p:txBody>
          <a:bodyPr wrap="square" lIns="0" tIns="0" rIns="0" bIns="0"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C2029"/>
          </a:solidFill>
          <a:ln/>
        </p:spPr>
        <p:txBody>
          <a:bodyPr/>
          <a:lstStyle/>
          <a:p>
            <a:endParaRPr lang="ja-JP" altLang="en-US"/>
          </a:p>
        </p:txBody>
      </p:sp>
      <p:pic>
        <p:nvPicPr>
          <p:cNvPr id="3" name="Image 0" descr="/sessions/cool-intelligent-bohr/logo_icon.jpeg"/>
          <p:cNvPicPr>
            <a:picLocks noChangeAspect="1"/>
          </p:cNvPicPr>
          <p:nvPr/>
        </p:nvPicPr>
        <p:blipFill>
          <a:blip r:embed="rId2"/>
          <a:stretch>
            <a:fillRect/>
          </a:stretch>
        </p:blipFill>
        <p:spPr>
          <a:xfrm>
            <a:off x="7498080" y="109728"/>
            <a:ext cx="182880" cy="182880"/>
          </a:xfrm>
          <a:prstGeom prst="rect">
            <a:avLst/>
          </a:prstGeom>
        </p:spPr>
      </p:pic>
      <p:pic>
        <p:nvPicPr>
          <p:cNvPr id="4" name="Image 1" descr="/sessions/cool-intelligent-bohr/logo_text.jpeg"/>
          <p:cNvPicPr>
            <a:picLocks noChangeAspect="1"/>
          </p:cNvPicPr>
          <p:nvPr/>
        </p:nvPicPr>
        <p:blipFill>
          <a:blip r:embed="rId3"/>
          <a:stretch>
            <a:fillRect/>
          </a:stretch>
        </p:blipFill>
        <p:spPr>
          <a:xfrm>
            <a:off x="7726680" y="128016"/>
            <a:ext cx="1097280" cy="146304"/>
          </a:xfrm>
          <a:prstGeom prst="rect">
            <a:avLst/>
          </a:prstGeom>
        </p:spPr>
      </p:pic>
      <p:sp>
        <p:nvSpPr>
          <p:cNvPr id="5" name="Text 1"/>
          <p:cNvSpPr/>
          <p:nvPr/>
        </p:nvSpPr>
        <p:spPr>
          <a:xfrm>
            <a:off x="457200" y="137160"/>
            <a:ext cx="6858000" cy="411480"/>
          </a:xfrm>
          <a:prstGeom prst="rect">
            <a:avLst/>
          </a:prstGeom>
          <a:noFill/>
          <a:ln/>
        </p:spPr>
        <p:txBody>
          <a:bodyPr wrap="square" lIns="0" tIns="0" rIns="0" bIns="0" rtlCol="0" anchor="ctr"/>
          <a:lstStyle/>
          <a:p>
            <a:pPr marL="0" indent="0">
              <a:buNone/>
            </a:pPr>
            <a:r>
              <a:rPr lang="en-US" sz="1300" b="1" dirty="0">
                <a:solidFill>
                  <a:srgbClr val="8C2029"/>
                </a:solidFill>
                <a:latin typeface="Arial" pitchFamily="34" charset="0"/>
                <a:ea typeface="Arial" pitchFamily="34" charset="-122"/>
                <a:cs typeface="Arial" pitchFamily="34" charset="-120"/>
              </a:rPr>
              <a:t>Session 10</a:t>
            </a:r>
            <a:r>
              <a:rPr lang="en-US" sz="2000" b="1" dirty="0">
                <a:solidFill>
                  <a:srgbClr val="333333"/>
                </a:solidFill>
                <a:latin typeface="Yu Gothic" pitchFamily="34" charset="0"/>
                <a:ea typeface="Yu Gothic" pitchFamily="34" charset="-122"/>
                <a:cs typeface="Yu Gothic" pitchFamily="34" charset="-120"/>
              </a:rPr>
              <a:t>：会議ファシリテーション</a:t>
            </a:r>
            <a:endParaRPr lang="en-US" sz="1300" dirty="0"/>
          </a:p>
        </p:txBody>
      </p:sp>
      <p:sp>
        <p:nvSpPr>
          <p:cNvPr id="6" name="Shape 2"/>
          <p:cNvSpPr/>
          <p:nvPr/>
        </p:nvSpPr>
        <p:spPr>
          <a:xfrm>
            <a:off x="457200" y="566928"/>
            <a:ext cx="640080" cy="36576"/>
          </a:xfrm>
          <a:prstGeom prst="rect">
            <a:avLst/>
          </a:prstGeom>
          <a:solidFill>
            <a:srgbClr val="8C2029"/>
          </a:solidFill>
          <a:ln/>
        </p:spPr>
        <p:txBody>
          <a:bodyPr/>
          <a:lstStyle/>
          <a:p>
            <a:endParaRPr lang="ja-JP" altLang="en-US"/>
          </a:p>
        </p:txBody>
      </p:sp>
      <p:sp>
        <p:nvSpPr>
          <p:cNvPr id="7" name="Shape 3"/>
          <p:cNvSpPr/>
          <p:nvPr/>
        </p:nvSpPr>
        <p:spPr>
          <a:xfrm>
            <a:off x="457200" y="713232"/>
            <a:ext cx="8229600" cy="292608"/>
          </a:xfrm>
          <a:prstGeom prst="rect">
            <a:avLst/>
          </a:prstGeom>
          <a:solidFill>
            <a:srgbClr val="F2E0E0"/>
          </a:solidFill>
          <a:ln/>
        </p:spPr>
        <p:txBody>
          <a:bodyPr/>
          <a:lstStyle/>
          <a:p>
            <a:endParaRPr lang="ja-JP" altLang="en-US"/>
          </a:p>
        </p:txBody>
      </p:sp>
      <p:sp>
        <p:nvSpPr>
          <p:cNvPr id="8" name="Text 4"/>
          <p:cNvSpPr/>
          <p:nvPr/>
        </p:nvSpPr>
        <p:spPr>
          <a:xfrm>
            <a:off x="457200" y="713232"/>
            <a:ext cx="8229600" cy="292608"/>
          </a:xfrm>
          <a:prstGeom prst="rect">
            <a:avLst/>
          </a:prstGeom>
          <a:noFill/>
          <a:ln/>
        </p:spPr>
        <p:txBody>
          <a:bodyPr wrap="square" lIns="0" tIns="0" rIns="0" bIns="0" rtlCol="0" anchor="ctr"/>
          <a:lstStyle/>
          <a:p>
            <a:pPr marL="0" indent="0" algn="ctr">
              <a:buNone/>
            </a:pPr>
            <a:r>
              <a:rPr lang="en-US" sz="1200" dirty="0">
                <a:solidFill>
                  <a:srgbClr val="8C2029"/>
                </a:solidFill>
                <a:latin typeface="Yu Gothic" pitchFamily="34" charset="0"/>
                <a:ea typeface="Yu Gothic" pitchFamily="34" charset="-122"/>
                <a:cs typeface="Yu Gothic" pitchFamily="34" charset="-120"/>
              </a:rPr>
              <a:t>〜 会議を変えれば組織が変わる 〜</a:t>
            </a:r>
            <a:endParaRPr lang="en-US" sz="1200" dirty="0"/>
          </a:p>
        </p:txBody>
      </p:sp>
      <p:sp>
        <p:nvSpPr>
          <p:cNvPr id="9" name="Shape 5"/>
          <p:cNvSpPr/>
          <p:nvPr/>
        </p:nvSpPr>
        <p:spPr>
          <a:xfrm>
            <a:off x="457200" y="1143000"/>
            <a:ext cx="640080" cy="256032"/>
          </a:xfrm>
          <a:prstGeom prst="rect">
            <a:avLst/>
          </a:prstGeom>
          <a:solidFill>
            <a:srgbClr val="8C2029"/>
          </a:solidFill>
          <a:ln/>
        </p:spPr>
        <p:txBody>
          <a:bodyPr/>
          <a:lstStyle/>
          <a:p>
            <a:endParaRPr lang="ja-JP" altLang="en-US"/>
          </a:p>
        </p:txBody>
      </p:sp>
      <p:sp>
        <p:nvSpPr>
          <p:cNvPr id="10" name="Text 6"/>
          <p:cNvSpPr/>
          <p:nvPr/>
        </p:nvSpPr>
        <p:spPr>
          <a:xfrm>
            <a:off x="457200" y="1143000"/>
            <a:ext cx="6400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Yu Gothic" pitchFamily="34" charset="0"/>
                <a:ea typeface="Yu Gothic" pitchFamily="34" charset="-122"/>
                <a:cs typeface="Yu Gothic" pitchFamily="34" charset="-120"/>
              </a:rPr>
              <a:t>ねらい</a:t>
            </a:r>
            <a:endParaRPr lang="en-US" sz="1100" dirty="0"/>
          </a:p>
        </p:txBody>
      </p:sp>
      <p:sp>
        <p:nvSpPr>
          <p:cNvPr id="11" name="Text 7"/>
          <p:cNvSpPr/>
          <p:nvPr/>
        </p:nvSpPr>
        <p:spPr>
          <a:xfrm>
            <a:off x="1188720" y="1143000"/>
            <a:ext cx="4572000" cy="256032"/>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ファシリテーションの基本技術を習得し、自職場の会議を改善できる実践力を養う。</a:t>
            </a:r>
            <a:endParaRPr lang="en-US" sz="1100" dirty="0"/>
          </a:p>
        </p:txBody>
      </p:sp>
      <p:sp>
        <p:nvSpPr>
          <p:cNvPr id="12" name="Shape 8"/>
          <p:cNvSpPr/>
          <p:nvPr/>
        </p:nvSpPr>
        <p:spPr>
          <a:xfrm>
            <a:off x="6537960" y="1097280"/>
            <a:ext cx="685800" cy="685800"/>
          </a:xfrm>
          <a:prstGeom prst="ellipse">
            <a:avLst/>
          </a:prstGeom>
          <a:solidFill>
            <a:srgbClr val="8C2029"/>
          </a:solidFill>
          <a:ln/>
          <a:effectLst>
            <a:outerShdw blurRad="50800" dist="25400" dir="8100000" algn="bl" rotWithShape="0">
              <a:srgbClr val="000000">
                <a:alpha val="8000"/>
              </a:srgbClr>
            </a:outerShdw>
          </a:effectLst>
        </p:spPr>
        <p:txBody>
          <a:bodyPr/>
          <a:lstStyle/>
          <a:p>
            <a:endParaRPr lang="ja-JP" altLang="en-US"/>
          </a:p>
        </p:txBody>
      </p:sp>
      <p:pic>
        <p:nvPicPr>
          <p:cNvPr id="13" name="Image 2" descr="preencoded.png"/>
          <p:cNvPicPr>
            <a:picLocks noChangeAspect="1"/>
          </p:cNvPicPr>
          <p:nvPr/>
        </p:nvPicPr>
        <p:blipFill>
          <a:blip r:embed="rId4"/>
          <a:stretch>
            <a:fillRect/>
          </a:stretch>
        </p:blipFill>
        <p:spPr>
          <a:xfrm>
            <a:off x="6656832" y="1216152"/>
            <a:ext cx="457200" cy="457200"/>
          </a:xfrm>
          <a:prstGeom prst="rect">
            <a:avLst/>
          </a:prstGeom>
        </p:spPr>
      </p:pic>
      <p:sp>
        <p:nvSpPr>
          <p:cNvPr id="14" name="Text 9"/>
          <p:cNvSpPr/>
          <p:nvPr/>
        </p:nvSpPr>
        <p:spPr>
          <a:xfrm>
            <a:off x="457200" y="1554480"/>
            <a:ext cx="1645920" cy="228600"/>
          </a:xfrm>
          <a:prstGeom prst="rect">
            <a:avLst/>
          </a:prstGeom>
          <a:noFill/>
          <a:ln/>
        </p:spPr>
        <p:txBody>
          <a:bodyPr wrap="square" lIns="0" tIns="0" rIns="0" bIns="0" rtlCol="0" anchor="ctr"/>
          <a:lstStyle/>
          <a:p>
            <a:pPr marL="0" indent="0">
              <a:buNone/>
            </a:pPr>
            <a:r>
              <a:rPr lang="en-US" sz="1100" b="1" dirty="0">
                <a:solidFill>
                  <a:srgbClr val="8C2029"/>
                </a:solidFill>
                <a:latin typeface="Yu Gothic" pitchFamily="34" charset="0"/>
                <a:ea typeface="Yu Gothic" pitchFamily="34" charset="-122"/>
                <a:cs typeface="Yu Gothic" pitchFamily="34" charset="-120"/>
              </a:rPr>
              <a:t>主な研修内容（案）</a:t>
            </a:r>
            <a:endParaRPr lang="en-US" sz="1100" dirty="0"/>
          </a:p>
        </p:txBody>
      </p:sp>
      <p:sp>
        <p:nvSpPr>
          <p:cNvPr id="15" name="Shape 10"/>
          <p:cNvSpPr/>
          <p:nvPr/>
        </p:nvSpPr>
        <p:spPr>
          <a:xfrm>
            <a:off x="740664" y="1975104"/>
            <a:ext cx="0" cy="1920240"/>
          </a:xfrm>
          <a:prstGeom prst="line">
            <a:avLst/>
          </a:prstGeom>
          <a:noFill/>
          <a:ln w="25400">
            <a:solidFill>
              <a:srgbClr val="D4A0A5"/>
            </a:solidFill>
            <a:prstDash val="solid"/>
          </a:ln>
        </p:spPr>
        <p:txBody>
          <a:bodyPr/>
          <a:lstStyle/>
          <a:p>
            <a:endParaRPr lang="ja-JP" altLang="en-US"/>
          </a:p>
        </p:txBody>
      </p:sp>
      <p:pic>
        <p:nvPicPr>
          <p:cNvPr id="16" name="Image 3" descr="preencoded.png"/>
          <p:cNvPicPr>
            <a:picLocks noChangeAspect="1"/>
          </p:cNvPicPr>
          <p:nvPr/>
        </p:nvPicPr>
        <p:blipFill>
          <a:blip r:embed="rId5"/>
          <a:stretch>
            <a:fillRect/>
          </a:stretch>
        </p:blipFill>
        <p:spPr>
          <a:xfrm>
            <a:off x="640080" y="1874520"/>
            <a:ext cx="201168" cy="201168"/>
          </a:xfrm>
          <a:prstGeom prst="rect">
            <a:avLst/>
          </a:prstGeom>
        </p:spPr>
      </p:pic>
      <p:sp>
        <p:nvSpPr>
          <p:cNvPr id="17" name="Text 11"/>
          <p:cNvSpPr/>
          <p:nvPr/>
        </p:nvSpPr>
        <p:spPr>
          <a:xfrm>
            <a:off x="960120" y="187452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振り返り・コーチング実践報告</a:t>
            </a:r>
            <a:endParaRPr lang="en-US" sz="1100" dirty="0"/>
          </a:p>
        </p:txBody>
      </p:sp>
      <p:pic>
        <p:nvPicPr>
          <p:cNvPr id="18" name="Image 4" descr="preencoded.png"/>
          <p:cNvPicPr>
            <a:picLocks noChangeAspect="1"/>
          </p:cNvPicPr>
          <p:nvPr/>
        </p:nvPicPr>
        <p:blipFill>
          <a:blip r:embed="rId6"/>
          <a:stretch>
            <a:fillRect/>
          </a:stretch>
        </p:blipFill>
        <p:spPr>
          <a:xfrm>
            <a:off x="640080" y="2258568"/>
            <a:ext cx="201168" cy="201168"/>
          </a:xfrm>
          <a:prstGeom prst="rect">
            <a:avLst/>
          </a:prstGeom>
        </p:spPr>
      </p:pic>
      <p:sp>
        <p:nvSpPr>
          <p:cNvPr id="19" name="Text 12"/>
          <p:cNvSpPr/>
          <p:nvPr/>
        </p:nvSpPr>
        <p:spPr>
          <a:xfrm>
            <a:off x="960120" y="2258568"/>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機能不全な会議の特徴（GW→客観視）</a:t>
            </a:r>
            <a:endParaRPr lang="en-US" sz="1100" dirty="0"/>
          </a:p>
        </p:txBody>
      </p:sp>
      <p:pic>
        <p:nvPicPr>
          <p:cNvPr id="20" name="Image 5" descr="preencoded.png"/>
          <p:cNvPicPr>
            <a:picLocks noChangeAspect="1"/>
          </p:cNvPicPr>
          <p:nvPr/>
        </p:nvPicPr>
        <p:blipFill>
          <a:blip r:embed="rId7"/>
          <a:stretch>
            <a:fillRect/>
          </a:stretch>
        </p:blipFill>
        <p:spPr>
          <a:xfrm>
            <a:off x="640080" y="2642616"/>
            <a:ext cx="201168" cy="201168"/>
          </a:xfrm>
          <a:prstGeom prst="rect">
            <a:avLst/>
          </a:prstGeom>
        </p:spPr>
      </p:pic>
      <p:sp>
        <p:nvSpPr>
          <p:cNvPr id="21" name="Text 13"/>
          <p:cNvSpPr/>
          <p:nvPr/>
        </p:nvSpPr>
        <p:spPr>
          <a:xfrm>
            <a:off x="960120" y="2642616"/>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ファシリテーションの基本（目的・役割・ルール）</a:t>
            </a:r>
            <a:endParaRPr lang="en-US" sz="1100" dirty="0"/>
          </a:p>
        </p:txBody>
      </p:sp>
      <p:pic>
        <p:nvPicPr>
          <p:cNvPr id="22" name="Image 6" descr="preencoded.png"/>
          <p:cNvPicPr>
            <a:picLocks noChangeAspect="1"/>
          </p:cNvPicPr>
          <p:nvPr/>
        </p:nvPicPr>
        <p:blipFill>
          <a:blip r:embed="rId8"/>
          <a:stretch>
            <a:fillRect/>
          </a:stretch>
        </p:blipFill>
        <p:spPr>
          <a:xfrm>
            <a:off x="640080" y="3026664"/>
            <a:ext cx="201168" cy="201168"/>
          </a:xfrm>
          <a:prstGeom prst="rect">
            <a:avLst/>
          </a:prstGeom>
        </p:spPr>
      </p:pic>
      <p:sp>
        <p:nvSpPr>
          <p:cNvPr id="23" name="Text 14"/>
          <p:cNvSpPr/>
          <p:nvPr/>
        </p:nvSpPr>
        <p:spPr>
          <a:xfrm>
            <a:off x="960120" y="3026664"/>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機能する会議の特徴（GW→10項目にまとめる）</a:t>
            </a:r>
            <a:endParaRPr lang="en-US" sz="1100" dirty="0"/>
          </a:p>
        </p:txBody>
      </p:sp>
      <p:pic>
        <p:nvPicPr>
          <p:cNvPr id="24" name="Image 7" descr="preencoded.png"/>
          <p:cNvPicPr>
            <a:picLocks noChangeAspect="1"/>
          </p:cNvPicPr>
          <p:nvPr/>
        </p:nvPicPr>
        <p:blipFill>
          <a:blip r:embed="rId9"/>
          <a:stretch>
            <a:fillRect/>
          </a:stretch>
        </p:blipFill>
        <p:spPr>
          <a:xfrm>
            <a:off x="640080" y="3410712"/>
            <a:ext cx="201168" cy="201168"/>
          </a:xfrm>
          <a:prstGeom prst="rect">
            <a:avLst/>
          </a:prstGeom>
        </p:spPr>
      </p:pic>
      <p:sp>
        <p:nvSpPr>
          <p:cNvPr id="25" name="Text 15"/>
          <p:cNvSpPr/>
          <p:nvPr/>
        </p:nvSpPr>
        <p:spPr>
          <a:xfrm>
            <a:off x="960120" y="3410712"/>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GROWフレームによる会議運営の実践</a:t>
            </a:r>
            <a:endParaRPr lang="en-US" sz="1100" dirty="0"/>
          </a:p>
        </p:txBody>
      </p:sp>
      <p:pic>
        <p:nvPicPr>
          <p:cNvPr id="26" name="Image 8" descr="preencoded.png"/>
          <p:cNvPicPr>
            <a:picLocks noChangeAspect="1"/>
          </p:cNvPicPr>
          <p:nvPr/>
        </p:nvPicPr>
        <p:blipFill>
          <a:blip r:embed="rId10"/>
          <a:stretch>
            <a:fillRect/>
          </a:stretch>
        </p:blipFill>
        <p:spPr>
          <a:xfrm>
            <a:off x="640080" y="3794760"/>
            <a:ext cx="201168" cy="201168"/>
          </a:xfrm>
          <a:prstGeom prst="rect">
            <a:avLst/>
          </a:prstGeom>
        </p:spPr>
      </p:pic>
      <p:sp>
        <p:nvSpPr>
          <p:cNvPr id="27" name="Text 16"/>
          <p:cNvSpPr/>
          <p:nvPr/>
        </p:nvSpPr>
        <p:spPr>
          <a:xfrm>
            <a:off x="960120" y="379476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最終報告に向けたチーム戦略会議</a:t>
            </a:r>
            <a:endParaRPr lang="en-US" sz="1100" dirty="0"/>
          </a:p>
        </p:txBody>
      </p:sp>
      <p:sp>
        <p:nvSpPr>
          <p:cNvPr id="28" name="Shape 17"/>
          <p:cNvSpPr/>
          <p:nvPr/>
        </p:nvSpPr>
        <p:spPr>
          <a:xfrm>
            <a:off x="5852160" y="1965960"/>
            <a:ext cx="2880360" cy="1207007"/>
          </a:xfrm>
          <a:prstGeom prst="rect">
            <a:avLst/>
          </a:prstGeom>
          <a:solidFill>
            <a:srgbClr val="F9ECEE"/>
          </a:solidFill>
          <a:ln w="6350">
            <a:solidFill>
              <a:srgbClr val="D4A0A5"/>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29" name="Shape 18"/>
          <p:cNvSpPr/>
          <p:nvPr/>
        </p:nvSpPr>
        <p:spPr>
          <a:xfrm>
            <a:off x="5852160" y="1965960"/>
            <a:ext cx="2880360" cy="320040"/>
          </a:xfrm>
          <a:prstGeom prst="rect">
            <a:avLst/>
          </a:prstGeom>
          <a:solidFill>
            <a:srgbClr val="6B1520"/>
          </a:solidFill>
          <a:ln/>
        </p:spPr>
        <p:txBody>
          <a:bodyPr/>
          <a:lstStyle/>
          <a:p>
            <a:endParaRPr lang="ja-JP" altLang="en-US"/>
          </a:p>
        </p:txBody>
      </p:sp>
      <p:pic>
        <p:nvPicPr>
          <p:cNvPr id="30" name="Image 9" descr="preencoded.png"/>
          <p:cNvPicPr>
            <a:picLocks noChangeAspect="1"/>
          </p:cNvPicPr>
          <p:nvPr/>
        </p:nvPicPr>
        <p:blipFill>
          <a:blip r:embed="rId11"/>
          <a:stretch>
            <a:fillRect/>
          </a:stretch>
        </p:blipFill>
        <p:spPr>
          <a:xfrm>
            <a:off x="5989320" y="2011680"/>
            <a:ext cx="228600" cy="228600"/>
          </a:xfrm>
          <a:prstGeom prst="rect">
            <a:avLst/>
          </a:prstGeom>
        </p:spPr>
      </p:pic>
      <p:sp>
        <p:nvSpPr>
          <p:cNvPr id="31" name="Text 19"/>
          <p:cNvSpPr/>
          <p:nvPr/>
        </p:nvSpPr>
        <p:spPr>
          <a:xfrm>
            <a:off x="6263640" y="1965960"/>
            <a:ext cx="1828800" cy="320040"/>
          </a:xfrm>
          <a:prstGeom prst="rect">
            <a:avLst/>
          </a:prstGeom>
          <a:noFill/>
          <a:ln/>
        </p:spPr>
        <p:txBody>
          <a:bodyPr wrap="square" lIns="0" tIns="0" rIns="0" bIns="0" rtlCol="0" anchor="ctr"/>
          <a:lstStyle/>
          <a:p>
            <a:pPr marL="0" indent="0">
              <a:buNone/>
            </a:pPr>
            <a:r>
              <a:rPr lang="en-US" sz="1300" b="1" dirty="0">
                <a:solidFill>
                  <a:srgbClr val="FFFFFF"/>
                </a:solidFill>
                <a:latin typeface="Yu Gothic" pitchFamily="34" charset="0"/>
                <a:ea typeface="Yu Gothic" pitchFamily="34" charset="-122"/>
                <a:cs typeface="Yu Gothic" pitchFamily="34" charset="-120"/>
              </a:rPr>
              <a:t>上司連動</a:t>
            </a:r>
            <a:endParaRPr lang="en-US" sz="1300" dirty="0"/>
          </a:p>
        </p:txBody>
      </p:sp>
      <p:sp>
        <p:nvSpPr>
          <p:cNvPr id="32" name="Text 20"/>
          <p:cNvSpPr/>
          <p:nvPr/>
        </p:nvSpPr>
        <p:spPr>
          <a:xfrm>
            <a:off x="6035040" y="2423160"/>
            <a:ext cx="2514600" cy="1828800"/>
          </a:xfrm>
          <a:prstGeom prst="rect">
            <a:avLst/>
          </a:prstGeom>
          <a:noFill/>
          <a:ln/>
        </p:spPr>
        <p:txBody>
          <a:bodyPr wrap="square" lIns="0" tIns="0" rIns="0" bIns="0" rtlCol="0" anchor="t"/>
          <a:lstStyle/>
          <a:p>
            <a:pPr marL="0" indent="0">
              <a:spcAft>
                <a:spcPts val="600"/>
              </a:spcAft>
              <a:buNone/>
            </a:pPr>
            <a:r>
              <a:rPr lang="en-US" sz="1200" dirty="0">
                <a:solidFill>
                  <a:srgbClr val="5A1018"/>
                </a:solidFill>
                <a:latin typeface="Yu Gothic" pitchFamily="34" charset="0"/>
                <a:ea typeface="Yu Gothic" pitchFamily="34" charset="-122"/>
                <a:cs typeface="Yu Gothic" pitchFamily="34" charset="-120"/>
              </a:rPr>
              <a:t>受講生の「会議改善チャレンジ」を上司が観察・評価。改善前後の変化を最終報告の素材とする。</a:t>
            </a:r>
            <a:endParaRPr lang="en-US" sz="1200" dirty="0"/>
          </a:p>
        </p:txBody>
      </p:sp>
      <p:sp>
        <p:nvSpPr>
          <p:cNvPr id="33" name="Shape 21"/>
          <p:cNvSpPr/>
          <p:nvPr/>
        </p:nvSpPr>
        <p:spPr>
          <a:xfrm>
            <a:off x="274320" y="4617720"/>
            <a:ext cx="8595360" cy="0"/>
          </a:xfrm>
          <a:prstGeom prst="line">
            <a:avLst/>
          </a:prstGeom>
          <a:noFill/>
          <a:ln w="12700">
            <a:solidFill>
              <a:srgbClr val="8C2029"/>
            </a:solidFill>
            <a:prstDash val="dash"/>
          </a:ln>
        </p:spPr>
        <p:txBody>
          <a:bodyPr/>
          <a:lstStyle/>
          <a:p>
            <a:endParaRPr lang="ja-JP" altLang="en-US"/>
          </a:p>
        </p:txBody>
      </p:sp>
      <p:sp>
        <p:nvSpPr>
          <p:cNvPr id="34" name="Text 22"/>
          <p:cNvSpPr/>
          <p:nvPr/>
        </p:nvSpPr>
        <p:spPr>
          <a:xfrm>
            <a:off x="5943600" y="4663440"/>
            <a:ext cx="2743200" cy="274320"/>
          </a:xfrm>
          <a:prstGeom prst="rect">
            <a:avLst/>
          </a:prstGeom>
          <a:noFill/>
          <a:ln/>
        </p:spPr>
        <p:txBody>
          <a:bodyPr wrap="square" lIns="0" tIns="0" rIns="0" bIns="0"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C2029"/>
          </a:solidFill>
          <a:ln/>
        </p:spPr>
        <p:txBody>
          <a:bodyPr/>
          <a:lstStyle/>
          <a:p>
            <a:endParaRPr lang="ja-JP" altLang="en-US"/>
          </a:p>
        </p:txBody>
      </p:sp>
      <p:pic>
        <p:nvPicPr>
          <p:cNvPr id="3" name="Image 0" descr="/sessions/cool-intelligent-bohr/logo_icon.jpeg"/>
          <p:cNvPicPr>
            <a:picLocks noChangeAspect="1"/>
          </p:cNvPicPr>
          <p:nvPr/>
        </p:nvPicPr>
        <p:blipFill>
          <a:blip r:embed="rId2"/>
          <a:stretch>
            <a:fillRect/>
          </a:stretch>
        </p:blipFill>
        <p:spPr>
          <a:xfrm>
            <a:off x="7498080" y="109728"/>
            <a:ext cx="182880" cy="182880"/>
          </a:xfrm>
          <a:prstGeom prst="rect">
            <a:avLst/>
          </a:prstGeom>
        </p:spPr>
      </p:pic>
      <p:pic>
        <p:nvPicPr>
          <p:cNvPr id="4" name="Image 1" descr="/sessions/cool-intelligent-bohr/logo_text.jpeg"/>
          <p:cNvPicPr>
            <a:picLocks noChangeAspect="1"/>
          </p:cNvPicPr>
          <p:nvPr/>
        </p:nvPicPr>
        <p:blipFill>
          <a:blip r:embed="rId3"/>
          <a:stretch>
            <a:fillRect/>
          </a:stretch>
        </p:blipFill>
        <p:spPr>
          <a:xfrm>
            <a:off x="7726680" y="128016"/>
            <a:ext cx="1097280" cy="146304"/>
          </a:xfrm>
          <a:prstGeom prst="rect">
            <a:avLst/>
          </a:prstGeom>
        </p:spPr>
      </p:pic>
      <p:sp>
        <p:nvSpPr>
          <p:cNvPr id="5" name="Text 1"/>
          <p:cNvSpPr/>
          <p:nvPr/>
        </p:nvSpPr>
        <p:spPr>
          <a:xfrm>
            <a:off x="457200" y="137160"/>
            <a:ext cx="6858000" cy="411480"/>
          </a:xfrm>
          <a:prstGeom prst="rect">
            <a:avLst/>
          </a:prstGeom>
          <a:noFill/>
          <a:ln/>
        </p:spPr>
        <p:txBody>
          <a:bodyPr wrap="square" lIns="0" tIns="0" rIns="0" bIns="0" rtlCol="0" anchor="ctr"/>
          <a:lstStyle/>
          <a:p>
            <a:pPr marL="0" indent="0">
              <a:buNone/>
            </a:pPr>
            <a:r>
              <a:rPr lang="en-US" sz="1300" b="1" dirty="0">
                <a:solidFill>
                  <a:srgbClr val="8C2029"/>
                </a:solidFill>
                <a:latin typeface="Arial" pitchFamily="34" charset="0"/>
                <a:ea typeface="Arial" pitchFamily="34" charset="-122"/>
                <a:cs typeface="Arial" pitchFamily="34" charset="-120"/>
              </a:rPr>
              <a:t>Session 11</a:t>
            </a:r>
            <a:r>
              <a:rPr lang="en-US" sz="2000" b="1" dirty="0">
                <a:solidFill>
                  <a:srgbClr val="333333"/>
                </a:solidFill>
                <a:latin typeface="Yu Gothic" pitchFamily="34" charset="0"/>
                <a:ea typeface="Yu Gothic" pitchFamily="34" charset="-122"/>
                <a:cs typeface="Yu Gothic" pitchFamily="34" charset="-120"/>
              </a:rPr>
              <a:t>：事業戦略（2日間合宿）</a:t>
            </a:r>
            <a:endParaRPr lang="en-US" sz="1300" dirty="0"/>
          </a:p>
        </p:txBody>
      </p:sp>
      <p:sp>
        <p:nvSpPr>
          <p:cNvPr id="6" name="Shape 2"/>
          <p:cNvSpPr/>
          <p:nvPr/>
        </p:nvSpPr>
        <p:spPr>
          <a:xfrm>
            <a:off x="457200" y="566928"/>
            <a:ext cx="640080" cy="36576"/>
          </a:xfrm>
          <a:prstGeom prst="rect">
            <a:avLst/>
          </a:prstGeom>
          <a:solidFill>
            <a:srgbClr val="8C2029"/>
          </a:solidFill>
          <a:ln/>
        </p:spPr>
        <p:txBody>
          <a:bodyPr/>
          <a:lstStyle/>
          <a:p>
            <a:endParaRPr lang="ja-JP" altLang="en-US"/>
          </a:p>
        </p:txBody>
      </p:sp>
      <p:sp>
        <p:nvSpPr>
          <p:cNvPr id="7" name="Shape 3"/>
          <p:cNvSpPr/>
          <p:nvPr/>
        </p:nvSpPr>
        <p:spPr>
          <a:xfrm>
            <a:off x="457200" y="713232"/>
            <a:ext cx="8229600" cy="292608"/>
          </a:xfrm>
          <a:prstGeom prst="rect">
            <a:avLst/>
          </a:prstGeom>
          <a:solidFill>
            <a:srgbClr val="F2E0E0"/>
          </a:solidFill>
          <a:ln/>
        </p:spPr>
        <p:txBody>
          <a:bodyPr/>
          <a:lstStyle/>
          <a:p>
            <a:endParaRPr lang="ja-JP" altLang="en-US"/>
          </a:p>
        </p:txBody>
      </p:sp>
      <p:sp>
        <p:nvSpPr>
          <p:cNvPr id="8" name="Text 4"/>
          <p:cNvSpPr/>
          <p:nvPr/>
        </p:nvSpPr>
        <p:spPr>
          <a:xfrm>
            <a:off x="457200" y="713232"/>
            <a:ext cx="8229600" cy="292608"/>
          </a:xfrm>
          <a:prstGeom prst="rect">
            <a:avLst/>
          </a:prstGeom>
          <a:noFill/>
          <a:ln/>
        </p:spPr>
        <p:txBody>
          <a:bodyPr wrap="square" lIns="0" tIns="0" rIns="0" bIns="0" rtlCol="0" anchor="ctr"/>
          <a:lstStyle/>
          <a:p>
            <a:pPr marL="0" indent="0" algn="ctr">
              <a:buNone/>
            </a:pPr>
            <a:r>
              <a:rPr lang="en-US" sz="1200" dirty="0">
                <a:solidFill>
                  <a:srgbClr val="8C2029"/>
                </a:solidFill>
                <a:latin typeface="Yu Gothic" pitchFamily="34" charset="0"/>
                <a:ea typeface="Yu Gothic" pitchFamily="34" charset="-122"/>
                <a:cs typeface="Yu Gothic" pitchFamily="34" charset="-120"/>
              </a:rPr>
              <a:t>〜 経営者の目線で考える 〜</a:t>
            </a:r>
            <a:endParaRPr lang="en-US" sz="1200" dirty="0"/>
          </a:p>
        </p:txBody>
      </p:sp>
      <p:sp>
        <p:nvSpPr>
          <p:cNvPr id="9" name="Shape 5"/>
          <p:cNvSpPr/>
          <p:nvPr/>
        </p:nvSpPr>
        <p:spPr>
          <a:xfrm>
            <a:off x="457200" y="1143000"/>
            <a:ext cx="640080" cy="256032"/>
          </a:xfrm>
          <a:prstGeom prst="rect">
            <a:avLst/>
          </a:prstGeom>
          <a:solidFill>
            <a:srgbClr val="8C2029"/>
          </a:solidFill>
          <a:ln/>
        </p:spPr>
        <p:txBody>
          <a:bodyPr/>
          <a:lstStyle/>
          <a:p>
            <a:endParaRPr lang="ja-JP" altLang="en-US"/>
          </a:p>
        </p:txBody>
      </p:sp>
      <p:sp>
        <p:nvSpPr>
          <p:cNvPr id="10" name="Text 6"/>
          <p:cNvSpPr/>
          <p:nvPr/>
        </p:nvSpPr>
        <p:spPr>
          <a:xfrm>
            <a:off x="457200" y="1143000"/>
            <a:ext cx="6400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Yu Gothic" pitchFamily="34" charset="0"/>
                <a:ea typeface="Yu Gothic" pitchFamily="34" charset="-122"/>
                <a:cs typeface="Yu Gothic" pitchFamily="34" charset="-120"/>
              </a:rPr>
              <a:t>ねらい</a:t>
            </a:r>
            <a:endParaRPr lang="en-US" sz="1100" dirty="0"/>
          </a:p>
        </p:txBody>
      </p:sp>
      <p:sp>
        <p:nvSpPr>
          <p:cNvPr id="11" name="Text 7"/>
          <p:cNvSpPr/>
          <p:nvPr/>
        </p:nvSpPr>
        <p:spPr>
          <a:xfrm>
            <a:off x="1188720" y="1143000"/>
            <a:ext cx="4572000" cy="256032"/>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戦略思考の基本を学び、自社の事業戦略を描く力を養う。経営視点への転換を図る。</a:t>
            </a:r>
            <a:endParaRPr lang="en-US" sz="1100" dirty="0"/>
          </a:p>
        </p:txBody>
      </p:sp>
      <p:sp>
        <p:nvSpPr>
          <p:cNvPr id="12" name="Shape 8"/>
          <p:cNvSpPr/>
          <p:nvPr/>
        </p:nvSpPr>
        <p:spPr>
          <a:xfrm>
            <a:off x="6537960" y="1097280"/>
            <a:ext cx="685800" cy="685800"/>
          </a:xfrm>
          <a:prstGeom prst="ellipse">
            <a:avLst/>
          </a:prstGeom>
          <a:solidFill>
            <a:srgbClr val="8C2029"/>
          </a:solidFill>
          <a:ln/>
          <a:effectLst>
            <a:outerShdw blurRad="50800" dist="25400" dir="8100000" algn="bl" rotWithShape="0">
              <a:srgbClr val="000000">
                <a:alpha val="8000"/>
              </a:srgbClr>
            </a:outerShdw>
          </a:effectLst>
        </p:spPr>
        <p:txBody>
          <a:bodyPr/>
          <a:lstStyle/>
          <a:p>
            <a:endParaRPr lang="ja-JP" altLang="en-US"/>
          </a:p>
        </p:txBody>
      </p:sp>
      <p:pic>
        <p:nvPicPr>
          <p:cNvPr id="13" name="Image 2" descr="preencoded.png"/>
          <p:cNvPicPr>
            <a:picLocks noChangeAspect="1"/>
          </p:cNvPicPr>
          <p:nvPr/>
        </p:nvPicPr>
        <p:blipFill>
          <a:blip r:embed="rId4"/>
          <a:stretch>
            <a:fillRect/>
          </a:stretch>
        </p:blipFill>
        <p:spPr>
          <a:xfrm>
            <a:off x="6656832" y="1216152"/>
            <a:ext cx="457200" cy="457200"/>
          </a:xfrm>
          <a:prstGeom prst="rect">
            <a:avLst/>
          </a:prstGeom>
        </p:spPr>
      </p:pic>
      <p:sp>
        <p:nvSpPr>
          <p:cNvPr id="14" name="Text 9"/>
          <p:cNvSpPr/>
          <p:nvPr/>
        </p:nvSpPr>
        <p:spPr>
          <a:xfrm>
            <a:off x="457200" y="1554480"/>
            <a:ext cx="1645920" cy="228600"/>
          </a:xfrm>
          <a:prstGeom prst="rect">
            <a:avLst/>
          </a:prstGeom>
          <a:noFill/>
          <a:ln/>
        </p:spPr>
        <p:txBody>
          <a:bodyPr wrap="square" lIns="0" tIns="0" rIns="0" bIns="0" rtlCol="0" anchor="ctr"/>
          <a:lstStyle/>
          <a:p>
            <a:pPr marL="0" indent="0">
              <a:buNone/>
            </a:pPr>
            <a:r>
              <a:rPr lang="en-US" sz="1100" b="1" dirty="0">
                <a:solidFill>
                  <a:srgbClr val="8C2029"/>
                </a:solidFill>
                <a:latin typeface="Yu Gothic" pitchFamily="34" charset="0"/>
                <a:ea typeface="Yu Gothic" pitchFamily="34" charset="-122"/>
                <a:cs typeface="Yu Gothic" pitchFamily="34" charset="-120"/>
              </a:rPr>
              <a:t>主な研修内容（案）</a:t>
            </a:r>
            <a:endParaRPr lang="en-US" sz="1100" dirty="0"/>
          </a:p>
        </p:txBody>
      </p:sp>
      <p:sp>
        <p:nvSpPr>
          <p:cNvPr id="15" name="Shape 10"/>
          <p:cNvSpPr/>
          <p:nvPr/>
        </p:nvSpPr>
        <p:spPr>
          <a:xfrm>
            <a:off x="740664" y="1975104"/>
            <a:ext cx="0" cy="1920240"/>
          </a:xfrm>
          <a:prstGeom prst="line">
            <a:avLst/>
          </a:prstGeom>
          <a:noFill/>
          <a:ln w="25400">
            <a:solidFill>
              <a:srgbClr val="D4A0A5"/>
            </a:solidFill>
            <a:prstDash val="solid"/>
          </a:ln>
        </p:spPr>
        <p:txBody>
          <a:bodyPr/>
          <a:lstStyle/>
          <a:p>
            <a:endParaRPr lang="ja-JP" altLang="en-US"/>
          </a:p>
        </p:txBody>
      </p:sp>
      <p:pic>
        <p:nvPicPr>
          <p:cNvPr id="16" name="Image 3" descr="preencoded.png"/>
          <p:cNvPicPr>
            <a:picLocks noChangeAspect="1"/>
          </p:cNvPicPr>
          <p:nvPr/>
        </p:nvPicPr>
        <p:blipFill>
          <a:blip r:embed="rId5"/>
          <a:stretch>
            <a:fillRect/>
          </a:stretch>
        </p:blipFill>
        <p:spPr>
          <a:xfrm>
            <a:off x="640080" y="1874520"/>
            <a:ext cx="201168" cy="201168"/>
          </a:xfrm>
          <a:prstGeom prst="rect">
            <a:avLst/>
          </a:prstGeom>
        </p:spPr>
      </p:pic>
      <p:sp>
        <p:nvSpPr>
          <p:cNvPr id="17" name="Text 11"/>
          <p:cNvSpPr/>
          <p:nvPr/>
        </p:nvSpPr>
        <p:spPr>
          <a:xfrm>
            <a:off x="960120" y="187452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【DAY1】事例研究 / 戦略の3つの視点 / 3C・SWOT</a:t>
            </a:r>
            <a:endParaRPr lang="en-US" sz="1100" dirty="0"/>
          </a:p>
        </p:txBody>
      </p:sp>
      <p:pic>
        <p:nvPicPr>
          <p:cNvPr id="18" name="Image 4" descr="preencoded.png"/>
          <p:cNvPicPr>
            <a:picLocks noChangeAspect="1"/>
          </p:cNvPicPr>
          <p:nvPr/>
        </p:nvPicPr>
        <p:blipFill>
          <a:blip r:embed="rId6"/>
          <a:stretch>
            <a:fillRect/>
          </a:stretch>
        </p:blipFill>
        <p:spPr>
          <a:xfrm>
            <a:off x="640080" y="2258568"/>
            <a:ext cx="201168" cy="201168"/>
          </a:xfrm>
          <a:prstGeom prst="rect">
            <a:avLst/>
          </a:prstGeom>
        </p:spPr>
      </p:pic>
      <p:sp>
        <p:nvSpPr>
          <p:cNvPr id="19" name="Text 12"/>
          <p:cNvSpPr/>
          <p:nvPr/>
        </p:nvSpPr>
        <p:spPr>
          <a:xfrm>
            <a:off x="960120" y="2258568"/>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阻害要因と突破口（ゼロベース思考・仮説思考）</a:t>
            </a:r>
            <a:endParaRPr lang="en-US" sz="1100" dirty="0"/>
          </a:p>
        </p:txBody>
      </p:sp>
      <p:pic>
        <p:nvPicPr>
          <p:cNvPr id="20" name="Image 5" descr="preencoded.png"/>
          <p:cNvPicPr>
            <a:picLocks noChangeAspect="1"/>
          </p:cNvPicPr>
          <p:nvPr/>
        </p:nvPicPr>
        <p:blipFill>
          <a:blip r:embed="rId7"/>
          <a:stretch>
            <a:fillRect/>
          </a:stretch>
        </p:blipFill>
        <p:spPr>
          <a:xfrm>
            <a:off x="640080" y="2642616"/>
            <a:ext cx="201168" cy="201168"/>
          </a:xfrm>
          <a:prstGeom prst="rect">
            <a:avLst/>
          </a:prstGeom>
        </p:spPr>
      </p:pic>
      <p:sp>
        <p:nvSpPr>
          <p:cNvPr id="21" name="Text 13"/>
          <p:cNvSpPr/>
          <p:nvPr/>
        </p:nvSpPr>
        <p:spPr>
          <a:xfrm>
            <a:off x="960120" y="2642616"/>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事例研究（ケース企業SWOT→ドメイン→打ち手）</a:t>
            </a:r>
            <a:endParaRPr lang="en-US" sz="1100" dirty="0"/>
          </a:p>
        </p:txBody>
      </p:sp>
      <p:pic>
        <p:nvPicPr>
          <p:cNvPr id="22" name="Image 6" descr="preencoded.png"/>
          <p:cNvPicPr>
            <a:picLocks noChangeAspect="1"/>
          </p:cNvPicPr>
          <p:nvPr/>
        </p:nvPicPr>
        <p:blipFill>
          <a:blip r:embed="rId8"/>
          <a:stretch>
            <a:fillRect/>
          </a:stretch>
        </p:blipFill>
        <p:spPr>
          <a:xfrm>
            <a:off x="640080" y="3026664"/>
            <a:ext cx="201168" cy="201168"/>
          </a:xfrm>
          <a:prstGeom prst="rect">
            <a:avLst/>
          </a:prstGeom>
        </p:spPr>
      </p:pic>
      <p:sp>
        <p:nvSpPr>
          <p:cNvPr id="23" name="Text 14"/>
          <p:cNvSpPr/>
          <p:nvPr/>
        </p:nvSpPr>
        <p:spPr>
          <a:xfrm>
            <a:off x="960120" y="3026664"/>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これまでの振り返り（達成度・満足度の自己評価）</a:t>
            </a:r>
            <a:endParaRPr lang="en-US" sz="1100" dirty="0"/>
          </a:p>
        </p:txBody>
      </p:sp>
      <p:pic>
        <p:nvPicPr>
          <p:cNvPr id="24" name="Image 7" descr="preencoded.png"/>
          <p:cNvPicPr>
            <a:picLocks noChangeAspect="1"/>
          </p:cNvPicPr>
          <p:nvPr/>
        </p:nvPicPr>
        <p:blipFill>
          <a:blip r:embed="rId9"/>
          <a:stretch>
            <a:fillRect/>
          </a:stretch>
        </p:blipFill>
        <p:spPr>
          <a:xfrm>
            <a:off x="640080" y="3410712"/>
            <a:ext cx="201168" cy="201168"/>
          </a:xfrm>
          <a:prstGeom prst="rect">
            <a:avLst/>
          </a:prstGeom>
        </p:spPr>
      </p:pic>
      <p:sp>
        <p:nvSpPr>
          <p:cNvPr id="25" name="Text 15"/>
          <p:cNvSpPr/>
          <p:nvPr/>
        </p:nvSpPr>
        <p:spPr>
          <a:xfrm>
            <a:off x="960120" y="3410712"/>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【DAY2】社長講話＆質疑応答</a:t>
            </a:r>
            <a:endParaRPr lang="en-US" sz="1100" dirty="0"/>
          </a:p>
        </p:txBody>
      </p:sp>
      <p:pic>
        <p:nvPicPr>
          <p:cNvPr id="26" name="Image 8" descr="preencoded.png"/>
          <p:cNvPicPr>
            <a:picLocks noChangeAspect="1"/>
          </p:cNvPicPr>
          <p:nvPr/>
        </p:nvPicPr>
        <p:blipFill>
          <a:blip r:embed="rId10"/>
          <a:stretch>
            <a:fillRect/>
          </a:stretch>
        </p:blipFill>
        <p:spPr>
          <a:xfrm>
            <a:off x="640080" y="3794760"/>
            <a:ext cx="201168" cy="201168"/>
          </a:xfrm>
          <a:prstGeom prst="rect">
            <a:avLst/>
          </a:prstGeom>
        </p:spPr>
      </p:pic>
      <p:sp>
        <p:nvSpPr>
          <p:cNvPr id="27" name="Text 16"/>
          <p:cNvSpPr/>
          <p:nvPr/>
        </p:nvSpPr>
        <p:spPr>
          <a:xfrm>
            <a:off x="960120" y="379476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チーム最終報告ブラッシュアップ＆プレゼン練習</a:t>
            </a:r>
            <a:endParaRPr lang="en-US" sz="1100" dirty="0"/>
          </a:p>
        </p:txBody>
      </p:sp>
      <p:sp>
        <p:nvSpPr>
          <p:cNvPr id="28" name="Shape 17"/>
          <p:cNvSpPr/>
          <p:nvPr/>
        </p:nvSpPr>
        <p:spPr>
          <a:xfrm>
            <a:off x="5852160" y="1965960"/>
            <a:ext cx="2880360" cy="1371598"/>
          </a:xfrm>
          <a:prstGeom prst="rect">
            <a:avLst/>
          </a:prstGeom>
          <a:solidFill>
            <a:srgbClr val="F9ECEE"/>
          </a:solidFill>
          <a:ln w="6350">
            <a:solidFill>
              <a:srgbClr val="D4A0A5"/>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29" name="Shape 18"/>
          <p:cNvSpPr/>
          <p:nvPr/>
        </p:nvSpPr>
        <p:spPr>
          <a:xfrm>
            <a:off x="5852160" y="1965960"/>
            <a:ext cx="2880360" cy="320040"/>
          </a:xfrm>
          <a:prstGeom prst="rect">
            <a:avLst/>
          </a:prstGeom>
          <a:solidFill>
            <a:srgbClr val="6B1520"/>
          </a:solidFill>
          <a:ln/>
        </p:spPr>
        <p:txBody>
          <a:bodyPr/>
          <a:lstStyle/>
          <a:p>
            <a:endParaRPr lang="ja-JP" altLang="en-US"/>
          </a:p>
        </p:txBody>
      </p:sp>
      <p:pic>
        <p:nvPicPr>
          <p:cNvPr id="30" name="Image 9" descr="preencoded.png"/>
          <p:cNvPicPr>
            <a:picLocks noChangeAspect="1"/>
          </p:cNvPicPr>
          <p:nvPr/>
        </p:nvPicPr>
        <p:blipFill>
          <a:blip r:embed="rId11"/>
          <a:stretch>
            <a:fillRect/>
          </a:stretch>
        </p:blipFill>
        <p:spPr>
          <a:xfrm>
            <a:off x="5989320" y="2011680"/>
            <a:ext cx="228600" cy="228600"/>
          </a:xfrm>
          <a:prstGeom prst="rect">
            <a:avLst/>
          </a:prstGeom>
        </p:spPr>
      </p:pic>
      <p:sp>
        <p:nvSpPr>
          <p:cNvPr id="31" name="Text 19"/>
          <p:cNvSpPr/>
          <p:nvPr/>
        </p:nvSpPr>
        <p:spPr>
          <a:xfrm>
            <a:off x="6263640" y="1965960"/>
            <a:ext cx="1828800" cy="320040"/>
          </a:xfrm>
          <a:prstGeom prst="rect">
            <a:avLst/>
          </a:prstGeom>
          <a:noFill/>
          <a:ln/>
        </p:spPr>
        <p:txBody>
          <a:bodyPr wrap="square" lIns="0" tIns="0" rIns="0" bIns="0" rtlCol="0" anchor="ctr"/>
          <a:lstStyle/>
          <a:p>
            <a:pPr marL="0" indent="0">
              <a:buNone/>
            </a:pPr>
            <a:r>
              <a:rPr lang="en-US" sz="1300" b="1" dirty="0">
                <a:solidFill>
                  <a:srgbClr val="FFFFFF"/>
                </a:solidFill>
                <a:latin typeface="Yu Gothic" pitchFamily="34" charset="0"/>
                <a:ea typeface="Yu Gothic" pitchFamily="34" charset="-122"/>
                <a:cs typeface="Yu Gothic" pitchFamily="34" charset="-120"/>
              </a:rPr>
              <a:t>上司連動</a:t>
            </a:r>
            <a:endParaRPr lang="en-US" sz="1300" dirty="0"/>
          </a:p>
        </p:txBody>
      </p:sp>
      <p:sp>
        <p:nvSpPr>
          <p:cNvPr id="32" name="Text 20"/>
          <p:cNvSpPr/>
          <p:nvPr/>
        </p:nvSpPr>
        <p:spPr>
          <a:xfrm>
            <a:off x="6035040" y="2423160"/>
            <a:ext cx="2514600" cy="1828800"/>
          </a:xfrm>
          <a:prstGeom prst="rect">
            <a:avLst/>
          </a:prstGeom>
          <a:noFill/>
          <a:ln/>
        </p:spPr>
        <p:txBody>
          <a:bodyPr wrap="square" lIns="0" tIns="0" rIns="0" bIns="0" rtlCol="0" anchor="t"/>
          <a:lstStyle/>
          <a:p>
            <a:pPr marL="0" indent="0">
              <a:spcAft>
                <a:spcPts val="600"/>
              </a:spcAft>
              <a:buNone/>
            </a:pPr>
            <a:r>
              <a:rPr lang="en-US" sz="1200" dirty="0">
                <a:solidFill>
                  <a:srgbClr val="5A1018"/>
                </a:solidFill>
                <a:latin typeface="Yu Gothic" pitchFamily="34" charset="0"/>
                <a:ea typeface="Yu Gothic" pitchFamily="34" charset="-122"/>
                <a:cs typeface="Yu Gothic" pitchFamily="34" charset="-120"/>
              </a:rPr>
              <a:t>DAY2の社長講話が本プログラムの要。自社の将来ビジョンを率直に語っていただく。上司の合宿参加を強く推奨。</a:t>
            </a:r>
            <a:endParaRPr lang="en-US" sz="1200" dirty="0"/>
          </a:p>
        </p:txBody>
      </p:sp>
      <p:sp>
        <p:nvSpPr>
          <p:cNvPr id="33" name="Shape 21"/>
          <p:cNvSpPr/>
          <p:nvPr/>
        </p:nvSpPr>
        <p:spPr>
          <a:xfrm>
            <a:off x="274320" y="4617720"/>
            <a:ext cx="8595360" cy="0"/>
          </a:xfrm>
          <a:prstGeom prst="line">
            <a:avLst/>
          </a:prstGeom>
          <a:noFill/>
          <a:ln w="12700">
            <a:solidFill>
              <a:srgbClr val="8C2029"/>
            </a:solidFill>
            <a:prstDash val="dash"/>
          </a:ln>
        </p:spPr>
        <p:txBody>
          <a:bodyPr/>
          <a:lstStyle/>
          <a:p>
            <a:endParaRPr lang="ja-JP" altLang="en-US"/>
          </a:p>
        </p:txBody>
      </p:sp>
      <p:sp>
        <p:nvSpPr>
          <p:cNvPr id="34" name="Text 22"/>
          <p:cNvSpPr/>
          <p:nvPr/>
        </p:nvSpPr>
        <p:spPr>
          <a:xfrm>
            <a:off x="5943600" y="4663440"/>
            <a:ext cx="2743200" cy="274320"/>
          </a:xfrm>
          <a:prstGeom prst="rect">
            <a:avLst/>
          </a:prstGeom>
          <a:noFill/>
          <a:ln/>
        </p:spPr>
        <p:txBody>
          <a:bodyPr wrap="square" lIns="0" tIns="0" rIns="0" bIns="0"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8C2029"/>
          </a:solidFill>
          <a:ln/>
        </p:spPr>
        <p:txBody>
          <a:bodyPr/>
          <a:lstStyle/>
          <a:p>
            <a:endParaRPr lang="ja-JP" altLang="en-US"/>
          </a:p>
        </p:txBody>
      </p:sp>
      <p:pic>
        <p:nvPicPr>
          <p:cNvPr id="3" name="Image 0" descr="/sessions/cool-intelligent-bohr/logo_icon.jpeg"/>
          <p:cNvPicPr>
            <a:picLocks noChangeAspect="1"/>
          </p:cNvPicPr>
          <p:nvPr/>
        </p:nvPicPr>
        <p:blipFill>
          <a:blip r:embed="rId2"/>
          <a:stretch>
            <a:fillRect/>
          </a:stretch>
        </p:blipFill>
        <p:spPr>
          <a:xfrm>
            <a:off x="7498080" y="109728"/>
            <a:ext cx="182880" cy="182880"/>
          </a:xfrm>
          <a:prstGeom prst="rect">
            <a:avLst/>
          </a:prstGeom>
        </p:spPr>
      </p:pic>
      <p:pic>
        <p:nvPicPr>
          <p:cNvPr id="4" name="Image 1" descr="/sessions/cool-intelligent-bohr/logo_text.jpeg"/>
          <p:cNvPicPr>
            <a:picLocks noChangeAspect="1"/>
          </p:cNvPicPr>
          <p:nvPr/>
        </p:nvPicPr>
        <p:blipFill>
          <a:blip r:embed="rId3"/>
          <a:stretch>
            <a:fillRect/>
          </a:stretch>
        </p:blipFill>
        <p:spPr>
          <a:xfrm>
            <a:off x="7726680" y="128016"/>
            <a:ext cx="1097280" cy="146304"/>
          </a:xfrm>
          <a:prstGeom prst="rect">
            <a:avLst/>
          </a:prstGeom>
        </p:spPr>
      </p:pic>
      <p:sp>
        <p:nvSpPr>
          <p:cNvPr id="5" name="Text 1"/>
          <p:cNvSpPr/>
          <p:nvPr/>
        </p:nvSpPr>
        <p:spPr>
          <a:xfrm>
            <a:off x="457200" y="137160"/>
            <a:ext cx="6858000" cy="411480"/>
          </a:xfrm>
          <a:prstGeom prst="rect">
            <a:avLst/>
          </a:prstGeom>
          <a:noFill/>
          <a:ln/>
        </p:spPr>
        <p:txBody>
          <a:bodyPr wrap="square" lIns="0" tIns="0" rIns="0" bIns="0" rtlCol="0" anchor="ctr"/>
          <a:lstStyle/>
          <a:p>
            <a:pPr marL="0" indent="0">
              <a:buNone/>
            </a:pPr>
            <a:r>
              <a:rPr lang="en-US" sz="1300" b="1" dirty="0">
                <a:solidFill>
                  <a:srgbClr val="8C2029"/>
                </a:solidFill>
                <a:latin typeface="Arial" pitchFamily="34" charset="0"/>
                <a:ea typeface="Arial" pitchFamily="34" charset="-122"/>
                <a:cs typeface="Arial" pitchFamily="34" charset="-120"/>
              </a:rPr>
              <a:t>Session 12</a:t>
            </a:r>
            <a:r>
              <a:rPr lang="en-US" sz="2000" b="1" dirty="0">
                <a:solidFill>
                  <a:srgbClr val="333333"/>
                </a:solidFill>
                <a:latin typeface="Yu Gothic" pitchFamily="34" charset="0"/>
                <a:ea typeface="Yu Gothic" pitchFamily="34" charset="-122"/>
                <a:cs typeface="Yu Gothic" pitchFamily="34" charset="-120"/>
              </a:rPr>
              <a:t>：最終報告会</a:t>
            </a:r>
            <a:endParaRPr lang="en-US" sz="1300" dirty="0"/>
          </a:p>
        </p:txBody>
      </p:sp>
      <p:sp>
        <p:nvSpPr>
          <p:cNvPr id="6" name="Shape 2"/>
          <p:cNvSpPr/>
          <p:nvPr/>
        </p:nvSpPr>
        <p:spPr>
          <a:xfrm>
            <a:off x="457200" y="566928"/>
            <a:ext cx="640080" cy="36576"/>
          </a:xfrm>
          <a:prstGeom prst="rect">
            <a:avLst/>
          </a:prstGeom>
          <a:solidFill>
            <a:srgbClr val="8C2029"/>
          </a:solidFill>
          <a:ln/>
        </p:spPr>
        <p:txBody>
          <a:bodyPr/>
          <a:lstStyle/>
          <a:p>
            <a:endParaRPr lang="ja-JP" altLang="en-US"/>
          </a:p>
        </p:txBody>
      </p:sp>
      <p:sp>
        <p:nvSpPr>
          <p:cNvPr id="7" name="Shape 3"/>
          <p:cNvSpPr/>
          <p:nvPr/>
        </p:nvSpPr>
        <p:spPr>
          <a:xfrm>
            <a:off x="457200" y="713232"/>
            <a:ext cx="8229600" cy="292608"/>
          </a:xfrm>
          <a:prstGeom prst="rect">
            <a:avLst/>
          </a:prstGeom>
          <a:solidFill>
            <a:srgbClr val="F2E0E0"/>
          </a:solidFill>
          <a:ln/>
        </p:spPr>
        <p:txBody>
          <a:bodyPr/>
          <a:lstStyle/>
          <a:p>
            <a:endParaRPr lang="ja-JP" altLang="en-US"/>
          </a:p>
        </p:txBody>
      </p:sp>
      <p:sp>
        <p:nvSpPr>
          <p:cNvPr id="8" name="Text 4"/>
          <p:cNvSpPr/>
          <p:nvPr/>
        </p:nvSpPr>
        <p:spPr>
          <a:xfrm>
            <a:off x="457200" y="713232"/>
            <a:ext cx="8229600" cy="292608"/>
          </a:xfrm>
          <a:prstGeom prst="rect">
            <a:avLst/>
          </a:prstGeom>
          <a:noFill/>
          <a:ln/>
        </p:spPr>
        <p:txBody>
          <a:bodyPr wrap="square" lIns="0" tIns="0" rIns="0" bIns="0" rtlCol="0" anchor="ctr"/>
          <a:lstStyle/>
          <a:p>
            <a:pPr marL="0" indent="0" algn="ctr">
              <a:buNone/>
            </a:pPr>
            <a:r>
              <a:rPr lang="en-US" sz="1200" dirty="0">
                <a:solidFill>
                  <a:srgbClr val="8C2029"/>
                </a:solidFill>
                <a:latin typeface="Yu Gothic" pitchFamily="34" charset="0"/>
                <a:ea typeface="Yu Gothic" pitchFamily="34" charset="-122"/>
                <a:cs typeface="Yu Gothic" pitchFamily="34" charset="-120"/>
              </a:rPr>
              <a:t>〜 管理職としての決意を示す 〜</a:t>
            </a:r>
            <a:endParaRPr lang="en-US" sz="1200" dirty="0"/>
          </a:p>
        </p:txBody>
      </p:sp>
      <p:sp>
        <p:nvSpPr>
          <p:cNvPr id="9" name="Shape 5"/>
          <p:cNvSpPr/>
          <p:nvPr/>
        </p:nvSpPr>
        <p:spPr>
          <a:xfrm>
            <a:off x="457200" y="1143000"/>
            <a:ext cx="640080" cy="256032"/>
          </a:xfrm>
          <a:prstGeom prst="rect">
            <a:avLst/>
          </a:prstGeom>
          <a:solidFill>
            <a:srgbClr val="8C2029"/>
          </a:solidFill>
          <a:ln/>
        </p:spPr>
        <p:txBody>
          <a:bodyPr/>
          <a:lstStyle/>
          <a:p>
            <a:endParaRPr lang="ja-JP" altLang="en-US"/>
          </a:p>
        </p:txBody>
      </p:sp>
      <p:sp>
        <p:nvSpPr>
          <p:cNvPr id="10" name="Text 6"/>
          <p:cNvSpPr/>
          <p:nvPr/>
        </p:nvSpPr>
        <p:spPr>
          <a:xfrm>
            <a:off x="457200" y="1143000"/>
            <a:ext cx="640080"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Yu Gothic" pitchFamily="34" charset="0"/>
                <a:ea typeface="Yu Gothic" pitchFamily="34" charset="-122"/>
                <a:cs typeface="Yu Gothic" pitchFamily="34" charset="-120"/>
              </a:rPr>
              <a:t>ねらい</a:t>
            </a:r>
            <a:endParaRPr lang="en-US" sz="1100" dirty="0"/>
          </a:p>
        </p:txBody>
      </p:sp>
      <p:sp>
        <p:nvSpPr>
          <p:cNvPr id="11" name="Text 7"/>
          <p:cNvSpPr/>
          <p:nvPr/>
        </p:nvSpPr>
        <p:spPr>
          <a:xfrm>
            <a:off x="1188720" y="1143000"/>
            <a:ext cx="4572000" cy="256032"/>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全12回の集大成。個人の成果と今後の実行計画を発表し、管理職としての決意を表明する。</a:t>
            </a:r>
            <a:endParaRPr lang="en-US" sz="1100" dirty="0"/>
          </a:p>
        </p:txBody>
      </p:sp>
      <p:sp>
        <p:nvSpPr>
          <p:cNvPr id="12" name="Shape 8"/>
          <p:cNvSpPr/>
          <p:nvPr/>
        </p:nvSpPr>
        <p:spPr>
          <a:xfrm>
            <a:off x="6537960" y="1097280"/>
            <a:ext cx="685800" cy="685800"/>
          </a:xfrm>
          <a:prstGeom prst="ellipse">
            <a:avLst/>
          </a:prstGeom>
          <a:solidFill>
            <a:srgbClr val="8C2029"/>
          </a:solidFill>
          <a:ln/>
          <a:effectLst>
            <a:outerShdw blurRad="50800" dist="25400" dir="8100000" algn="bl" rotWithShape="0">
              <a:srgbClr val="000000">
                <a:alpha val="8000"/>
              </a:srgbClr>
            </a:outerShdw>
          </a:effectLst>
        </p:spPr>
        <p:txBody>
          <a:bodyPr/>
          <a:lstStyle/>
          <a:p>
            <a:endParaRPr lang="ja-JP" altLang="en-US"/>
          </a:p>
        </p:txBody>
      </p:sp>
      <p:pic>
        <p:nvPicPr>
          <p:cNvPr id="13" name="Image 2" descr="preencoded.png"/>
          <p:cNvPicPr>
            <a:picLocks noChangeAspect="1"/>
          </p:cNvPicPr>
          <p:nvPr/>
        </p:nvPicPr>
        <p:blipFill>
          <a:blip r:embed="rId4"/>
          <a:stretch>
            <a:fillRect/>
          </a:stretch>
        </p:blipFill>
        <p:spPr>
          <a:xfrm>
            <a:off x="6656832" y="1216152"/>
            <a:ext cx="457200" cy="457200"/>
          </a:xfrm>
          <a:prstGeom prst="rect">
            <a:avLst/>
          </a:prstGeom>
        </p:spPr>
      </p:pic>
      <p:sp>
        <p:nvSpPr>
          <p:cNvPr id="14" name="Text 9"/>
          <p:cNvSpPr/>
          <p:nvPr/>
        </p:nvSpPr>
        <p:spPr>
          <a:xfrm>
            <a:off x="457200" y="1554480"/>
            <a:ext cx="1645920" cy="228600"/>
          </a:xfrm>
          <a:prstGeom prst="rect">
            <a:avLst/>
          </a:prstGeom>
          <a:noFill/>
          <a:ln/>
        </p:spPr>
        <p:txBody>
          <a:bodyPr wrap="square" lIns="0" tIns="0" rIns="0" bIns="0" rtlCol="0" anchor="ctr"/>
          <a:lstStyle/>
          <a:p>
            <a:pPr marL="0" indent="0">
              <a:buNone/>
            </a:pPr>
            <a:r>
              <a:rPr lang="en-US" sz="1100" b="1" dirty="0">
                <a:solidFill>
                  <a:srgbClr val="8C2029"/>
                </a:solidFill>
                <a:latin typeface="Yu Gothic" pitchFamily="34" charset="0"/>
                <a:ea typeface="Yu Gothic" pitchFamily="34" charset="-122"/>
                <a:cs typeface="Yu Gothic" pitchFamily="34" charset="-120"/>
              </a:rPr>
              <a:t>主な研修内容（案）</a:t>
            </a:r>
            <a:endParaRPr lang="en-US" sz="1100" dirty="0"/>
          </a:p>
        </p:txBody>
      </p:sp>
      <p:sp>
        <p:nvSpPr>
          <p:cNvPr id="15" name="Shape 10"/>
          <p:cNvSpPr/>
          <p:nvPr/>
        </p:nvSpPr>
        <p:spPr>
          <a:xfrm>
            <a:off x="740664" y="1975104"/>
            <a:ext cx="0" cy="1920240"/>
          </a:xfrm>
          <a:prstGeom prst="line">
            <a:avLst/>
          </a:prstGeom>
          <a:noFill/>
          <a:ln w="25400">
            <a:solidFill>
              <a:srgbClr val="D4A0A5"/>
            </a:solidFill>
            <a:prstDash val="solid"/>
          </a:ln>
        </p:spPr>
        <p:txBody>
          <a:bodyPr/>
          <a:lstStyle/>
          <a:p>
            <a:endParaRPr lang="ja-JP" altLang="en-US"/>
          </a:p>
        </p:txBody>
      </p:sp>
      <p:pic>
        <p:nvPicPr>
          <p:cNvPr id="16" name="Image 3" descr="preencoded.png"/>
          <p:cNvPicPr>
            <a:picLocks noChangeAspect="1"/>
          </p:cNvPicPr>
          <p:nvPr/>
        </p:nvPicPr>
        <p:blipFill>
          <a:blip r:embed="rId5"/>
          <a:stretch>
            <a:fillRect/>
          </a:stretch>
        </p:blipFill>
        <p:spPr>
          <a:xfrm>
            <a:off x="640080" y="1874520"/>
            <a:ext cx="201168" cy="201168"/>
          </a:xfrm>
          <a:prstGeom prst="rect">
            <a:avLst/>
          </a:prstGeom>
        </p:spPr>
      </p:pic>
      <p:sp>
        <p:nvSpPr>
          <p:cNvPr id="17" name="Text 11"/>
          <p:cNvSpPr/>
          <p:nvPr/>
        </p:nvSpPr>
        <p:spPr>
          <a:xfrm>
            <a:off x="960120" y="187452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社長挨拶・講師挨拶</a:t>
            </a:r>
            <a:endParaRPr lang="en-US" sz="1100" dirty="0"/>
          </a:p>
        </p:txBody>
      </p:sp>
      <p:pic>
        <p:nvPicPr>
          <p:cNvPr id="18" name="Image 4" descr="preencoded.png"/>
          <p:cNvPicPr>
            <a:picLocks noChangeAspect="1"/>
          </p:cNvPicPr>
          <p:nvPr/>
        </p:nvPicPr>
        <p:blipFill>
          <a:blip r:embed="rId6"/>
          <a:stretch>
            <a:fillRect/>
          </a:stretch>
        </p:blipFill>
        <p:spPr>
          <a:xfrm>
            <a:off x="640080" y="2258568"/>
            <a:ext cx="201168" cy="201168"/>
          </a:xfrm>
          <a:prstGeom prst="rect">
            <a:avLst/>
          </a:prstGeom>
        </p:spPr>
      </p:pic>
      <p:sp>
        <p:nvSpPr>
          <p:cNvPr id="19" name="Text 12"/>
          <p:cNvSpPr/>
          <p:nvPr/>
        </p:nvSpPr>
        <p:spPr>
          <a:xfrm>
            <a:off x="960120" y="2258568"/>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チーム報告（各チーム活動成果発表）</a:t>
            </a:r>
            <a:endParaRPr lang="en-US" sz="1100" dirty="0"/>
          </a:p>
        </p:txBody>
      </p:sp>
      <p:pic>
        <p:nvPicPr>
          <p:cNvPr id="20" name="Image 5" descr="preencoded.png"/>
          <p:cNvPicPr>
            <a:picLocks noChangeAspect="1"/>
          </p:cNvPicPr>
          <p:nvPr/>
        </p:nvPicPr>
        <p:blipFill>
          <a:blip r:embed="rId7"/>
          <a:stretch>
            <a:fillRect/>
          </a:stretch>
        </p:blipFill>
        <p:spPr>
          <a:xfrm>
            <a:off x="640080" y="2642616"/>
            <a:ext cx="201168" cy="201168"/>
          </a:xfrm>
          <a:prstGeom prst="rect">
            <a:avLst/>
          </a:prstGeom>
        </p:spPr>
      </p:pic>
      <p:sp>
        <p:nvSpPr>
          <p:cNvPr id="21" name="Text 13"/>
          <p:cNvSpPr/>
          <p:nvPr/>
        </p:nvSpPr>
        <p:spPr>
          <a:xfrm>
            <a:off x="960120" y="2642616"/>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個人報告（一人15分＋質疑5分）×10名</a:t>
            </a:r>
            <a:endParaRPr lang="en-US" sz="1100" dirty="0"/>
          </a:p>
        </p:txBody>
      </p:sp>
      <p:pic>
        <p:nvPicPr>
          <p:cNvPr id="22" name="Image 6" descr="preencoded.png"/>
          <p:cNvPicPr>
            <a:picLocks noChangeAspect="1"/>
          </p:cNvPicPr>
          <p:nvPr/>
        </p:nvPicPr>
        <p:blipFill>
          <a:blip r:embed="rId8"/>
          <a:stretch>
            <a:fillRect/>
          </a:stretch>
        </p:blipFill>
        <p:spPr>
          <a:xfrm>
            <a:off x="640080" y="3026664"/>
            <a:ext cx="201168" cy="201168"/>
          </a:xfrm>
          <a:prstGeom prst="rect">
            <a:avLst/>
          </a:prstGeom>
        </p:spPr>
      </p:pic>
      <p:sp>
        <p:nvSpPr>
          <p:cNvPr id="23" name="Text 14"/>
          <p:cNvSpPr/>
          <p:nvPr/>
        </p:nvSpPr>
        <p:spPr>
          <a:xfrm>
            <a:off x="960120" y="3026664"/>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上司コメント（各報告後）</a:t>
            </a:r>
            <a:endParaRPr lang="en-US" sz="1100" dirty="0"/>
          </a:p>
        </p:txBody>
      </p:sp>
      <p:pic>
        <p:nvPicPr>
          <p:cNvPr id="24" name="Image 7" descr="preencoded.png"/>
          <p:cNvPicPr>
            <a:picLocks noChangeAspect="1"/>
          </p:cNvPicPr>
          <p:nvPr/>
        </p:nvPicPr>
        <p:blipFill>
          <a:blip r:embed="rId9"/>
          <a:stretch>
            <a:fillRect/>
          </a:stretch>
        </p:blipFill>
        <p:spPr>
          <a:xfrm>
            <a:off x="640080" y="3410712"/>
            <a:ext cx="201168" cy="201168"/>
          </a:xfrm>
          <a:prstGeom prst="rect">
            <a:avLst/>
          </a:prstGeom>
        </p:spPr>
      </p:pic>
      <p:sp>
        <p:nvSpPr>
          <p:cNvPr id="25" name="Text 15"/>
          <p:cNvSpPr/>
          <p:nvPr/>
        </p:nvSpPr>
        <p:spPr>
          <a:xfrm>
            <a:off x="960120" y="3410712"/>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講師総評・社長総評</a:t>
            </a:r>
            <a:endParaRPr lang="en-US" sz="1100" dirty="0"/>
          </a:p>
        </p:txBody>
      </p:sp>
      <p:pic>
        <p:nvPicPr>
          <p:cNvPr id="26" name="Image 8" descr="preencoded.png"/>
          <p:cNvPicPr>
            <a:picLocks noChangeAspect="1"/>
          </p:cNvPicPr>
          <p:nvPr/>
        </p:nvPicPr>
        <p:blipFill>
          <a:blip r:embed="rId10"/>
          <a:stretch>
            <a:fillRect/>
          </a:stretch>
        </p:blipFill>
        <p:spPr>
          <a:xfrm>
            <a:off x="640080" y="3794760"/>
            <a:ext cx="201168" cy="201168"/>
          </a:xfrm>
          <a:prstGeom prst="rect">
            <a:avLst/>
          </a:prstGeom>
        </p:spPr>
      </p:pic>
      <p:sp>
        <p:nvSpPr>
          <p:cNvPr id="27" name="Text 16"/>
          <p:cNvSpPr/>
          <p:nvPr/>
        </p:nvSpPr>
        <p:spPr>
          <a:xfrm>
            <a:off x="960120" y="3794760"/>
            <a:ext cx="4754880" cy="201168"/>
          </a:xfrm>
          <a:prstGeom prst="rect">
            <a:avLst/>
          </a:prstGeom>
          <a:noFill/>
          <a:ln/>
        </p:spPr>
        <p:txBody>
          <a:bodyPr wrap="square" lIns="0" tIns="0" rIns="0" bIns="0" rtlCol="0" anchor="ctr"/>
          <a:lstStyle/>
          <a:p>
            <a:pPr marL="0" indent="0">
              <a:buNone/>
            </a:pPr>
            <a:r>
              <a:rPr lang="en-US" sz="1100" dirty="0">
                <a:solidFill>
                  <a:srgbClr val="333333"/>
                </a:solidFill>
                <a:latin typeface="Yu Gothic" pitchFamily="34" charset="0"/>
                <a:ea typeface="Yu Gothic" pitchFamily="34" charset="-122"/>
                <a:cs typeface="Yu Gothic" pitchFamily="34" charset="-120"/>
              </a:rPr>
              <a:t>修了証授与・記念写真</a:t>
            </a:r>
            <a:endParaRPr lang="en-US" sz="1100" dirty="0"/>
          </a:p>
        </p:txBody>
      </p:sp>
      <p:sp>
        <p:nvSpPr>
          <p:cNvPr id="28" name="Shape 17"/>
          <p:cNvSpPr/>
          <p:nvPr/>
        </p:nvSpPr>
        <p:spPr>
          <a:xfrm>
            <a:off x="5852160" y="1965960"/>
            <a:ext cx="2880360" cy="1161287"/>
          </a:xfrm>
          <a:prstGeom prst="rect">
            <a:avLst/>
          </a:prstGeom>
          <a:solidFill>
            <a:srgbClr val="F9ECEE"/>
          </a:solidFill>
          <a:ln w="6350">
            <a:solidFill>
              <a:srgbClr val="D4A0A5"/>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29" name="Shape 18"/>
          <p:cNvSpPr/>
          <p:nvPr/>
        </p:nvSpPr>
        <p:spPr>
          <a:xfrm>
            <a:off x="5852160" y="1965960"/>
            <a:ext cx="2880360" cy="320040"/>
          </a:xfrm>
          <a:prstGeom prst="rect">
            <a:avLst/>
          </a:prstGeom>
          <a:solidFill>
            <a:srgbClr val="6B1520"/>
          </a:solidFill>
          <a:ln/>
        </p:spPr>
        <p:txBody>
          <a:bodyPr/>
          <a:lstStyle/>
          <a:p>
            <a:endParaRPr lang="ja-JP" altLang="en-US"/>
          </a:p>
        </p:txBody>
      </p:sp>
      <p:pic>
        <p:nvPicPr>
          <p:cNvPr id="30" name="Image 9" descr="preencoded.png"/>
          <p:cNvPicPr>
            <a:picLocks noChangeAspect="1"/>
          </p:cNvPicPr>
          <p:nvPr/>
        </p:nvPicPr>
        <p:blipFill>
          <a:blip r:embed="rId11"/>
          <a:stretch>
            <a:fillRect/>
          </a:stretch>
        </p:blipFill>
        <p:spPr>
          <a:xfrm>
            <a:off x="5989320" y="2011680"/>
            <a:ext cx="228600" cy="228600"/>
          </a:xfrm>
          <a:prstGeom prst="rect">
            <a:avLst/>
          </a:prstGeom>
        </p:spPr>
      </p:pic>
      <p:sp>
        <p:nvSpPr>
          <p:cNvPr id="31" name="Text 19"/>
          <p:cNvSpPr/>
          <p:nvPr/>
        </p:nvSpPr>
        <p:spPr>
          <a:xfrm>
            <a:off x="6263640" y="1965960"/>
            <a:ext cx="1828800" cy="320040"/>
          </a:xfrm>
          <a:prstGeom prst="rect">
            <a:avLst/>
          </a:prstGeom>
          <a:noFill/>
          <a:ln/>
        </p:spPr>
        <p:txBody>
          <a:bodyPr wrap="square" lIns="0" tIns="0" rIns="0" bIns="0" rtlCol="0" anchor="ctr"/>
          <a:lstStyle/>
          <a:p>
            <a:pPr marL="0" indent="0">
              <a:buNone/>
            </a:pPr>
            <a:r>
              <a:rPr lang="en-US" sz="1300" b="1" dirty="0">
                <a:solidFill>
                  <a:srgbClr val="FFFFFF"/>
                </a:solidFill>
                <a:latin typeface="Yu Gothic" pitchFamily="34" charset="0"/>
                <a:ea typeface="Yu Gothic" pitchFamily="34" charset="-122"/>
                <a:cs typeface="Yu Gothic" pitchFamily="34" charset="-120"/>
              </a:rPr>
              <a:t>上司連動</a:t>
            </a:r>
            <a:endParaRPr lang="en-US" sz="1300" dirty="0"/>
          </a:p>
        </p:txBody>
      </p:sp>
      <p:sp>
        <p:nvSpPr>
          <p:cNvPr id="32" name="Text 20"/>
          <p:cNvSpPr/>
          <p:nvPr/>
        </p:nvSpPr>
        <p:spPr>
          <a:xfrm>
            <a:off x="6035040" y="2423160"/>
            <a:ext cx="2514600" cy="1828800"/>
          </a:xfrm>
          <a:prstGeom prst="rect">
            <a:avLst/>
          </a:prstGeom>
          <a:noFill/>
          <a:ln/>
        </p:spPr>
        <p:txBody>
          <a:bodyPr wrap="square" lIns="0" tIns="0" rIns="0" bIns="0" rtlCol="0" anchor="t"/>
          <a:lstStyle/>
          <a:p>
            <a:pPr marL="0" indent="0">
              <a:spcAft>
                <a:spcPts val="600"/>
              </a:spcAft>
              <a:buNone/>
            </a:pPr>
            <a:r>
              <a:rPr lang="en-US" sz="1200" dirty="0">
                <a:solidFill>
                  <a:srgbClr val="5A1018"/>
                </a:solidFill>
                <a:latin typeface="Yu Gothic" pitchFamily="34" charset="0"/>
                <a:ea typeface="Yu Gothic" pitchFamily="34" charset="-122"/>
                <a:cs typeface="Yu Gothic" pitchFamily="34" charset="-120"/>
              </a:rPr>
              <a:t>上司・経営層のご出席を強く推奨。報告後「今後の期待」を明確に。修了後の実行計画への合意の場。</a:t>
            </a:r>
            <a:endParaRPr lang="en-US" sz="1200" dirty="0"/>
          </a:p>
        </p:txBody>
      </p:sp>
      <p:sp>
        <p:nvSpPr>
          <p:cNvPr id="33" name="Shape 21"/>
          <p:cNvSpPr/>
          <p:nvPr/>
        </p:nvSpPr>
        <p:spPr>
          <a:xfrm>
            <a:off x="274320" y="4617720"/>
            <a:ext cx="8595360" cy="0"/>
          </a:xfrm>
          <a:prstGeom prst="line">
            <a:avLst/>
          </a:prstGeom>
          <a:noFill/>
          <a:ln w="12700">
            <a:solidFill>
              <a:srgbClr val="8C2029"/>
            </a:solidFill>
            <a:prstDash val="dash"/>
          </a:ln>
        </p:spPr>
        <p:txBody>
          <a:bodyPr/>
          <a:lstStyle/>
          <a:p>
            <a:endParaRPr lang="ja-JP" altLang="en-US"/>
          </a:p>
        </p:txBody>
      </p:sp>
      <p:sp>
        <p:nvSpPr>
          <p:cNvPr id="34" name="Text 22"/>
          <p:cNvSpPr/>
          <p:nvPr/>
        </p:nvSpPr>
        <p:spPr>
          <a:xfrm>
            <a:off x="5943600" y="4663440"/>
            <a:ext cx="2743200" cy="274320"/>
          </a:xfrm>
          <a:prstGeom prst="rect">
            <a:avLst/>
          </a:prstGeom>
          <a:noFill/>
          <a:ln/>
        </p:spPr>
        <p:txBody>
          <a:bodyPr wrap="square" lIns="0" tIns="0" rIns="0" bIns="0"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Shape 1"/>
          <p:cNvSpPr/>
          <p:nvPr/>
        </p:nvSpPr>
        <p:spPr>
          <a:xfrm>
            <a:off x="274320" y="4754880"/>
            <a:ext cx="8595360" cy="0"/>
          </a:xfrm>
          <a:prstGeom prst="line">
            <a:avLst/>
          </a:prstGeom>
          <a:noFill/>
          <a:ln w="12700">
            <a:solidFill>
              <a:srgbClr val="8C2029"/>
            </a:solidFill>
            <a:prstDash val="dash"/>
          </a:ln>
        </p:spPr>
        <p:txBody>
          <a:bodyPr/>
          <a:lstStyle/>
          <a:p>
            <a:endParaRPr lang="ja-JP" altLang="en-US"/>
          </a:p>
        </p:txBody>
      </p:sp>
      <p:sp>
        <p:nvSpPr>
          <p:cNvPr id="5" name="Text 3"/>
          <p:cNvSpPr/>
          <p:nvPr/>
        </p:nvSpPr>
        <p:spPr>
          <a:xfrm>
            <a:off x="457200" y="182880"/>
            <a:ext cx="5943600" cy="457200"/>
          </a:xfrm>
          <a:prstGeom prst="rect">
            <a:avLst/>
          </a:prstGeom>
          <a:noFill/>
          <a:ln/>
        </p:spPr>
        <p:txBody>
          <a:bodyPr wrap="square" lIns="0" tIns="0" rIns="0" bIns="0" rtlCol="0" anchor="ctr"/>
          <a:lstStyle/>
          <a:p>
            <a:pPr marL="0" indent="0">
              <a:buNone/>
            </a:pPr>
            <a:r>
              <a:rPr lang="en-US" sz="2200" b="1" dirty="0">
                <a:solidFill>
                  <a:srgbClr val="333333"/>
                </a:solidFill>
                <a:latin typeface="Yu Gothic" pitchFamily="34" charset="0"/>
                <a:ea typeface="Yu Gothic" pitchFamily="34" charset="-122"/>
                <a:cs typeface="Yu Gothic" pitchFamily="34" charset="-120"/>
              </a:rPr>
              <a:t>プログラム設計上の特徴</a:t>
            </a:r>
            <a:endParaRPr lang="en-US" sz="2200" dirty="0"/>
          </a:p>
        </p:txBody>
      </p:sp>
      <p:sp>
        <p:nvSpPr>
          <p:cNvPr id="7" name="Shape 5"/>
          <p:cNvSpPr/>
          <p:nvPr/>
        </p:nvSpPr>
        <p:spPr>
          <a:xfrm>
            <a:off x="457200" y="914400"/>
            <a:ext cx="3977640" cy="1554480"/>
          </a:xfrm>
          <a:prstGeom prst="rect">
            <a:avLst/>
          </a:prstGeom>
          <a:solidFill>
            <a:srgbClr val="FFFFFF"/>
          </a:solidFill>
          <a:ln w="6350">
            <a:solidFill>
              <a:srgbClr val="EEEEEE"/>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8" name="Shape 6"/>
          <p:cNvSpPr/>
          <p:nvPr/>
        </p:nvSpPr>
        <p:spPr>
          <a:xfrm>
            <a:off x="457200" y="914400"/>
            <a:ext cx="3977640" cy="54864"/>
          </a:xfrm>
          <a:prstGeom prst="rect">
            <a:avLst/>
          </a:prstGeom>
          <a:solidFill>
            <a:srgbClr val="8C2029"/>
          </a:solidFill>
          <a:ln/>
        </p:spPr>
        <p:txBody>
          <a:bodyPr/>
          <a:lstStyle/>
          <a:p>
            <a:endParaRPr lang="ja-JP" altLang="en-US"/>
          </a:p>
        </p:txBody>
      </p:sp>
      <p:pic>
        <p:nvPicPr>
          <p:cNvPr id="9" name="Image 0" descr="preencoded.png"/>
          <p:cNvPicPr>
            <a:picLocks noChangeAspect="1"/>
          </p:cNvPicPr>
          <p:nvPr/>
        </p:nvPicPr>
        <p:blipFill>
          <a:blip r:embed="rId3"/>
          <a:stretch>
            <a:fillRect/>
          </a:stretch>
        </p:blipFill>
        <p:spPr>
          <a:xfrm>
            <a:off x="594360" y="1097280"/>
            <a:ext cx="365760" cy="365760"/>
          </a:xfrm>
          <a:prstGeom prst="rect">
            <a:avLst/>
          </a:prstGeom>
        </p:spPr>
      </p:pic>
      <p:sp>
        <p:nvSpPr>
          <p:cNvPr id="10" name="Text 7"/>
          <p:cNvSpPr/>
          <p:nvPr/>
        </p:nvSpPr>
        <p:spPr>
          <a:xfrm>
            <a:off x="1051560" y="1051560"/>
            <a:ext cx="3200400" cy="365760"/>
          </a:xfrm>
          <a:prstGeom prst="rect">
            <a:avLst/>
          </a:prstGeom>
          <a:noFill/>
          <a:ln/>
        </p:spPr>
        <p:txBody>
          <a:bodyPr wrap="square" lIns="0" tIns="0" rIns="0" bIns="0" rtlCol="0" anchor="ctr"/>
          <a:lstStyle/>
          <a:p>
            <a:pPr marL="0" indent="0">
              <a:buNone/>
            </a:pPr>
            <a:r>
              <a:rPr lang="en-US" sz="1300" b="1" dirty="0">
                <a:solidFill>
                  <a:srgbClr val="8C2029"/>
                </a:solidFill>
                <a:latin typeface="Yu Gothic" pitchFamily="34" charset="0"/>
                <a:ea typeface="Yu Gothic" pitchFamily="34" charset="-122"/>
                <a:cs typeface="Yu Gothic" pitchFamily="34" charset="-120"/>
              </a:rPr>
              <a:t>毎回の定型プログラム</a:t>
            </a:r>
            <a:endParaRPr lang="en-US" sz="1300" dirty="0"/>
          </a:p>
        </p:txBody>
      </p:sp>
      <p:sp>
        <p:nvSpPr>
          <p:cNvPr id="11" name="Text 8"/>
          <p:cNvSpPr/>
          <p:nvPr/>
        </p:nvSpPr>
        <p:spPr>
          <a:xfrm>
            <a:off x="640080" y="1508760"/>
            <a:ext cx="3657600" cy="868680"/>
          </a:xfrm>
          <a:prstGeom prst="rect">
            <a:avLst/>
          </a:prstGeom>
          <a:noFill/>
          <a:ln/>
        </p:spPr>
        <p:txBody>
          <a:bodyPr wrap="square" lIns="0" tIns="0" rIns="0" bIns="0" rtlCol="0" anchor="ctr"/>
          <a:lstStyle/>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社長講話（10分・可能な範囲で）/ 2分間スピーチ /</a:t>
            </a:r>
            <a:endParaRPr lang="en-US" sz="1000" dirty="0"/>
          </a:p>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前回の学び振り返り / 活動報告シェア</a:t>
            </a:r>
            <a:endParaRPr lang="en-US" sz="1000" dirty="0"/>
          </a:p>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 学びの継続性と職場実践の習慣化</a:t>
            </a:r>
            <a:endParaRPr lang="en-US" sz="1000" dirty="0"/>
          </a:p>
        </p:txBody>
      </p:sp>
      <p:sp>
        <p:nvSpPr>
          <p:cNvPr id="12" name="Shape 9"/>
          <p:cNvSpPr/>
          <p:nvPr/>
        </p:nvSpPr>
        <p:spPr>
          <a:xfrm>
            <a:off x="4709160" y="914400"/>
            <a:ext cx="3977640" cy="1554480"/>
          </a:xfrm>
          <a:prstGeom prst="rect">
            <a:avLst/>
          </a:prstGeom>
          <a:solidFill>
            <a:srgbClr val="FFFFFF"/>
          </a:solidFill>
          <a:ln w="6350">
            <a:solidFill>
              <a:srgbClr val="EEEEEE"/>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13" name="Shape 10"/>
          <p:cNvSpPr/>
          <p:nvPr/>
        </p:nvSpPr>
        <p:spPr>
          <a:xfrm>
            <a:off x="4709160" y="914400"/>
            <a:ext cx="3977640" cy="54864"/>
          </a:xfrm>
          <a:prstGeom prst="rect">
            <a:avLst/>
          </a:prstGeom>
          <a:solidFill>
            <a:srgbClr val="8C2029"/>
          </a:solidFill>
          <a:ln/>
        </p:spPr>
        <p:txBody>
          <a:bodyPr/>
          <a:lstStyle/>
          <a:p>
            <a:endParaRPr lang="ja-JP" altLang="en-US"/>
          </a:p>
        </p:txBody>
      </p:sp>
      <p:pic>
        <p:nvPicPr>
          <p:cNvPr id="14" name="Image 1" descr="preencoded.png"/>
          <p:cNvPicPr>
            <a:picLocks noChangeAspect="1"/>
          </p:cNvPicPr>
          <p:nvPr/>
        </p:nvPicPr>
        <p:blipFill>
          <a:blip r:embed="rId4"/>
          <a:stretch>
            <a:fillRect/>
          </a:stretch>
        </p:blipFill>
        <p:spPr>
          <a:xfrm>
            <a:off x="4846320" y="1097280"/>
            <a:ext cx="365760" cy="365760"/>
          </a:xfrm>
          <a:prstGeom prst="rect">
            <a:avLst/>
          </a:prstGeom>
        </p:spPr>
      </p:pic>
      <p:sp>
        <p:nvSpPr>
          <p:cNvPr id="15" name="Text 11"/>
          <p:cNvSpPr/>
          <p:nvPr/>
        </p:nvSpPr>
        <p:spPr>
          <a:xfrm>
            <a:off x="5303520" y="1051560"/>
            <a:ext cx="3200400" cy="365760"/>
          </a:xfrm>
          <a:prstGeom prst="rect">
            <a:avLst/>
          </a:prstGeom>
          <a:noFill/>
          <a:ln/>
        </p:spPr>
        <p:txBody>
          <a:bodyPr wrap="square" lIns="0" tIns="0" rIns="0" bIns="0" rtlCol="0" anchor="ctr"/>
          <a:lstStyle/>
          <a:p>
            <a:pPr marL="0" indent="0">
              <a:buNone/>
            </a:pPr>
            <a:r>
              <a:rPr lang="en-US" sz="1300" b="1" dirty="0">
                <a:solidFill>
                  <a:srgbClr val="8C2029"/>
                </a:solidFill>
                <a:latin typeface="Yu Gothic" pitchFamily="34" charset="0"/>
                <a:ea typeface="Yu Gothic" pitchFamily="34" charset="-122"/>
                <a:cs typeface="Yu Gothic" pitchFamily="34" charset="-120"/>
              </a:rPr>
              <a:t>「受け身からの脱却」の仕掛け</a:t>
            </a:r>
            <a:endParaRPr lang="en-US" sz="1300" dirty="0"/>
          </a:p>
        </p:txBody>
      </p:sp>
      <p:sp>
        <p:nvSpPr>
          <p:cNvPr id="16" name="Text 12"/>
          <p:cNvSpPr/>
          <p:nvPr/>
        </p:nvSpPr>
        <p:spPr>
          <a:xfrm>
            <a:off x="4892040" y="1508760"/>
            <a:ext cx="3657600" cy="868680"/>
          </a:xfrm>
          <a:prstGeom prst="rect">
            <a:avLst/>
          </a:prstGeom>
          <a:noFill/>
          <a:ln/>
        </p:spPr>
        <p:txBody>
          <a:bodyPr wrap="square" lIns="0" tIns="0" rIns="0" bIns="0" rtlCol="0" anchor="ctr"/>
          <a:lstStyle/>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S1で役割認識 → S4でリーダー宣言 →</a:t>
            </a:r>
            <a:endParaRPr lang="en-US" sz="1000" dirty="0"/>
          </a:p>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S7/S12で経営層への成果発表 →</a:t>
            </a:r>
            <a:endParaRPr lang="en-US" sz="1000" dirty="0"/>
          </a:p>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毎回の活動報告で「やったか」が可視化</a:t>
            </a:r>
            <a:endParaRPr lang="en-US" sz="1000" dirty="0"/>
          </a:p>
        </p:txBody>
      </p:sp>
      <p:sp>
        <p:nvSpPr>
          <p:cNvPr id="17" name="Shape 13"/>
          <p:cNvSpPr/>
          <p:nvPr/>
        </p:nvSpPr>
        <p:spPr>
          <a:xfrm>
            <a:off x="457200" y="2743200"/>
            <a:ext cx="3977640" cy="1554480"/>
          </a:xfrm>
          <a:prstGeom prst="rect">
            <a:avLst/>
          </a:prstGeom>
          <a:solidFill>
            <a:srgbClr val="FFFFFF"/>
          </a:solidFill>
          <a:ln w="6350">
            <a:solidFill>
              <a:srgbClr val="EEEEEE"/>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18" name="Shape 14"/>
          <p:cNvSpPr/>
          <p:nvPr/>
        </p:nvSpPr>
        <p:spPr>
          <a:xfrm>
            <a:off x="457200" y="2743200"/>
            <a:ext cx="3977640" cy="54864"/>
          </a:xfrm>
          <a:prstGeom prst="rect">
            <a:avLst/>
          </a:prstGeom>
          <a:solidFill>
            <a:srgbClr val="8C2029"/>
          </a:solidFill>
          <a:ln/>
        </p:spPr>
        <p:txBody>
          <a:bodyPr/>
          <a:lstStyle/>
          <a:p>
            <a:endParaRPr lang="ja-JP" altLang="en-US"/>
          </a:p>
        </p:txBody>
      </p:sp>
      <p:pic>
        <p:nvPicPr>
          <p:cNvPr id="19" name="Image 2" descr="preencoded.png"/>
          <p:cNvPicPr>
            <a:picLocks noChangeAspect="1"/>
          </p:cNvPicPr>
          <p:nvPr/>
        </p:nvPicPr>
        <p:blipFill>
          <a:blip r:embed="rId5"/>
          <a:stretch>
            <a:fillRect/>
          </a:stretch>
        </p:blipFill>
        <p:spPr>
          <a:xfrm>
            <a:off x="594360" y="2926080"/>
            <a:ext cx="365760" cy="365760"/>
          </a:xfrm>
          <a:prstGeom prst="rect">
            <a:avLst/>
          </a:prstGeom>
        </p:spPr>
      </p:pic>
      <p:sp>
        <p:nvSpPr>
          <p:cNvPr id="20" name="Text 15"/>
          <p:cNvSpPr/>
          <p:nvPr/>
        </p:nvSpPr>
        <p:spPr>
          <a:xfrm>
            <a:off x="1051560" y="2880360"/>
            <a:ext cx="3200400" cy="365760"/>
          </a:xfrm>
          <a:prstGeom prst="rect">
            <a:avLst/>
          </a:prstGeom>
          <a:noFill/>
          <a:ln/>
        </p:spPr>
        <p:txBody>
          <a:bodyPr wrap="square" lIns="0" tIns="0" rIns="0" bIns="0" rtlCol="0" anchor="ctr"/>
          <a:lstStyle/>
          <a:p>
            <a:pPr marL="0" indent="0">
              <a:buNone/>
            </a:pPr>
            <a:r>
              <a:rPr lang="en-US" sz="1300" b="1" dirty="0">
                <a:solidFill>
                  <a:srgbClr val="8C2029"/>
                </a:solidFill>
                <a:latin typeface="Yu Gothic" pitchFamily="34" charset="0"/>
                <a:ea typeface="Yu Gothic" pitchFamily="34" charset="-122"/>
                <a:cs typeface="Yu Gothic" pitchFamily="34" charset="-120"/>
              </a:rPr>
              <a:t>将来の人事制度への布石</a:t>
            </a:r>
            <a:endParaRPr lang="en-US" sz="1300" dirty="0"/>
          </a:p>
        </p:txBody>
      </p:sp>
      <p:sp>
        <p:nvSpPr>
          <p:cNvPr id="21" name="Text 16"/>
          <p:cNvSpPr/>
          <p:nvPr/>
        </p:nvSpPr>
        <p:spPr>
          <a:xfrm>
            <a:off x="640080" y="3337560"/>
            <a:ext cx="3657600" cy="868680"/>
          </a:xfrm>
          <a:prstGeom prst="rect">
            <a:avLst/>
          </a:prstGeom>
          <a:noFill/>
          <a:ln/>
        </p:spPr>
        <p:txBody>
          <a:bodyPr wrap="square" lIns="0" tIns="0" rIns="0" bIns="0" rtlCol="0" anchor="ctr"/>
          <a:lstStyle/>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コンピテンシー / SMART目標 / </a:t>
            </a:r>
            <a:r>
              <a:rPr lang="en-US" sz="1000" dirty="0" err="1">
                <a:solidFill>
                  <a:srgbClr val="333333"/>
                </a:solidFill>
                <a:latin typeface="Yu Gothic" pitchFamily="34" charset="0"/>
                <a:ea typeface="Yu Gothic" pitchFamily="34" charset="-122"/>
                <a:cs typeface="Yu Gothic" pitchFamily="34" charset="-120"/>
              </a:rPr>
              <a:t>フィードバック文化を</a:t>
            </a:r>
            <a:endParaRPr lang="en-US" sz="1000" dirty="0"/>
          </a:p>
          <a:p>
            <a:pPr marL="0" indent="0">
              <a:lnSpc>
                <a:spcPct val="140000"/>
              </a:lnSpc>
              <a:buNone/>
            </a:pPr>
            <a:r>
              <a:rPr lang="en-US" sz="1000" dirty="0" err="1">
                <a:solidFill>
                  <a:srgbClr val="333333"/>
                </a:solidFill>
                <a:latin typeface="Yu Gothic" pitchFamily="34" charset="0"/>
                <a:ea typeface="Yu Gothic" pitchFamily="34" charset="-122"/>
                <a:cs typeface="Yu Gothic" pitchFamily="34" charset="-120"/>
              </a:rPr>
              <a:t>研修で根づかせ、人事制度導入時のスムーズな浸透を準備する</a:t>
            </a:r>
            <a:endParaRPr lang="en-US" sz="1000" dirty="0"/>
          </a:p>
        </p:txBody>
      </p:sp>
      <p:sp>
        <p:nvSpPr>
          <p:cNvPr id="22" name="Shape 17"/>
          <p:cNvSpPr/>
          <p:nvPr/>
        </p:nvSpPr>
        <p:spPr>
          <a:xfrm>
            <a:off x="4709160" y="2743200"/>
            <a:ext cx="3977640" cy="1554480"/>
          </a:xfrm>
          <a:prstGeom prst="rect">
            <a:avLst/>
          </a:prstGeom>
          <a:solidFill>
            <a:srgbClr val="FFFFFF"/>
          </a:solidFill>
          <a:ln w="6350">
            <a:solidFill>
              <a:srgbClr val="EEEEEE"/>
            </a:solidFill>
            <a:prstDash val="solid"/>
          </a:ln>
          <a:effectLst>
            <a:outerShdw blurRad="50800" dist="25400" dir="8100000" algn="bl" rotWithShape="0">
              <a:srgbClr val="000000">
                <a:alpha val="8000"/>
              </a:srgbClr>
            </a:outerShdw>
          </a:effectLst>
        </p:spPr>
        <p:txBody>
          <a:bodyPr/>
          <a:lstStyle/>
          <a:p>
            <a:endParaRPr lang="ja-JP" altLang="en-US"/>
          </a:p>
        </p:txBody>
      </p:sp>
      <p:sp>
        <p:nvSpPr>
          <p:cNvPr id="23" name="Shape 18"/>
          <p:cNvSpPr/>
          <p:nvPr/>
        </p:nvSpPr>
        <p:spPr>
          <a:xfrm>
            <a:off x="4709160" y="2743200"/>
            <a:ext cx="3977640" cy="54864"/>
          </a:xfrm>
          <a:prstGeom prst="rect">
            <a:avLst/>
          </a:prstGeom>
          <a:solidFill>
            <a:srgbClr val="8C2029"/>
          </a:solidFill>
          <a:ln/>
        </p:spPr>
        <p:txBody>
          <a:bodyPr/>
          <a:lstStyle/>
          <a:p>
            <a:endParaRPr lang="ja-JP" altLang="en-US"/>
          </a:p>
        </p:txBody>
      </p:sp>
      <p:pic>
        <p:nvPicPr>
          <p:cNvPr id="24" name="Image 3" descr="preencoded.png"/>
          <p:cNvPicPr>
            <a:picLocks noChangeAspect="1"/>
          </p:cNvPicPr>
          <p:nvPr/>
        </p:nvPicPr>
        <p:blipFill>
          <a:blip r:embed="rId6"/>
          <a:stretch>
            <a:fillRect/>
          </a:stretch>
        </p:blipFill>
        <p:spPr>
          <a:xfrm>
            <a:off x="4846320" y="2926080"/>
            <a:ext cx="365760" cy="365760"/>
          </a:xfrm>
          <a:prstGeom prst="rect">
            <a:avLst/>
          </a:prstGeom>
        </p:spPr>
      </p:pic>
      <p:sp>
        <p:nvSpPr>
          <p:cNvPr id="25" name="Text 19"/>
          <p:cNvSpPr/>
          <p:nvPr/>
        </p:nvSpPr>
        <p:spPr>
          <a:xfrm>
            <a:off x="5303520" y="2880360"/>
            <a:ext cx="3200400" cy="365760"/>
          </a:xfrm>
          <a:prstGeom prst="rect">
            <a:avLst/>
          </a:prstGeom>
          <a:noFill/>
          <a:ln/>
        </p:spPr>
        <p:txBody>
          <a:bodyPr wrap="square" lIns="0" tIns="0" rIns="0" bIns="0" rtlCol="0" anchor="ctr"/>
          <a:lstStyle/>
          <a:p>
            <a:pPr marL="0" indent="0">
              <a:buNone/>
            </a:pPr>
            <a:r>
              <a:rPr lang="en-US" sz="1300" b="1" dirty="0">
                <a:solidFill>
                  <a:srgbClr val="8C2029"/>
                </a:solidFill>
                <a:latin typeface="Yu Gothic" pitchFamily="34" charset="0"/>
                <a:ea typeface="Yu Gothic" pitchFamily="34" charset="-122"/>
                <a:cs typeface="Yu Gothic" pitchFamily="34" charset="-120"/>
              </a:rPr>
              <a:t>課題図書による自律学習</a:t>
            </a:r>
            <a:endParaRPr lang="en-US" sz="1300" dirty="0"/>
          </a:p>
        </p:txBody>
      </p:sp>
      <p:sp>
        <p:nvSpPr>
          <p:cNvPr id="26" name="Text 20"/>
          <p:cNvSpPr/>
          <p:nvPr/>
        </p:nvSpPr>
        <p:spPr>
          <a:xfrm>
            <a:off x="4892040" y="3337560"/>
            <a:ext cx="3657600" cy="868680"/>
          </a:xfrm>
          <a:prstGeom prst="rect">
            <a:avLst/>
          </a:prstGeom>
          <a:noFill/>
          <a:ln/>
        </p:spPr>
        <p:txBody>
          <a:bodyPr wrap="square" lIns="0" tIns="0" rIns="0" bIns="0" rtlCol="0" anchor="ctr"/>
          <a:lstStyle/>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研修内容に合わせた課題図書を貴社と相談のうえ選定。</a:t>
            </a:r>
            <a:endParaRPr lang="en-US" sz="1000" dirty="0"/>
          </a:p>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読書レポート＆研修内シェアで学びを深めます。</a:t>
            </a:r>
            <a:endParaRPr lang="en-US" sz="1000" dirty="0"/>
          </a:p>
          <a:p>
            <a:pPr marL="0" indent="0">
              <a:lnSpc>
                <a:spcPct val="140000"/>
              </a:lnSpc>
              <a:buNone/>
            </a:pPr>
            <a:r>
              <a:rPr lang="en-US" sz="1000" dirty="0">
                <a:solidFill>
                  <a:srgbClr val="333333"/>
                </a:solidFill>
                <a:latin typeface="Yu Gothic" pitchFamily="34" charset="0"/>
                <a:ea typeface="Yu Gothic" pitchFamily="34" charset="-122"/>
                <a:cs typeface="Yu Gothic" pitchFamily="34" charset="-120"/>
              </a:rPr>
              <a:t>「学び続ける習慣」を定着させる</a:t>
            </a:r>
            <a:endParaRPr lang="en-US" sz="1000" dirty="0"/>
          </a:p>
        </p:txBody>
      </p:sp>
      <p:sp>
        <p:nvSpPr>
          <p:cNvPr id="27" name="Text 2">
            <a:extLst>
              <a:ext uri="{FF2B5EF4-FFF2-40B4-BE49-F238E27FC236}">
                <a16:creationId xmlns:a16="http://schemas.microsoft.com/office/drawing/2014/main" id="{4045C2D7-7893-79FF-9A13-5AA698242A65}"/>
              </a:ext>
            </a:extLst>
          </p:cNvPr>
          <p:cNvSpPr/>
          <p:nvPr/>
        </p:nvSpPr>
        <p:spPr>
          <a:xfrm>
            <a:off x="5943600" y="4800600"/>
            <a:ext cx="2926080" cy="274320"/>
          </a:xfrm>
          <a:prstGeom prst="rect">
            <a:avLst/>
          </a:prstGeom>
          <a:noFill/>
          <a:ln/>
        </p:spPr>
        <p:txBody>
          <a:bodyPr wrap="square"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grpSp>
        <p:nvGrpSpPr>
          <p:cNvPr id="28" name="グループ化 11">
            <a:extLst>
              <a:ext uri="{FF2B5EF4-FFF2-40B4-BE49-F238E27FC236}">
                <a16:creationId xmlns:a16="http://schemas.microsoft.com/office/drawing/2014/main" id="{FE30AE79-4200-341A-31E2-EC4FD67943A1}"/>
              </a:ext>
            </a:extLst>
          </p:cNvPr>
          <p:cNvGrpSpPr>
            <a:grpSpLocks/>
          </p:cNvGrpSpPr>
          <p:nvPr/>
        </p:nvGrpSpPr>
        <p:grpSpPr bwMode="auto">
          <a:xfrm>
            <a:off x="7529692" y="186460"/>
            <a:ext cx="1116012" cy="217488"/>
            <a:chOff x="0" y="0"/>
            <a:chExt cx="3462373" cy="671728"/>
          </a:xfrm>
        </p:grpSpPr>
        <p:pic>
          <p:nvPicPr>
            <p:cNvPr id="29" name="図 2">
              <a:extLst>
                <a:ext uri="{FF2B5EF4-FFF2-40B4-BE49-F238E27FC236}">
                  <a16:creationId xmlns:a16="http://schemas.microsoft.com/office/drawing/2014/main" id="{9879DADF-6EA3-AD55-424C-45A8A8EE50D7}"/>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62580" y="160437"/>
              <a:ext cx="2699793" cy="35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図 3">
              <a:extLst>
                <a:ext uri="{FF2B5EF4-FFF2-40B4-BE49-F238E27FC236}">
                  <a16:creationId xmlns:a16="http://schemas.microsoft.com/office/drawing/2014/main" id="{79C60F83-83CD-02DA-B90D-6C6F55C8D8E2}"/>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671728" cy="67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1" name="Shape 4">
            <a:extLst>
              <a:ext uri="{FF2B5EF4-FFF2-40B4-BE49-F238E27FC236}">
                <a16:creationId xmlns:a16="http://schemas.microsoft.com/office/drawing/2014/main" id="{8A589B29-25A7-42CC-BC6C-FCE04A6EF071}"/>
              </a:ext>
            </a:extLst>
          </p:cNvPr>
          <p:cNvSpPr/>
          <p:nvPr/>
        </p:nvSpPr>
        <p:spPr>
          <a:xfrm flipV="1">
            <a:off x="457200" y="612649"/>
            <a:ext cx="775699" cy="45719"/>
          </a:xfrm>
          <a:prstGeom prst="rect">
            <a:avLst/>
          </a:prstGeom>
          <a:solidFill>
            <a:srgbClr val="8C2029"/>
          </a:solidFill>
          <a:ln/>
        </p:spPr>
        <p:txBody>
          <a:bodyPr/>
          <a:lstStyle/>
          <a:p>
            <a:endParaRPr lang="ja-JP"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Shape 1"/>
          <p:cNvSpPr/>
          <p:nvPr/>
        </p:nvSpPr>
        <p:spPr>
          <a:xfrm>
            <a:off x="274320" y="4754880"/>
            <a:ext cx="8595360" cy="0"/>
          </a:xfrm>
          <a:prstGeom prst="line">
            <a:avLst/>
          </a:prstGeom>
          <a:noFill/>
          <a:ln w="12700">
            <a:solidFill>
              <a:srgbClr val="8C2029"/>
            </a:solidFill>
            <a:prstDash val="dash"/>
          </a:ln>
        </p:spPr>
        <p:txBody>
          <a:bodyPr/>
          <a:lstStyle/>
          <a:p>
            <a:endParaRPr lang="ja-JP" altLang="en-US"/>
          </a:p>
        </p:txBody>
      </p:sp>
      <p:sp>
        <p:nvSpPr>
          <p:cNvPr id="5" name="Text 3"/>
          <p:cNvSpPr/>
          <p:nvPr/>
        </p:nvSpPr>
        <p:spPr>
          <a:xfrm>
            <a:off x="457200" y="182880"/>
            <a:ext cx="5943600" cy="457200"/>
          </a:xfrm>
          <a:prstGeom prst="rect">
            <a:avLst/>
          </a:prstGeom>
          <a:noFill/>
          <a:ln/>
        </p:spPr>
        <p:txBody>
          <a:bodyPr wrap="square" lIns="0" tIns="0" rIns="0" bIns="0" rtlCol="0" anchor="ctr"/>
          <a:lstStyle/>
          <a:p>
            <a:pPr marL="0" indent="0">
              <a:buNone/>
            </a:pPr>
            <a:r>
              <a:rPr lang="en-US" sz="2200" b="1" dirty="0">
                <a:solidFill>
                  <a:srgbClr val="333333"/>
                </a:solidFill>
                <a:latin typeface="Yu Gothic" pitchFamily="34" charset="0"/>
                <a:ea typeface="Yu Gothic" pitchFamily="34" charset="-122"/>
                <a:cs typeface="Yu Gothic" pitchFamily="34" charset="-120"/>
              </a:rPr>
              <a:t>ご提案概要・費用</a:t>
            </a:r>
            <a:endParaRPr lang="en-US" sz="2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3337560"/>
        </p:xfrm>
        <a:graphic>
          <a:graphicData uri="http://schemas.openxmlformats.org/drawingml/2006/table">
            <a:tbl>
              <a:tblPr/>
              <a:tblGrid>
                <a:gridCol w="18288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320040">
                <a:tc>
                  <a:txBody>
                    <a:bodyPr/>
                    <a:lstStyle/>
                    <a:p>
                      <a:pPr marL="0" indent="0" algn="ctr">
                        <a:buNone/>
                      </a:pPr>
                      <a:r>
                        <a:rPr lang="en-US" sz="1000" b="1" dirty="0">
                          <a:solidFill>
                            <a:srgbClr val="FFFFFF"/>
                          </a:solidFill>
                          <a:latin typeface="Yu Gothic" pitchFamily="34" charset="0"/>
                          <a:ea typeface="Yu Gothic" pitchFamily="34" charset="-122"/>
                          <a:cs typeface="Yu Gothic" pitchFamily="34" charset="-120"/>
                        </a:rPr>
                        <a:t>項目</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8C2029"/>
                    </a:solidFill>
                  </a:tcPr>
                </a:tc>
                <a:tc>
                  <a:txBody>
                    <a:bodyPr/>
                    <a:lstStyle/>
                    <a:p>
                      <a:pPr marL="0" indent="0">
                        <a:buNone/>
                      </a:pPr>
                      <a:r>
                        <a:rPr lang="en-US" sz="1000" b="1" dirty="0">
                          <a:solidFill>
                            <a:srgbClr val="FFFFFF"/>
                          </a:solidFill>
                          <a:latin typeface="Yu Gothic" pitchFamily="34" charset="0"/>
                          <a:ea typeface="Yu Gothic" pitchFamily="34" charset="-122"/>
                          <a:cs typeface="Yu Gothic" pitchFamily="34" charset="-120"/>
                        </a:rPr>
                        <a:t>内容</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8C2029"/>
                    </a:solidFill>
                  </a:tcPr>
                </a:tc>
                <a:extLst>
                  <a:ext uri="{0D108BD9-81ED-4DB2-BD59-A6C34878D82A}">
                    <a16:rowId xmlns:a16="http://schemas.microsoft.com/office/drawing/2014/main" val="10000"/>
                  </a:ext>
                </a:extLst>
              </a:tr>
              <a:tr h="320040">
                <a:tc>
                  <a:txBody>
                    <a:bodyPr/>
                    <a:lstStyle/>
                    <a:p>
                      <a:pPr marL="0" indent="0">
                        <a:buNone/>
                      </a:pPr>
                      <a:r>
                        <a:rPr lang="en-US" sz="1000" b="1" dirty="0">
                          <a:solidFill>
                            <a:srgbClr val="000000"/>
                          </a:solidFill>
                          <a:latin typeface="Yu Gothic" pitchFamily="34" charset="0"/>
                          <a:ea typeface="Yu Gothic" pitchFamily="34" charset="-122"/>
                          <a:cs typeface="Yu Gothic" pitchFamily="34" charset="-120"/>
                        </a:rPr>
                        <a:t>研修名称</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8"/>
                    </a:solidFill>
                  </a:tcPr>
                </a:tc>
                <a:tc>
                  <a:txBody>
                    <a:bodyPr/>
                    <a:lstStyle/>
                    <a:p>
                      <a:pPr marL="0" indent="0">
                        <a:buNone/>
                      </a:pPr>
                      <a:r>
                        <a:rPr lang="en-US" sz="1000" dirty="0">
                          <a:solidFill>
                            <a:srgbClr val="000000"/>
                          </a:solidFill>
                          <a:latin typeface="Yu Gothic" pitchFamily="34" charset="0"/>
                          <a:ea typeface="Yu Gothic" pitchFamily="34" charset="-122"/>
                          <a:cs typeface="Yu Gothic" pitchFamily="34" charset="-120"/>
                        </a:rPr>
                        <a:t>管理職候補育成プログラム</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8"/>
                    </a:solidFill>
                  </a:tcPr>
                </a:tc>
                <a:extLst>
                  <a:ext uri="{0D108BD9-81ED-4DB2-BD59-A6C34878D82A}">
                    <a16:rowId xmlns:a16="http://schemas.microsoft.com/office/drawing/2014/main" val="10001"/>
                  </a:ext>
                </a:extLst>
              </a:tr>
              <a:tr h="365760">
                <a:tc>
                  <a:txBody>
                    <a:bodyPr/>
                    <a:lstStyle/>
                    <a:p>
                      <a:pPr marL="0" indent="0">
                        <a:buNone/>
                      </a:pPr>
                      <a:r>
                        <a:rPr lang="en-US" sz="1000" b="1" dirty="0">
                          <a:solidFill>
                            <a:srgbClr val="000000"/>
                          </a:solidFill>
                          <a:latin typeface="Yu Gothic" pitchFamily="34" charset="0"/>
                          <a:ea typeface="Yu Gothic" pitchFamily="34" charset="-122"/>
                          <a:cs typeface="Yu Gothic" pitchFamily="34" charset="-120"/>
                        </a:rPr>
                        <a:t>対象者</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Yu Gothic" pitchFamily="34" charset="0"/>
                          <a:ea typeface="Yu Gothic" pitchFamily="34" charset="-122"/>
                          <a:cs typeface="Yu Gothic" pitchFamily="34" charset="-120"/>
                        </a:rPr>
                        <a:t>課長・次長クラス 10名程度（30〜40代）※将来の部長候補</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000" b="1" dirty="0">
                          <a:solidFill>
                            <a:srgbClr val="000000"/>
                          </a:solidFill>
                          <a:latin typeface="Yu Gothic" pitchFamily="34" charset="0"/>
                          <a:ea typeface="Yu Gothic" pitchFamily="34" charset="-122"/>
                          <a:cs typeface="Yu Gothic" pitchFamily="34" charset="-120"/>
                        </a:rPr>
                        <a:t>期間</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8"/>
                    </a:solidFill>
                  </a:tcPr>
                </a:tc>
                <a:tc>
                  <a:txBody>
                    <a:bodyPr/>
                    <a:lstStyle/>
                    <a:p>
                      <a:pPr marL="0" indent="0">
                        <a:buNone/>
                      </a:pPr>
                      <a:r>
                        <a:rPr lang="en-US" sz="1000" dirty="0">
                          <a:solidFill>
                            <a:srgbClr val="000000"/>
                          </a:solidFill>
                          <a:latin typeface="Yu Gothic" pitchFamily="34" charset="0"/>
                          <a:ea typeface="Yu Gothic" pitchFamily="34" charset="-122"/>
                          <a:cs typeface="Yu Gothic" pitchFamily="34" charset="-120"/>
                        </a:rPr>
                        <a:t>全12回（月1回 × 12ヶ月）※第11回は2日間合宿形式</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8"/>
                    </a:solidFill>
                  </a:tcPr>
                </a:tc>
                <a:extLst>
                  <a:ext uri="{0D108BD9-81ED-4DB2-BD59-A6C34878D82A}">
                    <a16:rowId xmlns:a16="http://schemas.microsoft.com/office/drawing/2014/main" val="10003"/>
                  </a:ext>
                </a:extLst>
              </a:tr>
              <a:tr h="320040">
                <a:tc>
                  <a:txBody>
                    <a:bodyPr/>
                    <a:lstStyle/>
                    <a:p>
                      <a:pPr marL="0" indent="0">
                        <a:buNone/>
                      </a:pPr>
                      <a:r>
                        <a:rPr lang="en-US" sz="1000" b="1" dirty="0">
                          <a:solidFill>
                            <a:srgbClr val="000000"/>
                          </a:solidFill>
                          <a:latin typeface="Yu Gothic" pitchFamily="34" charset="0"/>
                          <a:ea typeface="Yu Gothic" pitchFamily="34" charset="-122"/>
                          <a:cs typeface="Yu Gothic" pitchFamily="34" charset="-120"/>
                        </a:rPr>
                        <a:t>研修日数</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Yu Gothic" pitchFamily="34" charset="0"/>
                          <a:ea typeface="Yu Gothic" pitchFamily="34" charset="-122"/>
                          <a:cs typeface="Yu Gothic" pitchFamily="34" charset="-120"/>
                        </a:rPr>
                        <a:t>13日間（通常研修11日 ＋ 合宿2日）</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100" b="1" dirty="0">
                          <a:solidFill>
                            <a:srgbClr val="000000"/>
                          </a:solidFill>
                          <a:latin typeface="Yu Gothic" pitchFamily="34" charset="0"/>
                          <a:ea typeface="Yu Gothic" pitchFamily="34" charset="-122"/>
                          <a:cs typeface="Yu Gothic" pitchFamily="34" charset="-120"/>
                        </a:rPr>
                        <a:t>研修費用</a:t>
                      </a:r>
                      <a:endParaRPr lang="en-US" sz="11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8"/>
                    </a:solidFill>
                  </a:tcPr>
                </a:tc>
                <a:tc>
                  <a:txBody>
                    <a:bodyPr/>
                    <a:lstStyle/>
                    <a:p>
                      <a:pPr marL="0" indent="0">
                        <a:buNone/>
                      </a:pPr>
                      <a:r>
                        <a:rPr lang="en-US" sz="1100" b="1" dirty="0">
                          <a:solidFill>
                            <a:srgbClr val="8C2029"/>
                          </a:solidFill>
                          <a:latin typeface="Yu Gothic" pitchFamily="34" charset="0"/>
                          <a:ea typeface="Yu Gothic" pitchFamily="34" charset="-122"/>
                          <a:cs typeface="Yu Gothic" pitchFamily="34" charset="-120"/>
                        </a:rPr>
                        <a:t>1日あたり 300,000円（税別）× 13日間※ ＝ 3,900,000円（税別）  ※第11回は2日間合宿のため13日計上</a:t>
                      </a:r>
                      <a:endParaRPr lang="en-US" sz="11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8"/>
                    </a:solidFill>
                  </a:tcPr>
                </a:tc>
                <a:extLst>
                  <a:ext uri="{0D108BD9-81ED-4DB2-BD59-A6C34878D82A}">
                    <a16:rowId xmlns:a16="http://schemas.microsoft.com/office/drawing/2014/main" val="10005"/>
                  </a:ext>
                </a:extLst>
              </a:tr>
              <a:tr h="502920">
                <a:tc>
                  <a:txBody>
                    <a:bodyPr/>
                    <a:lstStyle/>
                    <a:p>
                      <a:pPr marL="0" indent="0">
                        <a:buNone/>
                      </a:pPr>
                      <a:r>
                        <a:rPr lang="en-US" sz="1000" b="1" dirty="0">
                          <a:solidFill>
                            <a:srgbClr val="000000"/>
                          </a:solidFill>
                          <a:latin typeface="Yu Gothic" pitchFamily="34" charset="0"/>
                          <a:ea typeface="Yu Gothic" pitchFamily="34" charset="-122"/>
                          <a:cs typeface="Yu Gothic" pitchFamily="34" charset="-120"/>
                        </a:rPr>
                        <a:t>別途費用</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000000"/>
                          </a:solidFill>
                          <a:latin typeface="Yu Gothic" pitchFamily="34" charset="0"/>
                          <a:ea typeface="Yu Gothic" pitchFamily="34" charset="-122"/>
                          <a:cs typeface="Yu Gothic" pitchFamily="34" charset="-120"/>
                        </a:rPr>
                        <a:t>MBTI受検費 8,000円/名（税別・テキスト含）/ 合宿会場費・宿泊費（実費）/ 講師交通費・宿泊費（実費）/ 課題図書代（各受講生負担）※図書は研修内容確定後、貴社と相談のうえ選定</a:t>
                      </a:r>
                      <a:endParaRPr lang="en-US" sz="9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1000" b="1" dirty="0">
                          <a:solidFill>
                            <a:srgbClr val="000000"/>
                          </a:solidFill>
                          <a:latin typeface="Yu Gothic" pitchFamily="34" charset="0"/>
                          <a:ea typeface="Yu Gothic" pitchFamily="34" charset="-122"/>
                          <a:cs typeface="Yu Gothic" pitchFamily="34" charset="-120"/>
                        </a:rPr>
                        <a:t>推奨ｵﾌﾟｼｮﾝ</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marL="0" indent="0">
                        <a:buNone/>
                      </a:pPr>
                      <a:r>
                        <a:rPr lang="en-US" sz="1000" dirty="0">
                          <a:solidFill>
                            <a:srgbClr val="000000"/>
                          </a:solidFill>
                          <a:latin typeface="Yu Gothic" pitchFamily="34" charset="0"/>
                          <a:ea typeface="Yu Gothic" pitchFamily="34" charset="-122"/>
                          <a:cs typeface="Yu Gothic" pitchFamily="34" charset="-120"/>
                        </a:rPr>
                        <a:t>上司向けオリエンテーション（30分・無料）※研修開始前に実施</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extLst>
                  <a:ext uri="{0D108BD9-81ED-4DB2-BD59-A6C34878D82A}">
                    <a16:rowId xmlns:a16="http://schemas.microsoft.com/office/drawing/2014/main" val="10007"/>
                  </a:ext>
                </a:extLst>
              </a:tr>
              <a:tr h="365760">
                <a:tc>
                  <a:txBody>
                    <a:bodyPr/>
                    <a:lstStyle/>
                    <a:p>
                      <a:pPr marL="0" indent="0">
                        <a:buNone/>
                      </a:pPr>
                      <a:r>
                        <a:rPr lang="en-US" sz="1000" b="1" dirty="0">
                          <a:solidFill>
                            <a:srgbClr val="000000"/>
                          </a:solidFill>
                          <a:latin typeface="Yu Gothic" pitchFamily="34" charset="0"/>
                          <a:ea typeface="Yu Gothic" pitchFamily="34" charset="-122"/>
                          <a:cs typeface="Yu Gothic" pitchFamily="34" charset="-120"/>
                        </a:rPr>
                        <a:t>成果指標</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Yu Gothic" pitchFamily="34" charset="0"/>
                          <a:ea typeface="Yu Gothic" pitchFamily="34" charset="-122"/>
                          <a:cs typeface="Yu Gothic" pitchFamily="34" charset="-120"/>
                        </a:rPr>
                        <a:t>研修前後の360度評価により、受講者の行動変容の定着度を測定</a:t>
                      </a:r>
                      <a:endParaRPr lang="en-US" sz="1000" dirty="0">
                        <a:latin typeface="Yu Gothic" charset="0"/>
                        <a:ea typeface="Yu Gothic" charset="0"/>
                        <a:cs typeface="Yu Gothic"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8" name="Shape 5"/>
          <p:cNvSpPr/>
          <p:nvPr/>
        </p:nvSpPr>
        <p:spPr>
          <a:xfrm>
            <a:off x="457200" y="3840480"/>
            <a:ext cx="8229600" cy="731520"/>
          </a:xfrm>
          <a:prstGeom prst="rect">
            <a:avLst/>
          </a:prstGeom>
          <a:solidFill>
            <a:srgbClr val="F2E0E0"/>
          </a:solidFill>
          <a:ln w="9525">
            <a:solidFill>
              <a:srgbClr val="8C2029"/>
            </a:solidFill>
            <a:prstDash val="solid"/>
          </a:ln>
        </p:spPr>
        <p:txBody>
          <a:bodyPr/>
          <a:lstStyle/>
          <a:p>
            <a:endParaRPr lang="ja-JP" altLang="en-US"/>
          </a:p>
        </p:txBody>
      </p:sp>
      <p:sp>
        <p:nvSpPr>
          <p:cNvPr id="9" name="Text 6"/>
          <p:cNvSpPr/>
          <p:nvPr/>
        </p:nvSpPr>
        <p:spPr>
          <a:xfrm>
            <a:off x="640080" y="3840480"/>
            <a:ext cx="7863840" cy="731520"/>
          </a:xfrm>
          <a:prstGeom prst="rect">
            <a:avLst/>
          </a:prstGeom>
          <a:noFill/>
          <a:ln/>
        </p:spPr>
        <p:txBody>
          <a:bodyPr wrap="square" lIns="0" tIns="0" rIns="0" bIns="0" rtlCol="0" anchor="ctr"/>
          <a:lstStyle/>
          <a:p>
            <a:pPr marL="0" indent="0" algn="ctr">
              <a:lnSpc>
                <a:spcPct val="150000"/>
              </a:lnSpc>
              <a:buNone/>
            </a:pPr>
            <a:r>
              <a:rPr lang="en-US" sz="1100" dirty="0">
                <a:solidFill>
                  <a:srgbClr val="8C2029"/>
                </a:solidFill>
                <a:latin typeface="Yu Gothic" pitchFamily="34" charset="0"/>
                <a:ea typeface="Yu Gothic" pitchFamily="34" charset="-122"/>
                <a:cs typeface="Yu Gothic" pitchFamily="34" charset="-120"/>
              </a:rPr>
              <a:t>研修は「きっかけ」にすぎません。本当の変化は、研修と職場実践の往復の中で生まれます。</a:t>
            </a:r>
            <a:endParaRPr lang="en-US" sz="1100" dirty="0"/>
          </a:p>
          <a:p>
            <a:pPr marL="0" indent="0" algn="ctr">
              <a:lnSpc>
                <a:spcPct val="150000"/>
              </a:lnSpc>
              <a:buNone/>
            </a:pPr>
            <a:r>
              <a:rPr lang="en-US" sz="1100" dirty="0">
                <a:solidFill>
                  <a:srgbClr val="8C2029"/>
                </a:solidFill>
                <a:latin typeface="Yu Gothic" pitchFamily="34" charset="0"/>
                <a:ea typeface="Yu Gothic" pitchFamily="34" charset="-122"/>
                <a:cs typeface="Yu Gothic" pitchFamily="34" charset="-120"/>
              </a:rPr>
              <a:t>受講生・上司・経営者が三位一体で取り組むことで、貴社の管理職層は確実に変わります。</a:t>
            </a:r>
            <a:endParaRPr lang="en-US" sz="1100" dirty="0"/>
          </a:p>
        </p:txBody>
      </p:sp>
      <p:sp>
        <p:nvSpPr>
          <p:cNvPr id="7" name="Text 2">
            <a:extLst>
              <a:ext uri="{FF2B5EF4-FFF2-40B4-BE49-F238E27FC236}">
                <a16:creationId xmlns:a16="http://schemas.microsoft.com/office/drawing/2014/main" id="{D4A45AC9-4B42-0858-CCC1-6D545092DEB1}"/>
              </a:ext>
            </a:extLst>
          </p:cNvPr>
          <p:cNvSpPr/>
          <p:nvPr/>
        </p:nvSpPr>
        <p:spPr>
          <a:xfrm>
            <a:off x="5943600" y="4800600"/>
            <a:ext cx="2926080" cy="274320"/>
          </a:xfrm>
          <a:prstGeom prst="rect">
            <a:avLst/>
          </a:prstGeom>
          <a:noFill/>
          <a:ln/>
        </p:spPr>
        <p:txBody>
          <a:bodyPr wrap="square"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grpSp>
        <p:nvGrpSpPr>
          <p:cNvPr id="10" name="グループ化 11">
            <a:extLst>
              <a:ext uri="{FF2B5EF4-FFF2-40B4-BE49-F238E27FC236}">
                <a16:creationId xmlns:a16="http://schemas.microsoft.com/office/drawing/2014/main" id="{833FD3BE-A511-EF49-731D-C05F4ABB24F4}"/>
              </a:ext>
            </a:extLst>
          </p:cNvPr>
          <p:cNvGrpSpPr>
            <a:grpSpLocks/>
          </p:cNvGrpSpPr>
          <p:nvPr/>
        </p:nvGrpSpPr>
        <p:grpSpPr bwMode="auto">
          <a:xfrm>
            <a:off x="7529692" y="186460"/>
            <a:ext cx="1116012" cy="217488"/>
            <a:chOff x="0" y="0"/>
            <a:chExt cx="3462373" cy="671728"/>
          </a:xfrm>
        </p:grpSpPr>
        <p:pic>
          <p:nvPicPr>
            <p:cNvPr id="11" name="図 2">
              <a:extLst>
                <a:ext uri="{FF2B5EF4-FFF2-40B4-BE49-F238E27FC236}">
                  <a16:creationId xmlns:a16="http://schemas.microsoft.com/office/drawing/2014/main" id="{18FBDBCB-7788-1FAB-B10E-BC5D675920C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580" y="160437"/>
              <a:ext cx="2699793" cy="35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図 3">
              <a:extLst>
                <a:ext uri="{FF2B5EF4-FFF2-40B4-BE49-F238E27FC236}">
                  <a16:creationId xmlns:a16="http://schemas.microsoft.com/office/drawing/2014/main" id="{ED1AF660-7330-5015-E7BB-73955BFC55D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71728" cy="67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 name="Shape 4">
            <a:extLst>
              <a:ext uri="{FF2B5EF4-FFF2-40B4-BE49-F238E27FC236}">
                <a16:creationId xmlns:a16="http://schemas.microsoft.com/office/drawing/2014/main" id="{2B8BE178-169D-5E4A-6A1A-D7BA851F260C}"/>
              </a:ext>
            </a:extLst>
          </p:cNvPr>
          <p:cNvSpPr/>
          <p:nvPr/>
        </p:nvSpPr>
        <p:spPr>
          <a:xfrm flipV="1">
            <a:off x="457200" y="612649"/>
            <a:ext cx="775699" cy="45719"/>
          </a:xfrm>
          <a:prstGeom prst="rect">
            <a:avLst/>
          </a:prstGeom>
          <a:solidFill>
            <a:srgbClr val="8C2029"/>
          </a:solidFill>
          <a:ln/>
        </p:spPr>
        <p:txBody>
          <a:bodyPr/>
          <a:lstStyle/>
          <a:p>
            <a:endParaRPr lang="ja-JP"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274320" y="4754880"/>
            <a:ext cx="8595360" cy="0"/>
          </a:xfrm>
          <a:prstGeom prst="line">
            <a:avLst/>
          </a:prstGeom>
          <a:noFill/>
          <a:ln w="12700">
            <a:solidFill>
              <a:srgbClr val="8C2029"/>
            </a:solidFill>
            <a:prstDash val="dash"/>
          </a:ln>
        </p:spPr>
        <p:txBody>
          <a:bodyPr/>
          <a:lstStyle/>
          <a:p>
            <a:endParaRPr lang="ja-JP" altLang="en-US"/>
          </a:p>
        </p:txBody>
      </p:sp>
      <p:sp>
        <p:nvSpPr>
          <p:cNvPr id="5" name="Text 3"/>
          <p:cNvSpPr/>
          <p:nvPr/>
        </p:nvSpPr>
        <p:spPr>
          <a:xfrm>
            <a:off x="914400" y="1371600"/>
            <a:ext cx="7315200" cy="1097280"/>
          </a:xfrm>
          <a:prstGeom prst="rect">
            <a:avLst/>
          </a:prstGeom>
          <a:noFill/>
          <a:ln/>
        </p:spPr>
        <p:txBody>
          <a:bodyPr wrap="square" rtlCol="0" anchor="ctr"/>
          <a:lstStyle/>
          <a:p>
            <a:pPr marL="0" indent="0" algn="ctr">
              <a:lnSpc>
                <a:spcPct val="160000"/>
              </a:lnSpc>
              <a:buNone/>
            </a:pPr>
            <a:r>
              <a:rPr lang="ja-JP" altLang="en-US" sz="2400">
                <a:solidFill>
                  <a:srgbClr val="8C2029"/>
                </a:solidFill>
                <a:latin typeface="Yu Gothic" pitchFamily="34" charset="0"/>
                <a:ea typeface="Yu Gothic" pitchFamily="34" charset="-122"/>
                <a:cs typeface="Yu Gothic" pitchFamily="34" charset="-120"/>
              </a:rPr>
              <a:t>貴社の皆様と伴走しながら、より良い組織づくりに貢献させていただけますと幸いです。</a:t>
            </a:r>
            <a:endParaRPr lang="en-US" sz="2400" dirty="0"/>
          </a:p>
        </p:txBody>
      </p:sp>
      <p:sp>
        <p:nvSpPr>
          <p:cNvPr id="6" name="Shape 4"/>
          <p:cNvSpPr/>
          <p:nvPr/>
        </p:nvSpPr>
        <p:spPr>
          <a:xfrm>
            <a:off x="2743200" y="2651760"/>
            <a:ext cx="3657600" cy="0"/>
          </a:xfrm>
          <a:prstGeom prst="line">
            <a:avLst/>
          </a:prstGeom>
          <a:noFill/>
          <a:ln w="12700">
            <a:solidFill>
              <a:srgbClr val="8C2029"/>
            </a:solidFill>
            <a:prstDash val="solid"/>
          </a:ln>
        </p:spPr>
        <p:txBody>
          <a:bodyPr/>
          <a:lstStyle/>
          <a:p>
            <a:endParaRPr lang="ja-JP" altLang="en-US"/>
          </a:p>
        </p:txBody>
      </p:sp>
      <p:sp>
        <p:nvSpPr>
          <p:cNvPr id="7" name="Text 5"/>
          <p:cNvSpPr/>
          <p:nvPr/>
        </p:nvSpPr>
        <p:spPr>
          <a:xfrm>
            <a:off x="1828800" y="2926080"/>
            <a:ext cx="5486400" cy="1645920"/>
          </a:xfrm>
          <a:prstGeom prst="rect">
            <a:avLst/>
          </a:prstGeom>
          <a:noFill/>
          <a:ln/>
        </p:spPr>
        <p:txBody>
          <a:bodyPr wrap="square" rtlCol="0" anchor="ctr"/>
          <a:lstStyle/>
          <a:p>
            <a:pPr marL="0" indent="0" algn="ctr">
              <a:lnSpc>
                <a:spcPct val="130000"/>
              </a:lnSpc>
              <a:buNone/>
            </a:pPr>
            <a:r>
              <a:rPr lang="en-US" sz="1600" b="1" dirty="0">
                <a:solidFill>
                  <a:srgbClr val="333333"/>
                </a:solidFill>
                <a:latin typeface="Yu Gothic" pitchFamily="34" charset="0"/>
                <a:ea typeface="Yu Gothic" pitchFamily="34" charset="-122"/>
                <a:cs typeface="Yu Gothic" pitchFamily="34" charset="-120"/>
              </a:rPr>
              <a:t>株式会社えんのした</a:t>
            </a:r>
            <a:endParaRPr lang="en-US" sz="1600" dirty="0"/>
          </a:p>
          <a:p>
            <a:pPr marL="0" indent="0" algn="ctr">
              <a:lnSpc>
                <a:spcPct val="130000"/>
              </a:lnSpc>
              <a:buNone/>
            </a:pPr>
            <a:r>
              <a:rPr lang="en-US" sz="1300" dirty="0">
                <a:solidFill>
                  <a:srgbClr val="333333"/>
                </a:solidFill>
                <a:latin typeface="Yu Gothic" pitchFamily="34" charset="0"/>
                <a:ea typeface="Yu Gothic" pitchFamily="34" charset="-122"/>
                <a:cs typeface="Yu Gothic" pitchFamily="34" charset="-120"/>
              </a:rPr>
              <a:t>代表取締役　川路 隆志</a:t>
            </a:r>
            <a:endParaRPr lang="en-US" sz="1600" dirty="0"/>
          </a:p>
          <a:p>
            <a:pPr marL="0" indent="0" algn="ctr">
              <a:lnSpc>
                <a:spcPct val="130000"/>
              </a:lnSpc>
              <a:buNone/>
            </a:pPr>
            <a:endParaRPr lang="en-US" sz="1600" dirty="0"/>
          </a:p>
          <a:p>
            <a:pPr marL="0" indent="0" algn="ctr">
              <a:lnSpc>
                <a:spcPct val="130000"/>
              </a:lnSpc>
              <a:buNone/>
            </a:pPr>
            <a:r>
              <a:rPr lang="en-US" sz="1000" dirty="0">
                <a:solidFill>
                  <a:srgbClr val="666666"/>
                </a:solidFill>
                <a:latin typeface="Yu Gothic" pitchFamily="34" charset="0"/>
                <a:ea typeface="Yu Gothic" pitchFamily="34" charset="-122"/>
                <a:cs typeface="Yu Gothic" pitchFamily="34" charset="-120"/>
              </a:rPr>
              <a:t>中小企業診断士 / 経営学修士（MBA）</a:t>
            </a:r>
            <a:endParaRPr lang="en-US" sz="1600" dirty="0"/>
          </a:p>
          <a:p>
            <a:pPr marL="0" indent="0" algn="ctr">
              <a:lnSpc>
                <a:spcPct val="130000"/>
              </a:lnSpc>
              <a:buNone/>
            </a:pPr>
            <a:r>
              <a:rPr lang="en-US" sz="1000" dirty="0">
                <a:solidFill>
                  <a:srgbClr val="666666"/>
                </a:solidFill>
                <a:latin typeface="Yu Gothic" pitchFamily="34" charset="0"/>
                <a:ea typeface="Yu Gothic" pitchFamily="34" charset="-122"/>
                <a:cs typeface="Yu Gothic" pitchFamily="34" charset="-120"/>
              </a:rPr>
              <a:t>MBTI認定ユーザー / 国家資格キャリアコンサルタント</a:t>
            </a:r>
            <a:endParaRPr lang="en-US" sz="1600" dirty="0"/>
          </a:p>
          <a:p>
            <a:pPr marL="0" indent="0" algn="ctr">
              <a:lnSpc>
                <a:spcPct val="130000"/>
              </a:lnSpc>
              <a:buNone/>
            </a:pPr>
            <a:r>
              <a:rPr lang="en-US" sz="1000" dirty="0">
                <a:solidFill>
                  <a:srgbClr val="666666"/>
                </a:solidFill>
                <a:latin typeface="Yu Gothic" pitchFamily="34" charset="0"/>
                <a:ea typeface="Yu Gothic" pitchFamily="34" charset="-122"/>
                <a:cs typeface="Yu Gothic" pitchFamily="34" charset="-120"/>
              </a:rPr>
              <a:t>PHP認定ビジネスコーチ / チームコーチ / エグゼクティブコーチ</a:t>
            </a:r>
            <a:endParaRPr lang="en-US" sz="1600" dirty="0"/>
          </a:p>
        </p:txBody>
      </p:sp>
      <p:sp>
        <p:nvSpPr>
          <p:cNvPr id="2" name="Text 2">
            <a:extLst>
              <a:ext uri="{FF2B5EF4-FFF2-40B4-BE49-F238E27FC236}">
                <a16:creationId xmlns:a16="http://schemas.microsoft.com/office/drawing/2014/main" id="{DA946EF4-71EF-09BA-28B0-D0171E928B77}"/>
              </a:ext>
            </a:extLst>
          </p:cNvPr>
          <p:cNvSpPr/>
          <p:nvPr/>
        </p:nvSpPr>
        <p:spPr>
          <a:xfrm>
            <a:off x="5943600" y="4800600"/>
            <a:ext cx="2926080" cy="274320"/>
          </a:xfrm>
          <a:prstGeom prst="rect">
            <a:avLst/>
          </a:prstGeom>
          <a:noFill/>
          <a:ln/>
        </p:spPr>
        <p:txBody>
          <a:bodyPr wrap="square" rtlCol="0" anchor="ctr"/>
          <a:lstStyle/>
          <a:p>
            <a:pPr marL="0" indent="0" algn="r">
              <a:buNone/>
            </a:pPr>
            <a:r>
              <a:rPr lang="en-US" sz="900" dirty="0">
                <a:solidFill>
                  <a:srgbClr val="999999"/>
                </a:solidFill>
                <a:latin typeface="Arial" pitchFamily="34" charset="0"/>
                <a:ea typeface="Arial" pitchFamily="34" charset="-122"/>
                <a:cs typeface="Arial" pitchFamily="34" charset="-120"/>
              </a:rPr>
              <a:t>©  ENNOSHITA Inc.</a:t>
            </a:r>
            <a:endParaRPr lang="en-US" sz="900" dirty="0"/>
          </a:p>
        </p:txBody>
      </p:sp>
      <p:grpSp>
        <p:nvGrpSpPr>
          <p:cNvPr id="4" name="グループ化 11">
            <a:extLst>
              <a:ext uri="{FF2B5EF4-FFF2-40B4-BE49-F238E27FC236}">
                <a16:creationId xmlns:a16="http://schemas.microsoft.com/office/drawing/2014/main" id="{C07672F0-C4FE-4634-6B11-4DE93FAFFF1C}"/>
              </a:ext>
            </a:extLst>
          </p:cNvPr>
          <p:cNvGrpSpPr>
            <a:grpSpLocks/>
          </p:cNvGrpSpPr>
          <p:nvPr/>
        </p:nvGrpSpPr>
        <p:grpSpPr bwMode="auto">
          <a:xfrm>
            <a:off x="7529692" y="186460"/>
            <a:ext cx="1116012" cy="217488"/>
            <a:chOff x="0" y="0"/>
            <a:chExt cx="3462373" cy="671728"/>
          </a:xfrm>
        </p:grpSpPr>
        <p:pic>
          <p:nvPicPr>
            <p:cNvPr id="8" name="図 2">
              <a:extLst>
                <a:ext uri="{FF2B5EF4-FFF2-40B4-BE49-F238E27FC236}">
                  <a16:creationId xmlns:a16="http://schemas.microsoft.com/office/drawing/2014/main" id="{D0E1D844-8310-C70A-C0C4-626915DE40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580" y="160437"/>
              <a:ext cx="2699793" cy="35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図 3">
              <a:extLst>
                <a:ext uri="{FF2B5EF4-FFF2-40B4-BE49-F238E27FC236}">
                  <a16:creationId xmlns:a16="http://schemas.microsoft.com/office/drawing/2014/main" id="{F2188F62-A497-2A33-D4F4-BAF57AE28F3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71728" cy="67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1536</TotalTime>
  <Words>1638</Words>
  <Application>Microsoft Macintosh PowerPoint</Application>
  <PresentationFormat>画面に合わせる (16:9)</PresentationFormat>
  <Paragraphs>336</Paragraphs>
  <Slides>20</Slides>
  <Notes>8</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20</vt:i4>
      </vt:variant>
    </vt:vector>
  </HeadingPairs>
  <TitlesOfParts>
    <vt:vector size="23" baseType="lpstr">
      <vt:lpstr>Yu Gothic</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管理職候補育成プログラム ご提案書</dc:title>
  <dc:subject>PptxGenJS Presentation</dc:subject>
  <dc:creator>株式会社えんのした</dc:creator>
  <cp:lastModifiedBy>隆志 川路</cp:lastModifiedBy>
  <cp:revision>2</cp:revision>
  <dcterms:created xsi:type="dcterms:W3CDTF">2026-02-16T07:35:06Z</dcterms:created>
  <dcterms:modified xsi:type="dcterms:W3CDTF">2026-02-17T13:52:58Z</dcterms:modified>
</cp:coreProperties>
</file>